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892-469A-9AB3-8CE08ED4EC0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2065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Program results are program-reported figures from Chicago-area partner hospitals, March–July 2026; not independently attributed.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Five-layer waterfall: findings flow from identification (01) down to lien administration and recovery (05). LaborForce works alongside the hospital's billing and collections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version of the interactive planning model at its starting scenario: 150,000 ED encounters × 6% additional coverage × $4,000 net per encounter = $36M per year; 9,000 identified encounters; $90M associated gross charges at a $10,000 average ED charge. Each figure in the grid = 1,000 ED encounters. Illustrative planning model,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Deliver Care, We Optimize Revenue.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6675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3600" kern="0" spc="-1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Uncovering revenue.</a:t>
            </a:r>
            <a:endParaRPr lang="en-US" sz="3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3600" kern="0" spc="-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Strengthening hospital performance.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revenue identification and recovery partnership for Cook County Health's emergency and trauma care.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6382512"/>
            <a:ext cx="66751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64556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10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6680" y="0"/>
            <a:ext cx="4465015" cy="685800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26680" y="0"/>
            <a:ext cx="54864" cy="685800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54864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 GLANCE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91440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151790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 at Chicago-area partner hospitals, March – July 2026 ($33K → $144K)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83880" y="199339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83880" y="210312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270662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accuracy, up from under 30%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83880" y="318211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83880" y="329184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389534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screened July encounters verified (141 of 178)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92440" y="4754880"/>
            <a:ext cx="3779215" cy="914400"/>
          </a:xfrm>
          <a:prstGeom prst="roundRect">
            <a:avLst>
              <a:gd name="adj" fmla="val 4000"/>
            </a:avLst>
          </a:prstGeom>
          <a:solidFill>
            <a:srgbClr val="1D4A7F"/>
          </a:solidFill>
          <a:ln w="12700">
            <a:solidFill>
              <a:srgbClr val="1D4A7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493776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5175504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90-day pilot at John H. Stroger, Jr. Hospital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6080760"/>
            <a:ext cx="3596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EA4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 figures; not independently attributed.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work inside the revenue cycle</a:t>
            </a: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you already run.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CONTEXT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pressure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 face reimbursement challenges, rising operational costs, complex payer requirements, and growing uncompensated care obligations.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0824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OPPORTUNITY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390824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390824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ED, trauma and other encounters, Workers' Compensation, Third-Party Liability, auto and other responsible-party coverage can go unidentified or unpursued by traditional workflows.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3008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SUPPORT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233008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LaborForce adds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Specialized payer identification, patient engagement, revenue auditing, payer verification, and lien administration support.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191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5191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OUTCOME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075191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goal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075191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additional reimbursement, improve revenue realization, and reduce avoidable administrative work — without replacing current systems or teams.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screening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encounters are flagged from existing registration and billing data.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90824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710864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review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710864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Analysts determine the likely responsible payer and what information is missing.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233008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048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patient contact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53048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staff confirm the facts and close gaps, respecting each patient's choices.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075191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395231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Follow-through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395231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corrections, lien support, and payer follow-up until the account resolves.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that traditional workflows may overlook.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often arrive after workplace incidents, motor vehicle accidents, or injuries involving another liable party. Registration and billing workflows may not consistently answer: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4231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 the injury work-related?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4752" y="210312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5920" y="24231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5920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779112" y="210312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a motor vehicle or other third party responsible?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42900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3429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10896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Should another insurer or payer be investigated?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184752" y="310896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5920" y="342900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5920" y="3429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4779112" y="310896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Does the hospital have the right claim, attorney, and payer information?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11480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43484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411480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a hospital lien available, documented, and followed up?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184752" y="411480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5920" y="443484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592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4779112" y="411480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 unresolved cases investigated after discharge?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76895" y="2103120"/>
            <a:ext cx="3566160" cy="2907792"/>
          </a:xfrm>
          <a:prstGeom prst="roundRect">
            <a:avLst>
              <a:gd name="adj" fmla="val 1572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8063" y="23042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REVENUE GOES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278063" y="2615184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15223" y="2697480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15223" y="2916936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Workplace injury, motor vehicle accident, or incident involving a third party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859975" y="3233928"/>
            <a:ext cx="0" cy="146304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278063" y="3425952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15223" y="3508248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 payer missed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415223" y="3727704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identified at registration, or identified but not followed through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859975" y="4044696"/>
            <a:ext cx="0" cy="146304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278063" y="4236720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15223" y="4319016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Absorbed by the hospital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415223" y="4538472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off as bad debt or uncompensated care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8640" y="5532120"/>
            <a:ext cx="11094415" cy="658368"/>
          </a:xfrm>
          <a:prstGeom prst="rect">
            <a:avLst/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532120"/>
            <a:ext cx="45720" cy="658368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2960" y="57698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CONSEQUENCE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2560320" y="5532120"/>
            <a:ext cx="8808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 reimbursement opportunities may remain unidentified, incorrectly routed, delayed, or insufficiently pursued.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SOLUTION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specialized operational layer.</a:t>
            </a:r>
            <a:endParaRPr lang="en-US" sz="2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critical functions.</a:t>
            </a:r>
            <a:endParaRPr lang="en-US" sz="2800" dirty="0"/>
          </a:p>
        </p:txBody>
      </p:sp>
      <p:sp>
        <p:nvSpPr>
          <p:cNvPr id="4" name="slab-1-left"/>
          <p:cNvSpPr/>
          <p:nvPr/>
        </p:nvSpPr>
        <p:spPr>
          <a:xfrm>
            <a:off x="982156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7ADBC0"/>
          </a:solidFill>
          <a:ln w="6350">
            <a:solidFill>
              <a:srgbClr val="7ADBC0"/>
            </a:solidFill>
            <a:prstDash val="solid"/>
          </a:ln>
        </p:spPr>
      </p:sp>
      <p:sp>
        <p:nvSpPr>
          <p:cNvPr id="5" name="slab-1-right"/>
          <p:cNvSpPr/>
          <p:nvPr/>
        </p:nvSpPr>
        <p:spPr>
          <a:xfrm>
            <a:off x="2427207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3DB48F"/>
          </a:solidFill>
          <a:ln w="6350">
            <a:solidFill>
              <a:srgbClr val="3DB48F"/>
            </a:solidFill>
            <a:prstDash val="solid"/>
          </a:ln>
        </p:spPr>
      </p:sp>
      <p:sp>
        <p:nvSpPr>
          <p:cNvPr id="6" name="slab-1-top"/>
          <p:cNvSpPr/>
          <p:nvPr/>
        </p:nvSpPr>
        <p:spPr>
          <a:xfrm>
            <a:off x="982156" y="191166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BFEFE0"/>
          </a:solidFill>
          <a:ln w="6350">
            <a:solidFill>
              <a:srgbClr val="BFEFE0"/>
            </a:solidFill>
            <a:prstDash val="solid"/>
          </a:ln>
        </p:spPr>
      </p:sp>
      <p:sp>
        <p:nvSpPr>
          <p:cNvPr id="7" name="slab-1-num"/>
          <p:cNvSpPr txBox="1"/>
          <p:nvPr/>
        </p:nvSpPr>
        <p:spPr>
          <a:xfrm>
            <a:off x="1970007" y="20490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slab-1-link"/>
          <p:cNvSpPr/>
          <p:nvPr/>
        </p:nvSpPr>
        <p:spPr>
          <a:xfrm>
            <a:off x="2427207" y="2590840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9" name="slab-1-drop"/>
          <p:cNvSpPr/>
          <p:nvPr/>
        </p:nvSpPr>
        <p:spPr>
          <a:xfrm>
            <a:off x="2399775" y="2563408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0" name="slab-2-left"/>
          <p:cNvSpPr/>
          <p:nvPr/>
        </p:nvSpPr>
        <p:spPr>
          <a:xfrm>
            <a:off x="982156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4CC9A6"/>
          </a:solidFill>
          <a:ln w="6350">
            <a:solidFill>
              <a:srgbClr val="4CC9A6"/>
            </a:solidFill>
            <a:prstDash val="solid"/>
          </a:ln>
        </p:spPr>
      </p:sp>
      <p:sp>
        <p:nvSpPr>
          <p:cNvPr id="11" name="slab-2-right"/>
          <p:cNvSpPr/>
          <p:nvPr/>
        </p:nvSpPr>
        <p:spPr>
          <a:xfrm>
            <a:off x="2427207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D9E75"/>
          </a:solidFill>
          <a:ln w="6350">
            <a:solidFill>
              <a:srgbClr val="1D9E75"/>
            </a:solidFill>
            <a:prstDash val="solid"/>
          </a:ln>
        </p:spPr>
      </p:sp>
      <p:sp>
        <p:nvSpPr>
          <p:cNvPr id="12" name="slab-2-top"/>
          <p:cNvSpPr/>
          <p:nvPr/>
        </p:nvSpPr>
        <p:spPr>
          <a:xfrm>
            <a:off x="982156" y="276424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8FE0C9"/>
          </a:solidFill>
          <a:ln w="6350">
            <a:solidFill>
              <a:srgbClr val="8FE0C9"/>
            </a:solidFill>
            <a:prstDash val="solid"/>
          </a:ln>
        </p:spPr>
      </p:sp>
      <p:sp>
        <p:nvSpPr>
          <p:cNvPr id="13" name="slab-2-num"/>
          <p:cNvSpPr txBox="1"/>
          <p:nvPr/>
        </p:nvSpPr>
        <p:spPr>
          <a:xfrm>
            <a:off x="1970007" y="290164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slab-2-link"/>
          <p:cNvSpPr/>
          <p:nvPr/>
        </p:nvSpPr>
        <p:spPr>
          <a:xfrm>
            <a:off x="2427207" y="344342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15" name="slab-2-drop"/>
          <p:cNvSpPr/>
          <p:nvPr/>
        </p:nvSpPr>
        <p:spPr>
          <a:xfrm>
            <a:off x="2399775" y="341598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6" name="slab-3-left"/>
          <p:cNvSpPr/>
          <p:nvPr/>
        </p:nvSpPr>
        <p:spPr>
          <a:xfrm>
            <a:off x="982156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5AA2E6"/>
          </a:solidFill>
          <a:ln w="6350">
            <a:solidFill>
              <a:srgbClr val="5AA2E6"/>
            </a:solidFill>
            <a:prstDash val="solid"/>
          </a:ln>
        </p:spPr>
      </p:sp>
      <p:sp>
        <p:nvSpPr>
          <p:cNvPr id="17" name="slab-3-right"/>
          <p:cNvSpPr/>
          <p:nvPr/>
        </p:nvSpPr>
        <p:spPr>
          <a:xfrm>
            <a:off x="2427207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2F7FCB"/>
          </a:solidFill>
          <a:ln w="6350">
            <a:solidFill>
              <a:srgbClr val="2F7FCB"/>
            </a:solidFill>
            <a:prstDash val="solid"/>
          </a:ln>
        </p:spPr>
      </p:sp>
      <p:sp>
        <p:nvSpPr>
          <p:cNvPr id="18" name="slab-3-top"/>
          <p:cNvSpPr/>
          <p:nvPr/>
        </p:nvSpPr>
        <p:spPr>
          <a:xfrm>
            <a:off x="982156" y="361682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9CC8F0"/>
          </a:solidFill>
          <a:ln w="6350">
            <a:solidFill>
              <a:srgbClr val="9CC8F0"/>
            </a:solidFill>
            <a:prstDash val="solid"/>
          </a:ln>
        </p:spPr>
      </p:sp>
      <p:sp>
        <p:nvSpPr>
          <p:cNvPr id="19" name="slab-3-num"/>
          <p:cNvSpPr txBox="1"/>
          <p:nvPr/>
        </p:nvSpPr>
        <p:spPr>
          <a:xfrm>
            <a:off x="1970007" y="375422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slab-3-link"/>
          <p:cNvSpPr/>
          <p:nvPr/>
        </p:nvSpPr>
        <p:spPr>
          <a:xfrm>
            <a:off x="2427207" y="429600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1" name="slab-3-drop"/>
          <p:cNvSpPr/>
          <p:nvPr/>
        </p:nvSpPr>
        <p:spPr>
          <a:xfrm>
            <a:off x="2399775" y="426856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2" name="slab-4-left"/>
          <p:cNvSpPr/>
          <p:nvPr/>
        </p:nvSpPr>
        <p:spPr>
          <a:xfrm>
            <a:off x="982156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3A8FDB"/>
          </a:solidFill>
          <a:ln w="6350">
            <a:solidFill>
              <a:srgbClr val="3A8FDB"/>
            </a:solidFill>
            <a:prstDash val="solid"/>
          </a:ln>
        </p:spPr>
      </p:sp>
      <p:sp>
        <p:nvSpPr>
          <p:cNvPr id="23" name="slab-4-right"/>
          <p:cNvSpPr/>
          <p:nvPr/>
        </p:nvSpPr>
        <p:spPr>
          <a:xfrm>
            <a:off x="2427207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F67AE"/>
          </a:solidFill>
          <a:ln w="6350">
            <a:solidFill>
              <a:srgbClr val="1F67AE"/>
            </a:solidFill>
            <a:prstDash val="solid"/>
          </a:ln>
        </p:spPr>
      </p:sp>
      <p:sp>
        <p:nvSpPr>
          <p:cNvPr id="24" name="slab-4-top"/>
          <p:cNvSpPr/>
          <p:nvPr/>
        </p:nvSpPr>
        <p:spPr>
          <a:xfrm>
            <a:off x="982156" y="446940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6FB0EE"/>
          </a:solidFill>
          <a:ln w="6350">
            <a:solidFill>
              <a:srgbClr val="6FB0EE"/>
            </a:solidFill>
            <a:prstDash val="solid"/>
          </a:ln>
        </p:spPr>
      </p:sp>
      <p:sp>
        <p:nvSpPr>
          <p:cNvPr id="25" name="slab-4-num"/>
          <p:cNvSpPr txBox="1"/>
          <p:nvPr/>
        </p:nvSpPr>
        <p:spPr>
          <a:xfrm>
            <a:off x="1970007" y="460680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slab-4-link"/>
          <p:cNvSpPr/>
          <p:nvPr/>
        </p:nvSpPr>
        <p:spPr>
          <a:xfrm>
            <a:off x="2427207" y="5148582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7" name="slab-4-drop"/>
          <p:cNvSpPr/>
          <p:nvPr/>
        </p:nvSpPr>
        <p:spPr>
          <a:xfrm>
            <a:off x="2399775" y="5121150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8" name="slab-5-left"/>
          <p:cNvSpPr/>
          <p:nvPr/>
        </p:nvSpPr>
        <p:spPr>
          <a:xfrm>
            <a:off x="982156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2B74BE"/>
          </a:solidFill>
          <a:ln w="6350">
            <a:solidFill>
              <a:srgbClr val="2B74BE"/>
            </a:solidFill>
            <a:prstDash val="solid"/>
          </a:ln>
        </p:spPr>
      </p:sp>
      <p:sp>
        <p:nvSpPr>
          <p:cNvPr id="29" name="slab-5-right"/>
          <p:cNvSpPr/>
          <p:nvPr/>
        </p:nvSpPr>
        <p:spPr>
          <a:xfrm>
            <a:off x="2427207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A5590"/>
          </a:solidFill>
          <a:ln w="6350">
            <a:solidFill>
              <a:srgbClr val="1A5590"/>
            </a:solidFill>
            <a:prstDash val="solid"/>
          </a:ln>
        </p:spPr>
      </p:sp>
      <p:sp>
        <p:nvSpPr>
          <p:cNvPr id="30" name="slab-5-top"/>
          <p:cNvSpPr/>
          <p:nvPr/>
        </p:nvSpPr>
        <p:spPr>
          <a:xfrm>
            <a:off x="982156" y="5321988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4A97E2"/>
          </a:solidFill>
          <a:ln w="6350">
            <a:solidFill>
              <a:srgbClr val="4A97E2"/>
            </a:solidFill>
            <a:prstDash val="solid"/>
          </a:ln>
        </p:spPr>
      </p:sp>
      <p:sp>
        <p:nvSpPr>
          <p:cNvPr id="31" name="slab-5-num"/>
          <p:cNvSpPr txBox="1"/>
          <p:nvPr/>
        </p:nvSpPr>
        <p:spPr>
          <a:xfrm>
            <a:off x="1970007" y="54593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fn-1-card"/>
          <p:cNvSpPr/>
          <p:nvPr/>
        </p:nvSpPr>
        <p:spPr>
          <a:xfrm>
            <a:off x="4717255" y="1810512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3" name="fn-1-badge"/>
          <p:cNvSpPr/>
          <p:nvPr/>
        </p:nvSpPr>
        <p:spPr>
          <a:xfrm>
            <a:off x="4900135" y="2029968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4" name="fn-1-badgenum"/>
          <p:cNvSpPr txBox="1"/>
          <p:nvPr/>
        </p:nvSpPr>
        <p:spPr>
          <a:xfrm>
            <a:off x="4900135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35" name="fn-1-title"/>
          <p:cNvSpPr txBox="1"/>
          <p:nvPr/>
        </p:nvSpPr>
        <p:spPr>
          <a:xfrm>
            <a:off x="5375623" y="1920240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Revenue Identification</a:t>
            </a:r>
            <a:endParaRPr lang="en-US" sz="1300" dirty="0"/>
          </a:p>
        </p:txBody>
      </p:sp>
      <p:sp>
        <p:nvSpPr>
          <p:cNvPr id="36" name="fn-1-desc"/>
          <p:cNvSpPr txBox="1"/>
          <p:nvPr/>
        </p:nvSpPr>
        <p:spPr>
          <a:xfrm>
            <a:off x="5375623" y="2194560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injury-related encounters, identify potentially responsible payers, and prioritize accounts for investigation.</a:t>
            </a:r>
            <a:endParaRPr lang="en-US" sz="950" dirty="0"/>
          </a:p>
        </p:txBody>
      </p:sp>
      <p:sp>
        <p:nvSpPr>
          <p:cNvPr id="37" name="fn-2-card"/>
          <p:cNvSpPr/>
          <p:nvPr/>
        </p:nvSpPr>
        <p:spPr>
          <a:xfrm>
            <a:off x="4717255" y="2651760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8" name="fn-2-badge"/>
          <p:cNvSpPr/>
          <p:nvPr/>
        </p:nvSpPr>
        <p:spPr>
          <a:xfrm>
            <a:off x="4900135" y="2871216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9" name="fn-2-badgenum"/>
          <p:cNvSpPr txBox="1"/>
          <p:nvPr/>
        </p:nvSpPr>
        <p:spPr>
          <a:xfrm>
            <a:off x="4900135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40" name="fn-2-title"/>
          <p:cNvSpPr txBox="1"/>
          <p:nvPr/>
        </p:nvSpPr>
        <p:spPr>
          <a:xfrm>
            <a:off x="5375623" y="2761488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Engagement</a:t>
            </a:r>
            <a:endParaRPr lang="en-US" sz="1300" dirty="0"/>
          </a:p>
        </p:txBody>
      </p:sp>
      <p:sp>
        <p:nvSpPr>
          <p:cNvPr id="41" name="fn-2-desc"/>
          <p:cNvSpPr txBox="1"/>
          <p:nvPr/>
        </p:nvSpPr>
        <p:spPr>
          <a:xfrm>
            <a:off x="5375623" y="3035808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Outreach to verify injury circumstances and collect missing claim, employer, insurer, or attorney information.</a:t>
            </a:r>
            <a:endParaRPr lang="en-US" sz="950" dirty="0"/>
          </a:p>
        </p:txBody>
      </p:sp>
      <p:sp>
        <p:nvSpPr>
          <p:cNvPr id="42" name="fn-3-card"/>
          <p:cNvSpPr/>
          <p:nvPr/>
        </p:nvSpPr>
        <p:spPr>
          <a:xfrm>
            <a:off x="4717255" y="3493008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3" name="fn-3-badge"/>
          <p:cNvSpPr/>
          <p:nvPr/>
        </p:nvSpPr>
        <p:spPr>
          <a:xfrm>
            <a:off x="4900135" y="3712464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4" name="fn-3-badgenum"/>
          <p:cNvSpPr txBox="1"/>
          <p:nvPr/>
        </p:nvSpPr>
        <p:spPr>
          <a:xfrm>
            <a:off x="4900135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45" name="fn-3-title"/>
          <p:cNvSpPr txBox="1"/>
          <p:nvPr/>
        </p:nvSpPr>
        <p:spPr>
          <a:xfrm>
            <a:off x="5375623" y="3602736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Verification &amp; RCM Coordination</a:t>
            </a:r>
            <a:endParaRPr lang="en-US" sz="1300" dirty="0"/>
          </a:p>
        </p:txBody>
      </p:sp>
      <p:sp>
        <p:nvSpPr>
          <p:cNvPr id="46" name="fn-3-desc"/>
          <p:cNvSpPr txBox="1"/>
          <p:nvPr/>
        </p:nvSpPr>
        <p:spPr>
          <a:xfrm>
            <a:off x="5375623" y="3877056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 findings with registration, billing, and revenue cycle teams for payer determination and follow-up.</a:t>
            </a:r>
            <a:endParaRPr lang="en-US" sz="950" dirty="0"/>
          </a:p>
        </p:txBody>
      </p:sp>
      <p:sp>
        <p:nvSpPr>
          <p:cNvPr id="47" name="fn-4-card"/>
          <p:cNvSpPr/>
          <p:nvPr/>
        </p:nvSpPr>
        <p:spPr>
          <a:xfrm>
            <a:off x="4717255" y="4334256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8" name="fn-4-badge"/>
          <p:cNvSpPr/>
          <p:nvPr/>
        </p:nvSpPr>
        <p:spPr>
          <a:xfrm>
            <a:off x="4900135" y="4553712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9" name="fn-4-badgenum"/>
          <p:cNvSpPr txBox="1"/>
          <p:nvPr/>
        </p:nvSpPr>
        <p:spPr>
          <a:xfrm>
            <a:off x="4900135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50" name="fn-4-title"/>
          <p:cNvSpPr txBox="1"/>
          <p:nvPr/>
        </p:nvSpPr>
        <p:spPr>
          <a:xfrm>
            <a:off x="5375623" y="4443984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Auditing &amp; Reconciliation</a:t>
            </a:r>
            <a:endParaRPr lang="en-US" sz="1300" dirty="0"/>
          </a:p>
        </p:txBody>
      </p:sp>
      <p:sp>
        <p:nvSpPr>
          <p:cNvPr id="51" name="fn-4-desc"/>
          <p:cNvSpPr txBox="1"/>
          <p:nvPr/>
        </p:nvSpPr>
        <p:spPr>
          <a:xfrm>
            <a:off x="5375623" y="4718304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unresolved cases, flag missing or inconsistent information, and track case status and reimbursement.</a:t>
            </a:r>
            <a:endParaRPr lang="en-US" sz="950" dirty="0"/>
          </a:p>
        </p:txBody>
      </p:sp>
      <p:sp>
        <p:nvSpPr>
          <p:cNvPr id="52" name="fn-5-card"/>
          <p:cNvSpPr/>
          <p:nvPr/>
        </p:nvSpPr>
        <p:spPr>
          <a:xfrm>
            <a:off x="4717255" y="5175504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53" name="fn-5-badge"/>
          <p:cNvSpPr/>
          <p:nvPr/>
        </p:nvSpPr>
        <p:spPr>
          <a:xfrm>
            <a:off x="4900135" y="5394960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54" name="fn-5-badgenum"/>
          <p:cNvSpPr txBox="1"/>
          <p:nvPr/>
        </p:nvSpPr>
        <p:spPr>
          <a:xfrm>
            <a:off x="4900135" y="5394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55" name="fn-5-title"/>
          <p:cNvSpPr txBox="1"/>
          <p:nvPr/>
        </p:nvSpPr>
        <p:spPr>
          <a:xfrm>
            <a:off x="5375623" y="5285232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Administration &amp; Recovery</a:t>
            </a:r>
            <a:endParaRPr lang="en-US" sz="1300" dirty="0"/>
          </a:p>
        </p:txBody>
      </p:sp>
      <p:sp>
        <p:nvSpPr>
          <p:cNvPr id="56" name="fn-5-desc"/>
          <p:cNvSpPr txBox="1"/>
          <p:nvPr/>
        </p:nvSpPr>
        <p:spPr>
          <a:xfrm>
            <a:off x="5375623" y="5559552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approved lien documentation, follow-up, and reimbursement tracking within the legal and contractual framework.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4717255" y="6035040"/>
            <a:ext cx="6925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works alongside your billing and collections teams.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10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15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00"/>
                            </p:stCondLst>
                            <p:childTnLst>
                              <p:par>
                                <p:cTn id="107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2450"/>
                            </p:stCondLst>
                            <p:childTnLst>
                              <p:par>
                                <p:cTn id="141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9" grpId="0" animBg="1"/>
      <p:bldP spid="25" grpId="0" animBg="1"/>
      <p:bldP spid="31" grpId="0" animBg="1"/>
      <p:bldP spid="34" grpId="0" animBg="1"/>
      <p:bldP spid="35" grpId="0" animBg="1"/>
      <p:bldP spid="36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9" grpId="0" animBg="1"/>
      <p:bldP spid="50" grpId="0" animBg="1"/>
      <p:bldP spid="51" grpId="0" animBg="1"/>
      <p:bldP spid="54" grpId="0" animBg="1"/>
      <p:bldP spid="55" grpId="0" animBg="1"/>
      <p:bldP spid="5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WITH HEALTHCARE PARTNERS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 operating experience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Chicago-area hospitals.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10048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5" name="Image 0" descr="E:/Claude/laborforce-deck/brand/nm_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0120" y="2523744"/>
            <a:ext cx="3508092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429000"/>
            <a:ext cx="458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NORTHWESTERN MEDICINE · CURRENT PROGRAM PARTNER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233008" y="2011680"/>
            <a:ext cx="5410048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8" name="Image 1" descr="E:/Claude/laborforce-deck/brand/hph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8" y="2395728"/>
            <a:ext cx="3150048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644488" y="3429000"/>
            <a:ext cx="458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HUMBOLDT PARK HEALTH · CURRENT PROGRAM PARTNER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548640" y="4160520"/>
            <a:ext cx="11094415" cy="2011680"/>
          </a:xfrm>
          <a:prstGeom prst="roundRect">
            <a:avLst>
              <a:gd name="adj" fmla="val 2273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4416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 RESULTS · MARCH – JULY 2026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751015" y="4416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Program-reported; not independently attributed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868680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$33K → $144K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317672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482264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200" dirty="0"/>
          </a:p>
        </p:txBody>
      </p:sp>
      <p:sp>
        <p:nvSpPr>
          <p:cNvPr id="17" name="Text 13"/>
          <p:cNvSpPr txBox="1"/>
          <p:nvPr/>
        </p:nvSpPr>
        <p:spPr>
          <a:xfrm>
            <a:off x="3482264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from under 30%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931256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95848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141 / 178</a:t>
            </a:r>
            <a:endParaRPr lang="en-US" sz="3200" dirty="0"/>
          </a:p>
        </p:txBody>
      </p:sp>
      <p:sp>
        <p:nvSpPr>
          <p:cNvPr id="20" name="Text 16"/>
          <p:cNvSpPr txBox="1"/>
          <p:nvPr/>
        </p:nvSpPr>
        <p:spPr>
          <a:xfrm>
            <a:off x="6095848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July encounters verified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 of those screened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8544839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709431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$198,940</a:t>
            </a:r>
            <a:endParaRPr lang="en-US" sz="3200" dirty="0"/>
          </a:p>
        </p:txBody>
      </p:sp>
      <p:sp>
        <p:nvSpPr>
          <p:cNvPr id="23" name="Text 19"/>
          <p:cNvSpPr txBox="1"/>
          <p:nvPr/>
        </p:nvSpPr>
        <p:spPr>
          <a:xfrm>
            <a:off x="8709431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Charges on 32 Workers' Comp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cases identified in July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OPPORTUNITY AT COOK COUNTY HEALTH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focused TPL/WC program for a high-volume safety-net system.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coverage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whether additional responsible-party coverage exists for selected encounters.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8698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68698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claims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8698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identification and documentation of injury-related claims.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88757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8757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 accurately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188757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billing accuracy and reimbursement follow-up.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leakage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Reduce avoidable revenue leakage.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68698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68698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Gain visibility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368698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clearer visibility into potentially recoverable accounts.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88757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8757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mission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88757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financial sustainability without compromising access to care.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sizing: 150,000 ED encounters × 6% with additional coverage × $4,000 net per encounter ≈ $36M per year — a planning model, not a forecast.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assumptions into a visible opportunity.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934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5448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ASSUMPTIONS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9019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0665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19933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4505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450592"/>
            <a:ext cx="2808514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84002" y="24048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78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25,000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2578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9809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29077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33649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364992"/>
            <a:ext cx="19659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41448" y="33192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930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34930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10%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7307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895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38221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42793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279392"/>
            <a:ext cx="30581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33648" y="42336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074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$500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2651760" y="44074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6451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8097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520440" y="47365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48640" y="51937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193792"/>
            <a:ext cx="22936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69108" y="51480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321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651760" y="5321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5595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46320" y="1554480"/>
            <a:ext cx="0" cy="393192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12080" y="1554480"/>
            <a:ext cx="6430975" cy="1097280"/>
          </a:xfrm>
          <a:prstGeom prst="roundRect">
            <a:avLst>
              <a:gd name="adj" fmla="val 3333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68112" y="1755648"/>
            <a:ext cx="20780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5468112" y="1965960"/>
            <a:ext cx="207801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3800" dirty="0"/>
          </a:p>
        </p:txBody>
      </p:sp>
      <p:sp>
        <p:nvSpPr>
          <p:cNvPr id="43" name="Shape 41"/>
          <p:cNvSpPr/>
          <p:nvPr/>
        </p:nvSpPr>
        <p:spPr>
          <a:xfrm>
            <a:off x="7655851" y="1783080"/>
            <a:ext cx="0" cy="6400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884451" y="1755648"/>
            <a:ext cx="16278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7884451" y="2029968"/>
            <a:ext cx="1627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9649453" y="1783080"/>
            <a:ext cx="0" cy="6400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878053" y="1755648"/>
            <a:ext cx="16278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9878053" y="2029968"/>
            <a:ext cx="1627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5212080" y="288036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5212080" y="309981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21208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6508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1808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67108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82408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97709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3009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8309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3609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58909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74210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9510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4810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20110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5410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50711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66011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1311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6611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11911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36508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1808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7108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82408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97709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009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28309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43609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8909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74210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89510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04810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20110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35410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50711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66011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81311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96611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11911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21208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36508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51808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7108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82408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97709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13009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28309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43609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58909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74210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89510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04810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20110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35410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50711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66011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1311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96611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1911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6508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1808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67108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7709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3009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28309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8909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74210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9510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20110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35410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50711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66011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81311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96611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811911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521208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36508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51808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67108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82408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97709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613009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28309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43609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8909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4210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89510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704810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20110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735410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750711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766011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81311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96611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811911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521208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36508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51808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567108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82408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97709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613009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28309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43609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58909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74210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89510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704810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20110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35410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50711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66011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81311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96611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11911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521208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36508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551808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67108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82408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97709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613009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628309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43609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658909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74210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89510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04810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720110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735410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750711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766011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81311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796611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811911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212080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365082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518084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5671086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5824088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5977090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130092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283094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436096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589098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5212080" y="5157216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2" name="Text 200"/>
          <p:cNvSpPr txBox="1"/>
          <p:nvPr/>
        </p:nvSpPr>
        <p:spPr>
          <a:xfrm>
            <a:off x="5358384" y="51023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7406640" y="5157216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Text 202"/>
          <p:cNvSpPr txBox="1"/>
          <p:nvPr/>
        </p:nvSpPr>
        <p:spPr>
          <a:xfrm>
            <a:off x="7552944" y="51023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05" name="Text 203"/>
          <p:cNvSpPr txBox="1"/>
          <p:nvPr/>
        </p:nvSpPr>
        <p:spPr>
          <a:xfrm>
            <a:off x="8610448" y="288036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06" name="Text 204"/>
          <p:cNvSpPr txBox="1"/>
          <p:nvPr/>
        </p:nvSpPr>
        <p:spPr>
          <a:xfrm>
            <a:off x="8610448" y="309981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07" name="Text 205"/>
          <p:cNvSpPr txBox="1"/>
          <p:nvPr/>
        </p:nvSpPr>
        <p:spPr>
          <a:xfrm>
            <a:off x="8610448" y="342900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08" name="Chart 0"/>
          <p:cNvGraphicFramePr/>
          <p:nvPr/>
        </p:nvGraphicFramePr>
        <p:xfrm>
          <a:off x="8519008" y="3703320"/>
          <a:ext cx="3124048" cy="1691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9" name="Shape 206"/>
          <p:cNvSpPr/>
          <p:nvPr/>
        </p:nvSpPr>
        <p:spPr>
          <a:xfrm>
            <a:off x="548640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0" name="Text 207"/>
          <p:cNvSpPr txBox="1"/>
          <p:nvPr/>
        </p:nvSpPr>
        <p:spPr>
          <a:xfrm>
            <a:off x="731520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11" name="Text 208"/>
          <p:cNvSpPr txBox="1"/>
          <p:nvPr/>
        </p:nvSpPr>
        <p:spPr>
          <a:xfrm>
            <a:off x="731520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12" name="Text 209"/>
          <p:cNvSpPr txBox="1"/>
          <p:nvPr/>
        </p:nvSpPr>
        <p:spPr>
          <a:xfrm>
            <a:off x="3047924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3" name="Shape 210"/>
          <p:cNvSpPr/>
          <p:nvPr/>
        </p:nvSpPr>
        <p:spPr>
          <a:xfrm>
            <a:off x="3413684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4" name="Text 211"/>
          <p:cNvSpPr txBox="1"/>
          <p:nvPr/>
        </p:nvSpPr>
        <p:spPr>
          <a:xfrm>
            <a:off x="3596564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15" name="Text 212"/>
          <p:cNvSpPr txBox="1"/>
          <p:nvPr/>
        </p:nvSpPr>
        <p:spPr>
          <a:xfrm>
            <a:off x="3596564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16" name="Text 213"/>
          <p:cNvSpPr txBox="1"/>
          <p:nvPr/>
        </p:nvSpPr>
        <p:spPr>
          <a:xfrm>
            <a:off x="5912968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7" name="Shape 214"/>
          <p:cNvSpPr/>
          <p:nvPr/>
        </p:nvSpPr>
        <p:spPr>
          <a:xfrm>
            <a:off x="6278728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8" name="Text 215"/>
          <p:cNvSpPr txBox="1"/>
          <p:nvPr/>
        </p:nvSpPr>
        <p:spPr>
          <a:xfrm>
            <a:off x="6461608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19" name="Text 216"/>
          <p:cNvSpPr txBox="1"/>
          <p:nvPr/>
        </p:nvSpPr>
        <p:spPr>
          <a:xfrm>
            <a:off x="6461608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20" name="Text 217"/>
          <p:cNvSpPr txBox="1"/>
          <p:nvPr/>
        </p:nvSpPr>
        <p:spPr>
          <a:xfrm>
            <a:off x="8778011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21" name="Shape 218"/>
          <p:cNvSpPr/>
          <p:nvPr/>
        </p:nvSpPr>
        <p:spPr>
          <a:xfrm>
            <a:off x="9143771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22" name="Text 219"/>
          <p:cNvSpPr txBox="1"/>
          <p:nvPr/>
        </p:nvSpPr>
        <p:spPr>
          <a:xfrm>
            <a:off x="9326651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23" name="Text 220"/>
          <p:cNvSpPr txBox="1"/>
          <p:nvPr/>
        </p:nvSpPr>
        <p:spPr>
          <a:xfrm>
            <a:off x="9326651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24" name="Text 2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PARTNERSHIP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90-day pilot.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" y="1975104"/>
            <a:ext cx="3496970" cy="365760"/>
          </a:xfrm>
          <a:prstGeom prst="rect">
            <a:avLst/>
          </a:prstGeom>
          <a:solidFill>
            <a:srgbClr val="DBE8F7"/>
          </a:solidFill>
          <a:ln w="12700">
            <a:solidFill>
              <a:srgbClr val="DBE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306269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 –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532888"/>
            <a:ext cx="342036" cy="73152"/>
          </a:xfrm>
          <a:prstGeom prst="roundRect">
            <a:avLst>
              <a:gd name="adj" fmla="val 37500"/>
            </a:avLst>
          </a:prstGeom>
          <a:solidFill>
            <a:srgbClr val="5B8FD6"/>
          </a:solidFill>
          <a:ln w="12700">
            <a:solidFill>
              <a:srgbClr val="5B8F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39186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of 90 days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&amp; Baseline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current injury-related registration, payer identification, billing, and follow-up. Agree on pilot scope, eligibility criteria, compliance requirements, and baseline measures.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8218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7362" y="1975104"/>
            <a:ext cx="3496970" cy="36576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6818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02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16 – 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66818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6818" y="2532888"/>
            <a:ext cx="1026109" cy="73152"/>
          </a:xfrm>
          <a:prstGeom prst="roundRect">
            <a:avLst>
              <a:gd name="adj" fmla="val 375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8765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of 90 days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66818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Identification &amp; Investigation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66818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designated encounters, conduct authorized patient outreach, identify alternative payer sources, and coordinate verified findings with existing hospital teams.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27797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36941" y="1975104"/>
            <a:ext cx="3496970" cy="36576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03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885426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61 – 90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56397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6397" y="2532888"/>
            <a:ext cx="684073" cy="73152"/>
          </a:xfrm>
          <a:prstGeom prst="roundRect">
            <a:avLst>
              <a:gd name="adj" fmla="val 37500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518343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of 90 days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&amp; Review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 outcomes, review billing corrections and collections, assess operational impact, and recommend continued monitoring and potential expansion.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READ THE PILOT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claims take longer than 90 days to resolve. The pilot measures </a:t>
            </a: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indicators</a:t>
            </a: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any collections realized; final financial performance is reviewed as the identified account cohort matures.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338218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38218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66818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COOK COUNTY HEALTH PROVIDES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4566818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agreed pilot scope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current TPL/WC workflow data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data-access terms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127797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27797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56397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PROVIDES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8356397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Screening, specialist review, and case investigation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outreach and lien administration support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reporting at days 30, 60, and 90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SUCCESS METRICS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Transparent. Measurable.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Jointly reviewed.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2154" cy="5486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13432"/>
            <a:ext cx="128016" cy="128016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Early signals that cases are being found and verified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Encounters screened and flagged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and % with verified additional responsible-party coverage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accepted for billing correction or recovery action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9394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9394" y="2011680"/>
            <a:ext cx="2602154" cy="54864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07994" y="2313432"/>
            <a:ext cx="128016" cy="128016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36594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07994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returns, net of adjustments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07994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collections attributable to the program, net of reversals and adjustments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Incremental net revenue after program costs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0148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0148" y="2011680"/>
            <a:ext cx="2602154" cy="54864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8748" y="2313432"/>
            <a:ext cx="128016" cy="128016"/>
          </a:xfrm>
          <a:prstGeom prst="ellipse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67348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38748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Effect on hospital teams and account flow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438748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workload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Turnaround time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Unresolved account aging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40901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40901" y="2011680"/>
            <a:ext cx="2602154" cy="54864"/>
          </a:xfrm>
          <a:prstGeom prst="rect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9501" y="2313432"/>
            <a:ext cx="128016" cy="128016"/>
          </a:xfrm>
          <a:prstGeom prst="ellipse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98101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269501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Safeguards that stay in place throughout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269501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experience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quality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709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REVIEW CADENCE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40080" y="5184648"/>
            <a:ext cx="10911535" cy="0"/>
          </a:xfrm>
          <a:prstGeom prst="line">
            <a:avLst/>
          </a:prstGeom>
          <a:noFill/>
          <a:ln w="19050">
            <a:solidFill>
              <a:srgbClr val="D4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5093208"/>
            <a:ext cx="182880" cy="182880"/>
          </a:xfrm>
          <a:prstGeom prst="ellipse">
            <a:avLst/>
          </a:prstGeom>
          <a:solidFill>
            <a:srgbClr val="0A8FA6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Scope, eligibility criteria, and baseline agreed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322244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22244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322244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confirmed; screening volumes and first flagged cohort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95848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95848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60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095848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 rate, accounts accepted for correction, staff workload impact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869451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869451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90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8869451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Collections to date, cohort maturity, and a joint decision on continuation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ask: a 90-day pilot at </a:t>
            </a:r>
            <a:r>
              <a:rPr lang="en-US" sz="3000" kern="0" spc="-1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Cook County Health's fiscal resilience while supporting accessible, high-quality care for the community — through a focused, transparent, and measurable pilot, reviewed jointly at days 30, 60, and 90.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sponsor &amp; scope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pilot scope at Stroger Hospital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38218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2538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2538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baseline data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the current TPL/WC workflow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27797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&amp; launch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success metrics; launch Phase 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779008"/>
            <a:ext cx="777240" cy="49377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0" descr="E:/Claude/laborforce-deck/brand/logo_full_la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83" y="5847588"/>
            <a:ext cx="541755" cy="35661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619695" y="57332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9695" y="60076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look forward to discussing the pilot with your leadership team.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orForce">
  <a:themeElements>
    <a:clrScheme name="LaborForce">
      <a:dk1>
        <a:srgbClr val="15283D"/>
      </a:dk1>
      <a:lt1>
        <a:srgbClr val="FFFFFF"/>
      </a:lt1>
      <a:dk2>
        <a:srgbClr val="0C3C75"/>
      </a:dk2>
      <a:lt2>
        <a:srgbClr val="F4F6F9"/>
      </a:lt2>
      <a:accent1>
        <a:srgbClr val="0A8FA6"/>
      </a:accent1>
      <a:accent2>
        <a:srgbClr val="E0F1F6"/>
      </a:accent2>
      <a:accent3>
        <a:srgbClr val="7FD3E3"/>
      </a:accent3>
      <a:accent4>
        <a:srgbClr val="4A5B6E"/>
      </a:accent4>
      <a:accent5>
        <a:srgbClr val="6E7E90"/>
      </a:accent5>
      <a:accent6>
        <a:srgbClr val="D4DCE6"/>
      </a:accent6>
      <a:hlink>
        <a:srgbClr val="0A8FA6"/>
      </a:hlink>
      <a:folHlink>
        <a:srgbClr val="4A5B6E"/>
      </a:folHlink>
    </a:clrScheme>
    <a:fontScheme name="LaborFor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1544</Words>
  <Application>Microsoft Office PowerPoint</Application>
  <PresentationFormat>Widescreen</PresentationFormat>
  <Paragraphs>264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Segoe UI</vt:lpstr>
      <vt:lpstr>LaborForce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LaborForce Medical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LaborForce Medical Management — Cook County Health Executive Briefing</dc:title>
  <dc:subject>90-day TPL/Workers' Comp revenue-recovery pilot</dc:subject>
  <dc:creator>LaborForce Medical Management</dc:creator>
  <cp:lastModifiedBy>a83192</cp:lastModifiedBy>
  <cp:revision>2</cp:revision>
  <dcterms:created xsi:type="dcterms:W3CDTF">2026-10-26T22:00:40Z</dcterms:created>
  <dcterms:modified xsi:type="dcterms:W3CDTF">2026-10-26T22:00:48Z</dcterms:modified>
</cp:coreProperties>
</file>