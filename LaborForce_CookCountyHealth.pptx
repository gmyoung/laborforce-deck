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AD3-49B1-BEE3-D2118833B345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460860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Cover: one column, hospital photo on the right. The right-hand stats panel was removed on 2026-10-26 to match the web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Five-layer waterfall: findings flow from identification (01) down to lien administration and recovery (05). LaborForce works alongside the hospital's billing and collections teams.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Static version of the interactive planning model at its starting scenario: 150,000 ED encounters × 6% additional coverage × $4,000 net per encounter = $36M per year; 9,000 identified encounters; $90M associated gross charges at a $10,000 average ED charge. Each figure in the grid = 1,000 ED encounters. Illustrative planning model, not a forecast.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82512"/>
            <a:ext cx="11094415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55664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LABORFORCE MEDICAL MANAGEMENT</a:t>
            </a:r>
            <a:endParaRPr lang="en-US" sz="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VY">
    <p:bg>
      <p:bgPr>
        <a:solidFill>
          <a:srgbClr val="0C3C7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82512"/>
            <a:ext cx="11094415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55664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kern="0" spc="15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LABORFORCE MEDICAL MANAGEMENT</a:t>
            </a:r>
            <a:endParaRPr lang="en-US" sz="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0C3C7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82512"/>
            <a:ext cx="11094415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55664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kern="0" spc="15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FOR DISCUSSION PURPOSES</a:t>
            </a:r>
            <a:endParaRPr lang="en-US" sz="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/Claude/laborforce-deck/brand/hospital_cover_fa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9607" y="1097280"/>
            <a:ext cx="7562088" cy="57607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645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Deliver Care, We Optimize Revenue.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965960"/>
            <a:ext cx="66751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3600" kern="0" spc="-1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Uncovering revenue.</a:t>
            </a:r>
            <a:endParaRPr lang="en-US" sz="3600" dirty="0"/>
          </a:p>
          <a:p>
            <a:pPr marL="0" indent="0">
              <a:lnSpc>
                <a:spcPct val="98000"/>
              </a:lnSpc>
              <a:buNone/>
            </a:pPr>
            <a:r>
              <a:rPr lang="en-US" sz="3600" kern="0" spc="-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Strengthening hospital performance.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840480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revenue identification and recovery partnership for Cook County Health's emergency and trauma care.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6177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PARTNERS</a:t>
            </a:r>
            <a:endParaRPr lang="en-US" sz="800" dirty="0"/>
          </a:p>
        </p:txBody>
      </p:sp>
      <p:pic>
        <p:nvPicPr>
          <p:cNvPr id="7" name="Image 1" descr="E:/Claude/laborforce-deck/brand/nm_logo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8640" y="4951476"/>
            <a:ext cx="1510429" cy="28346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2315101" y="4855464"/>
            <a:ext cx="0" cy="475488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pic>
        <p:nvPicPr>
          <p:cNvPr id="9" name="Image 2" descr="E:/Claude/laborforce-deck/brand/hph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1133" y="4892040"/>
            <a:ext cx="1386021" cy="402336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548640" y="6382512"/>
            <a:ext cx="66751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548640" y="6455664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FOR DISCUSSION PURPOSES</a:t>
            </a:r>
            <a:endParaRPr lang="en-US" sz="800" dirty="0"/>
          </a:p>
        </p:txBody>
      </p:sp>
      <p:sp>
        <p:nvSpPr>
          <p:cNvPr id="12" name="Text 7"/>
          <p:cNvSpPr txBox="1"/>
          <p:nvPr/>
        </p:nvSpPr>
        <p:spPr>
          <a:xfrm>
            <a:off x="5394960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/ 08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SUMMARY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30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work inside the revenue cycle</a:t>
            </a:r>
            <a:r>
              <a:rPr lang="en-US" sz="3000" kern="0" spc="-100" dirty="0">
                <a:solidFill>
                  <a:srgbClr val="6A7F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you already run.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567864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920240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/ CONTEXT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9456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pressure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633472"/>
            <a:ext cx="25678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Hospitals face reimbursement challenges, rising operational costs, complex payer requirements, and growing uncompensated care obligations.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90824" y="1737360"/>
            <a:ext cx="2567864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90824" y="1920240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/ OPPORTUNITY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3390824" y="219456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gap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390824" y="2633472"/>
            <a:ext cx="25678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ED, trauma and other encounters, Workers' Compensation, Third-Party Liability, auto and other responsible-party coverage can go unidentified or unpursued by traditional workflows.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33008" y="1737360"/>
            <a:ext cx="2567864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33008" y="1920240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/ SUPPORT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6233008" y="219456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LaborForce adds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233008" y="2633472"/>
            <a:ext cx="25678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Specialized payer identification, patient engagement, revenue auditing, payer verification, and lien administration support.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075191" y="1737360"/>
            <a:ext cx="2567864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75191" y="1920240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OUTCOME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9075191" y="219456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goal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9075191" y="2633472"/>
            <a:ext cx="25678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Identify additional reimbursement, improve revenue realization, and reduce avoidable administrative work — without replacing current systems or teams.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754880"/>
            <a:ext cx="11094415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9103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IT WORKS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21208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68680" y="5184648"/>
            <a:ext cx="224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Technology screening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68680" y="5458968"/>
            <a:ext cx="2247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Injury-related encounters are flagged from existing registration and billing data.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3390824" y="521208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3710864" y="5184648"/>
            <a:ext cx="224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Specialist review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3710864" y="5458968"/>
            <a:ext cx="2247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Analysts determine the likely responsible payer and what information is missing.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233008" y="521208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6553048" y="5184648"/>
            <a:ext cx="224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Direct patient contact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553048" y="5458968"/>
            <a:ext cx="2247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staff confirm the facts and close gaps, respecting each patient's choices.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075191" y="521208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9395231" y="5184648"/>
            <a:ext cx="224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Follow-through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395231" y="5458968"/>
            <a:ext cx="2247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Billing corrections, lien support, and payer follow-up until the account resolves.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/ 08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REVENUE SLIPS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30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that traditional workflows may overlook.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Patients often arrive after workplace incidents, motor vehicle accidents, or injuries involving another liable party. Registration and billing workflows may not consistently capture or resolve: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3526384" cy="841248"/>
          </a:xfrm>
          <a:prstGeom prst="roundRect">
            <a:avLst>
              <a:gd name="adj" fmla="val 4348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2350008"/>
            <a:ext cx="256032" cy="256032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2350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2057400"/>
            <a:ext cx="274914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the injury occurred while the patient was working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184752" y="2057400"/>
            <a:ext cx="3526384" cy="841248"/>
          </a:xfrm>
          <a:prstGeom prst="roundRect">
            <a:avLst>
              <a:gd name="adj" fmla="val 4348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85920" y="2350008"/>
            <a:ext cx="256032" cy="256032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5920" y="2350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4779112" y="2057400"/>
            <a:ext cx="274914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a motor vehicle or other third party may be responsible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008376"/>
            <a:ext cx="3526384" cy="841248"/>
          </a:xfrm>
          <a:prstGeom prst="roundRect">
            <a:avLst>
              <a:gd name="adj" fmla="val 4348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49808" y="3300984"/>
            <a:ext cx="256032" cy="256032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9808" y="3300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3008376"/>
            <a:ext cx="274914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another insurer or payer should be investigated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184752" y="3008376"/>
            <a:ext cx="3526384" cy="841248"/>
          </a:xfrm>
          <a:prstGeom prst="roundRect">
            <a:avLst>
              <a:gd name="adj" fmla="val 4348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85920" y="3300984"/>
            <a:ext cx="256032" cy="256032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85920" y="3300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750" dirty="0"/>
          </a:p>
        </p:txBody>
      </p:sp>
      <p:sp>
        <p:nvSpPr>
          <p:cNvPr id="20" name="Text 18"/>
          <p:cNvSpPr txBox="1"/>
          <p:nvPr/>
        </p:nvSpPr>
        <p:spPr>
          <a:xfrm>
            <a:off x="4779112" y="3008376"/>
            <a:ext cx="274914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the hospital has the right claim, attorney, or payer information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3959352"/>
            <a:ext cx="3526384" cy="841248"/>
          </a:xfrm>
          <a:prstGeom prst="roundRect">
            <a:avLst>
              <a:gd name="adj" fmla="val 4348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9808" y="4251960"/>
            <a:ext cx="256032" cy="256032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49808" y="42519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1143000" y="3959352"/>
            <a:ext cx="274914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a hospital lien is available, documented, and followed up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184752" y="3959352"/>
            <a:ext cx="3526384" cy="841248"/>
          </a:xfrm>
          <a:prstGeom prst="roundRect">
            <a:avLst>
              <a:gd name="adj" fmla="val 4348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85920" y="4251960"/>
            <a:ext cx="256032" cy="256032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85920" y="42519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4779112" y="3959352"/>
            <a:ext cx="274914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unresolved cases need investigation after discharge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076895" y="2057400"/>
            <a:ext cx="3566160" cy="274320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78063" y="225856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THE REVENUE GOES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8278063" y="2514600"/>
            <a:ext cx="3163824" cy="579120"/>
          </a:xfrm>
          <a:prstGeom prst="roundRect">
            <a:avLst>
              <a:gd name="adj" fmla="val 4737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415223" y="2578608"/>
            <a:ext cx="2889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kern="0" spc="-2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Injury-related encounter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8415223" y="2788920"/>
            <a:ext cx="2889504" cy="286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8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Workplace injury, motor vehicle accident, or incident involving a third party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9859975" y="3139440"/>
            <a:ext cx="0" cy="109728"/>
          </a:xfrm>
          <a:prstGeom prst="line">
            <a:avLst/>
          </a:prstGeom>
          <a:noFill/>
          <a:ln w="15875">
            <a:solidFill>
              <a:srgbClr val="0A8FA6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8278063" y="3294888"/>
            <a:ext cx="3163824" cy="579120"/>
          </a:xfrm>
          <a:prstGeom prst="roundRect">
            <a:avLst>
              <a:gd name="adj" fmla="val 4737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415223" y="3358896"/>
            <a:ext cx="2889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kern="0" spc="-2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Responsible payer missed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8415223" y="3569208"/>
            <a:ext cx="2889504" cy="286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8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identified at registration, or identified but not followed through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9859975" y="3919728"/>
            <a:ext cx="0" cy="109728"/>
          </a:xfrm>
          <a:prstGeom prst="line">
            <a:avLst/>
          </a:prstGeom>
          <a:noFill/>
          <a:ln w="15875">
            <a:solidFill>
              <a:srgbClr val="0A8FA6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8278063" y="4075176"/>
            <a:ext cx="3163824" cy="579120"/>
          </a:xfrm>
          <a:prstGeom prst="roundRect">
            <a:avLst>
              <a:gd name="adj" fmla="val 4737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415223" y="4139184"/>
            <a:ext cx="2889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kern="0" spc="-2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Absorbed by the hospital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8415223" y="4349496"/>
            <a:ext cx="2889504" cy="286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8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Written off as bad debt or uncompensated care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48640" y="5020056"/>
            <a:ext cx="11094415" cy="603504"/>
          </a:xfrm>
          <a:prstGeom prst="rect">
            <a:avLst/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5020056"/>
            <a:ext cx="45720" cy="603504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22960" y="5257800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CONSEQUENCE</a:t>
            </a:r>
            <a:endParaRPr lang="en-US" sz="800" dirty="0"/>
          </a:p>
        </p:txBody>
      </p:sp>
      <p:sp>
        <p:nvSpPr>
          <p:cNvPr id="45" name="Text 43"/>
          <p:cNvSpPr txBox="1"/>
          <p:nvPr/>
        </p:nvSpPr>
        <p:spPr>
          <a:xfrm>
            <a:off x="2560320" y="5020056"/>
            <a:ext cx="8808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 reimbursement opportunities may remain unidentified, incorrectly routed, delayed, or insufficiently pursued.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/ 08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375F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CRITICAL FUNCTIONS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LaborForce solution.</a:t>
            </a:r>
            <a:endParaRPr lang="en-US" sz="2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9FC0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specialized operational layer.</a:t>
            </a:r>
            <a:endParaRPr lang="en-US" sz="2800" dirty="0"/>
          </a:p>
        </p:txBody>
      </p:sp>
      <p:sp>
        <p:nvSpPr>
          <p:cNvPr id="4" name="slab-1-left"/>
          <p:cNvSpPr/>
          <p:nvPr/>
        </p:nvSpPr>
        <p:spPr>
          <a:xfrm>
            <a:off x="982156" y="2186225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0" y="0"/>
                </a:moveTo>
                <a:lnTo>
                  <a:pt x="1445052" y="274560"/>
                </a:lnTo>
                <a:lnTo>
                  <a:pt x="1445052" y="404615"/>
                </a:lnTo>
                <a:lnTo>
                  <a:pt x="0" y="130055"/>
                </a:lnTo>
                <a:close/>
              </a:path>
            </a:pathLst>
          </a:custGeom>
          <a:solidFill>
            <a:srgbClr val="7ADBC0"/>
          </a:solidFill>
          <a:ln w="6350">
            <a:solidFill>
              <a:srgbClr val="7ADBC0"/>
            </a:solidFill>
            <a:prstDash val="solid"/>
          </a:ln>
        </p:spPr>
      </p:sp>
      <p:sp>
        <p:nvSpPr>
          <p:cNvPr id="5" name="slab-1-right"/>
          <p:cNvSpPr/>
          <p:nvPr/>
        </p:nvSpPr>
        <p:spPr>
          <a:xfrm>
            <a:off x="2427207" y="2186225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1445052" y="0"/>
                </a:moveTo>
                <a:lnTo>
                  <a:pt x="0" y="274560"/>
                </a:lnTo>
                <a:lnTo>
                  <a:pt x="0" y="404615"/>
                </a:lnTo>
                <a:lnTo>
                  <a:pt x="1445052" y="130055"/>
                </a:lnTo>
                <a:close/>
              </a:path>
            </a:pathLst>
          </a:custGeom>
          <a:solidFill>
            <a:srgbClr val="3DB48F"/>
          </a:solidFill>
          <a:ln w="6350">
            <a:solidFill>
              <a:srgbClr val="3DB48F"/>
            </a:solidFill>
            <a:prstDash val="solid"/>
          </a:ln>
        </p:spPr>
      </p:sp>
      <p:sp>
        <p:nvSpPr>
          <p:cNvPr id="6" name="slab-1-top"/>
          <p:cNvSpPr/>
          <p:nvPr/>
        </p:nvSpPr>
        <p:spPr>
          <a:xfrm>
            <a:off x="982156" y="1911666"/>
            <a:ext cx="2890104" cy="549120"/>
          </a:xfrm>
          <a:custGeom>
            <a:avLst/>
            <a:gdLst/>
            <a:ahLst/>
            <a:cxnLst/>
            <a:rect l="l" t="t" r="r" b="b"/>
            <a:pathLst>
              <a:path w="2890104" h="549120">
                <a:moveTo>
                  <a:pt x="0" y="274560"/>
                </a:moveTo>
                <a:lnTo>
                  <a:pt x="1445052" y="0"/>
                </a:lnTo>
                <a:lnTo>
                  <a:pt x="2890104" y="274560"/>
                </a:lnTo>
                <a:lnTo>
                  <a:pt x="1445052" y="549120"/>
                </a:lnTo>
                <a:close/>
              </a:path>
            </a:pathLst>
          </a:custGeom>
          <a:solidFill>
            <a:srgbClr val="BFEFE0"/>
          </a:solidFill>
          <a:ln w="6350">
            <a:solidFill>
              <a:srgbClr val="BFEFE0"/>
            </a:solidFill>
            <a:prstDash val="solid"/>
          </a:ln>
        </p:spPr>
      </p:sp>
      <p:sp>
        <p:nvSpPr>
          <p:cNvPr id="7" name="slab-1-num"/>
          <p:cNvSpPr txBox="1"/>
          <p:nvPr/>
        </p:nvSpPr>
        <p:spPr>
          <a:xfrm>
            <a:off x="1970007" y="2049065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slab-1-link"/>
          <p:cNvSpPr/>
          <p:nvPr/>
        </p:nvSpPr>
        <p:spPr>
          <a:xfrm>
            <a:off x="2427207" y="2590840"/>
            <a:ext cx="0" cy="216758"/>
          </a:xfrm>
          <a:prstGeom prst="line">
            <a:avLst/>
          </a:prstGeom>
          <a:noFill/>
          <a:ln w="15875">
            <a:solidFill>
              <a:srgbClr val="7FD3E3"/>
            </a:solidFill>
            <a:prstDash val="sysDash"/>
          </a:ln>
        </p:spPr>
      </p:sp>
      <p:sp>
        <p:nvSpPr>
          <p:cNvPr id="9" name="slab-1-drop"/>
          <p:cNvSpPr/>
          <p:nvPr/>
        </p:nvSpPr>
        <p:spPr>
          <a:xfrm>
            <a:off x="2399775" y="2563408"/>
            <a:ext cx="54864" cy="54864"/>
          </a:xfrm>
          <a:prstGeom prst="ellipse">
            <a:avLst/>
          </a:prstGeom>
          <a:solidFill>
            <a:srgbClr val="7FD3E3"/>
          </a:solidFill>
          <a:ln w="12700">
            <a:solidFill>
              <a:srgbClr val="7FD3E3"/>
            </a:solidFill>
            <a:prstDash val="solid"/>
          </a:ln>
        </p:spPr>
      </p:sp>
      <p:sp>
        <p:nvSpPr>
          <p:cNvPr id="10" name="slab-2-left"/>
          <p:cNvSpPr/>
          <p:nvPr/>
        </p:nvSpPr>
        <p:spPr>
          <a:xfrm>
            <a:off x="982156" y="3038806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0" y="0"/>
                </a:moveTo>
                <a:lnTo>
                  <a:pt x="1445052" y="274560"/>
                </a:lnTo>
                <a:lnTo>
                  <a:pt x="1445052" y="404615"/>
                </a:lnTo>
                <a:lnTo>
                  <a:pt x="0" y="130055"/>
                </a:lnTo>
                <a:close/>
              </a:path>
            </a:pathLst>
          </a:custGeom>
          <a:solidFill>
            <a:srgbClr val="4CC9A6"/>
          </a:solidFill>
          <a:ln w="6350">
            <a:solidFill>
              <a:srgbClr val="4CC9A6"/>
            </a:solidFill>
            <a:prstDash val="solid"/>
          </a:ln>
        </p:spPr>
      </p:sp>
      <p:sp>
        <p:nvSpPr>
          <p:cNvPr id="11" name="slab-2-right"/>
          <p:cNvSpPr/>
          <p:nvPr/>
        </p:nvSpPr>
        <p:spPr>
          <a:xfrm>
            <a:off x="2427207" y="3038806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1445052" y="0"/>
                </a:moveTo>
                <a:lnTo>
                  <a:pt x="0" y="274560"/>
                </a:lnTo>
                <a:lnTo>
                  <a:pt x="0" y="404615"/>
                </a:lnTo>
                <a:lnTo>
                  <a:pt x="1445052" y="130055"/>
                </a:lnTo>
                <a:close/>
              </a:path>
            </a:pathLst>
          </a:custGeom>
          <a:solidFill>
            <a:srgbClr val="1D9E75"/>
          </a:solidFill>
          <a:ln w="6350">
            <a:solidFill>
              <a:srgbClr val="1D9E75"/>
            </a:solidFill>
            <a:prstDash val="solid"/>
          </a:ln>
        </p:spPr>
      </p:sp>
      <p:sp>
        <p:nvSpPr>
          <p:cNvPr id="12" name="slab-2-top"/>
          <p:cNvSpPr/>
          <p:nvPr/>
        </p:nvSpPr>
        <p:spPr>
          <a:xfrm>
            <a:off x="982156" y="2764246"/>
            <a:ext cx="2890104" cy="549120"/>
          </a:xfrm>
          <a:custGeom>
            <a:avLst/>
            <a:gdLst/>
            <a:ahLst/>
            <a:cxnLst/>
            <a:rect l="l" t="t" r="r" b="b"/>
            <a:pathLst>
              <a:path w="2890104" h="549120">
                <a:moveTo>
                  <a:pt x="0" y="274560"/>
                </a:moveTo>
                <a:lnTo>
                  <a:pt x="1445052" y="0"/>
                </a:lnTo>
                <a:lnTo>
                  <a:pt x="2890104" y="274560"/>
                </a:lnTo>
                <a:lnTo>
                  <a:pt x="1445052" y="549120"/>
                </a:lnTo>
                <a:close/>
              </a:path>
            </a:pathLst>
          </a:custGeom>
          <a:solidFill>
            <a:srgbClr val="8FE0C9"/>
          </a:solidFill>
          <a:ln w="6350">
            <a:solidFill>
              <a:srgbClr val="8FE0C9"/>
            </a:solidFill>
            <a:prstDash val="solid"/>
          </a:ln>
        </p:spPr>
      </p:sp>
      <p:sp>
        <p:nvSpPr>
          <p:cNvPr id="13" name="slab-2-num"/>
          <p:cNvSpPr txBox="1"/>
          <p:nvPr/>
        </p:nvSpPr>
        <p:spPr>
          <a:xfrm>
            <a:off x="1970007" y="290164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slab-2-link"/>
          <p:cNvSpPr/>
          <p:nvPr/>
        </p:nvSpPr>
        <p:spPr>
          <a:xfrm>
            <a:off x="2427207" y="3443421"/>
            <a:ext cx="0" cy="216758"/>
          </a:xfrm>
          <a:prstGeom prst="line">
            <a:avLst/>
          </a:prstGeom>
          <a:noFill/>
          <a:ln w="15875">
            <a:solidFill>
              <a:srgbClr val="7FD3E3"/>
            </a:solidFill>
            <a:prstDash val="sysDash"/>
          </a:ln>
        </p:spPr>
      </p:sp>
      <p:sp>
        <p:nvSpPr>
          <p:cNvPr id="15" name="slab-2-drop"/>
          <p:cNvSpPr/>
          <p:nvPr/>
        </p:nvSpPr>
        <p:spPr>
          <a:xfrm>
            <a:off x="2399775" y="3415989"/>
            <a:ext cx="54864" cy="54864"/>
          </a:xfrm>
          <a:prstGeom prst="ellipse">
            <a:avLst/>
          </a:prstGeom>
          <a:solidFill>
            <a:srgbClr val="7FD3E3"/>
          </a:solidFill>
          <a:ln w="12700">
            <a:solidFill>
              <a:srgbClr val="7FD3E3"/>
            </a:solidFill>
            <a:prstDash val="solid"/>
          </a:ln>
        </p:spPr>
      </p:sp>
      <p:sp>
        <p:nvSpPr>
          <p:cNvPr id="16" name="slab-3-left"/>
          <p:cNvSpPr/>
          <p:nvPr/>
        </p:nvSpPr>
        <p:spPr>
          <a:xfrm>
            <a:off x="982156" y="3891387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0" y="0"/>
                </a:moveTo>
                <a:lnTo>
                  <a:pt x="1445052" y="274560"/>
                </a:lnTo>
                <a:lnTo>
                  <a:pt x="1445052" y="404615"/>
                </a:lnTo>
                <a:lnTo>
                  <a:pt x="0" y="130055"/>
                </a:lnTo>
                <a:close/>
              </a:path>
            </a:pathLst>
          </a:custGeom>
          <a:solidFill>
            <a:srgbClr val="5AA2E6"/>
          </a:solidFill>
          <a:ln w="6350">
            <a:solidFill>
              <a:srgbClr val="5AA2E6"/>
            </a:solidFill>
            <a:prstDash val="solid"/>
          </a:ln>
        </p:spPr>
      </p:sp>
      <p:sp>
        <p:nvSpPr>
          <p:cNvPr id="17" name="slab-3-right"/>
          <p:cNvSpPr/>
          <p:nvPr/>
        </p:nvSpPr>
        <p:spPr>
          <a:xfrm>
            <a:off x="2427207" y="3891387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1445052" y="0"/>
                </a:moveTo>
                <a:lnTo>
                  <a:pt x="0" y="274560"/>
                </a:lnTo>
                <a:lnTo>
                  <a:pt x="0" y="404615"/>
                </a:lnTo>
                <a:lnTo>
                  <a:pt x="1445052" y="130055"/>
                </a:lnTo>
                <a:close/>
              </a:path>
            </a:pathLst>
          </a:custGeom>
          <a:solidFill>
            <a:srgbClr val="2F7FCB"/>
          </a:solidFill>
          <a:ln w="6350">
            <a:solidFill>
              <a:srgbClr val="2F7FCB"/>
            </a:solidFill>
            <a:prstDash val="solid"/>
          </a:ln>
        </p:spPr>
      </p:sp>
      <p:sp>
        <p:nvSpPr>
          <p:cNvPr id="18" name="slab-3-top"/>
          <p:cNvSpPr/>
          <p:nvPr/>
        </p:nvSpPr>
        <p:spPr>
          <a:xfrm>
            <a:off x="982156" y="3616827"/>
            <a:ext cx="2890104" cy="549120"/>
          </a:xfrm>
          <a:custGeom>
            <a:avLst/>
            <a:gdLst/>
            <a:ahLst/>
            <a:cxnLst/>
            <a:rect l="l" t="t" r="r" b="b"/>
            <a:pathLst>
              <a:path w="2890104" h="549120">
                <a:moveTo>
                  <a:pt x="0" y="274560"/>
                </a:moveTo>
                <a:lnTo>
                  <a:pt x="1445052" y="0"/>
                </a:lnTo>
                <a:lnTo>
                  <a:pt x="2890104" y="274560"/>
                </a:lnTo>
                <a:lnTo>
                  <a:pt x="1445052" y="549120"/>
                </a:lnTo>
                <a:close/>
              </a:path>
            </a:pathLst>
          </a:custGeom>
          <a:solidFill>
            <a:srgbClr val="9CC8F0"/>
          </a:solidFill>
          <a:ln w="6350">
            <a:solidFill>
              <a:srgbClr val="9CC8F0"/>
            </a:solidFill>
            <a:prstDash val="solid"/>
          </a:ln>
        </p:spPr>
      </p:sp>
      <p:sp>
        <p:nvSpPr>
          <p:cNvPr id="19" name="slab-3-num"/>
          <p:cNvSpPr txBox="1"/>
          <p:nvPr/>
        </p:nvSpPr>
        <p:spPr>
          <a:xfrm>
            <a:off x="1970007" y="3754227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100" dirty="0"/>
          </a:p>
        </p:txBody>
      </p:sp>
      <p:sp>
        <p:nvSpPr>
          <p:cNvPr id="20" name="slab-3-link"/>
          <p:cNvSpPr/>
          <p:nvPr/>
        </p:nvSpPr>
        <p:spPr>
          <a:xfrm>
            <a:off x="2427207" y="4296001"/>
            <a:ext cx="0" cy="216758"/>
          </a:xfrm>
          <a:prstGeom prst="line">
            <a:avLst/>
          </a:prstGeom>
          <a:noFill/>
          <a:ln w="15875">
            <a:solidFill>
              <a:srgbClr val="7FD3E3"/>
            </a:solidFill>
            <a:prstDash val="sysDash"/>
          </a:ln>
        </p:spPr>
      </p:sp>
      <p:sp>
        <p:nvSpPr>
          <p:cNvPr id="21" name="slab-3-drop"/>
          <p:cNvSpPr/>
          <p:nvPr/>
        </p:nvSpPr>
        <p:spPr>
          <a:xfrm>
            <a:off x="2399775" y="4268569"/>
            <a:ext cx="54864" cy="54864"/>
          </a:xfrm>
          <a:prstGeom prst="ellipse">
            <a:avLst/>
          </a:prstGeom>
          <a:solidFill>
            <a:srgbClr val="7FD3E3"/>
          </a:solidFill>
          <a:ln w="12700">
            <a:solidFill>
              <a:srgbClr val="7FD3E3"/>
            </a:solidFill>
            <a:prstDash val="solid"/>
          </a:ln>
        </p:spPr>
      </p:sp>
      <p:sp>
        <p:nvSpPr>
          <p:cNvPr id="22" name="slab-4-left"/>
          <p:cNvSpPr/>
          <p:nvPr/>
        </p:nvSpPr>
        <p:spPr>
          <a:xfrm>
            <a:off x="982156" y="4743967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0" y="0"/>
                </a:moveTo>
                <a:lnTo>
                  <a:pt x="1445052" y="274560"/>
                </a:lnTo>
                <a:lnTo>
                  <a:pt x="1445052" y="404615"/>
                </a:lnTo>
                <a:lnTo>
                  <a:pt x="0" y="130055"/>
                </a:lnTo>
                <a:close/>
              </a:path>
            </a:pathLst>
          </a:custGeom>
          <a:solidFill>
            <a:srgbClr val="3A8FDB"/>
          </a:solidFill>
          <a:ln w="6350">
            <a:solidFill>
              <a:srgbClr val="3A8FDB"/>
            </a:solidFill>
            <a:prstDash val="solid"/>
          </a:ln>
        </p:spPr>
      </p:sp>
      <p:sp>
        <p:nvSpPr>
          <p:cNvPr id="23" name="slab-4-right"/>
          <p:cNvSpPr/>
          <p:nvPr/>
        </p:nvSpPr>
        <p:spPr>
          <a:xfrm>
            <a:off x="2427207" y="4743967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1445052" y="0"/>
                </a:moveTo>
                <a:lnTo>
                  <a:pt x="0" y="274560"/>
                </a:lnTo>
                <a:lnTo>
                  <a:pt x="0" y="404615"/>
                </a:lnTo>
                <a:lnTo>
                  <a:pt x="1445052" y="130055"/>
                </a:lnTo>
                <a:close/>
              </a:path>
            </a:pathLst>
          </a:custGeom>
          <a:solidFill>
            <a:srgbClr val="1F67AE"/>
          </a:solidFill>
          <a:ln w="6350">
            <a:solidFill>
              <a:srgbClr val="1F67AE"/>
            </a:solidFill>
            <a:prstDash val="solid"/>
          </a:ln>
        </p:spPr>
      </p:sp>
      <p:sp>
        <p:nvSpPr>
          <p:cNvPr id="24" name="slab-4-top"/>
          <p:cNvSpPr/>
          <p:nvPr/>
        </p:nvSpPr>
        <p:spPr>
          <a:xfrm>
            <a:off x="982156" y="4469407"/>
            <a:ext cx="2890104" cy="549120"/>
          </a:xfrm>
          <a:custGeom>
            <a:avLst/>
            <a:gdLst/>
            <a:ahLst/>
            <a:cxnLst/>
            <a:rect l="l" t="t" r="r" b="b"/>
            <a:pathLst>
              <a:path w="2890104" h="549120">
                <a:moveTo>
                  <a:pt x="0" y="274560"/>
                </a:moveTo>
                <a:lnTo>
                  <a:pt x="1445052" y="0"/>
                </a:lnTo>
                <a:lnTo>
                  <a:pt x="2890104" y="274560"/>
                </a:lnTo>
                <a:lnTo>
                  <a:pt x="1445052" y="549120"/>
                </a:lnTo>
                <a:close/>
              </a:path>
            </a:pathLst>
          </a:custGeom>
          <a:solidFill>
            <a:srgbClr val="6FB0EE"/>
          </a:solidFill>
          <a:ln w="6350">
            <a:solidFill>
              <a:srgbClr val="6FB0EE"/>
            </a:solidFill>
            <a:prstDash val="solid"/>
          </a:ln>
        </p:spPr>
      </p:sp>
      <p:sp>
        <p:nvSpPr>
          <p:cNvPr id="25" name="slab-4-num"/>
          <p:cNvSpPr txBox="1"/>
          <p:nvPr/>
        </p:nvSpPr>
        <p:spPr>
          <a:xfrm>
            <a:off x="1970007" y="4606807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100" dirty="0"/>
          </a:p>
        </p:txBody>
      </p:sp>
      <p:sp>
        <p:nvSpPr>
          <p:cNvPr id="26" name="slab-4-link"/>
          <p:cNvSpPr/>
          <p:nvPr/>
        </p:nvSpPr>
        <p:spPr>
          <a:xfrm>
            <a:off x="2427207" y="5148582"/>
            <a:ext cx="0" cy="216758"/>
          </a:xfrm>
          <a:prstGeom prst="line">
            <a:avLst/>
          </a:prstGeom>
          <a:noFill/>
          <a:ln w="15875">
            <a:solidFill>
              <a:srgbClr val="7FD3E3"/>
            </a:solidFill>
            <a:prstDash val="sysDash"/>
          </a:ln>
        </p:spPr>
      </p:sp>
      <p:sp>
        <p:nvSpPr>
          <p:cNvPr id="27" name="slab-4-drop"/>
          <p:cNvSpPr/>
          <p:nvPr/>
        </p:nvSpPr>
        <p:spPr>
          <a:xfrm>
            <a:off x="2399775" y="5121150"/>
            <a:ext cx="54864" cy="54864"/>
          </a:xfrm>
          <a:prstGeom prst="ellipse">
            <a:avLst/>
          </a:prstGeom>
          <a:solidFill>
            <a:srgbClr val="7FD3E3"/>
          </a:solidFill>
          <a:ln w="12700">
            <a:solidFill>
              <a:srgbClr val="7FD3E3"/>
            </a:solidFill>
            <a:prstDash val="solid"/>
          </a:ln>
        </p:spPr>
      </p:sp>
      <p:sp>
        <p:nvSpPr>
          <p:cNvPr id="28" name="slab-5-left"/>
          <p:cNvSpPr/>
          <p:nvPr/>
        </p:nvSpPr>
        <p:spPr>
          <a:xfrm>
            <a:off x="982156" y="5596548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0" y="0"/>
                </a:moveTo>
                <a:lnTo>
                  <a:pt x="1445052" y="274560"/>
                </a:lnTo>
                <a:lnTo>
                  <a:pt x="1445052" y="404615"/>
                </a:lnTo>
                <a:lnTo>
                  <a:pt x="0" y="130055"/>
                </a:lnTo>
                <a:close/>
              </a:path>
            </a:pathLst>
          </a:custGeom>
          <a:solidFill>
            <a:srgbClr val="2B74BE"/>
          </a:solidFill>
          <a:ln w="6350">
            <a:solidFill>
              <a:srgbClr val="2B74BE"/>
            </a:solidFill>
            <a:prstDash val="solid"/>
          </a:ln>
        </p:spPr>
      </p:sp>
      <p:sp>
        <p:nvSpPr>
          <p:cNvPr id="29" name="slab-5-right"/>
          <p:cNvSpPr/>
          <p:nvPr/>
        </p:nvSpPr>
        <p:spPr>
          <a:xfrm>
            <a:off x="2427207" y="5596548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1445052" y="0"/>
                </a:moveTo>
                <a:lnTo>
                  <a:pt x="0" y="274560"/>
                </a:lnTo>
                <a:lnTo>
                  <a:pt x="0" y="404615"/>
                </a:lnTo>
                <a:lnTo>
                  <a:pt x="1445052" y="130055"/>
                </a:lnTo>
                <a:close/>
              </a:path>
            </a:pathLst>
          </a:custGeom>
          <a:solidFill>
            <a:srgbClr val="1A5590"/>
          </a:solidFill>
          <a:ln w="6350">
            <a:solidFill>
              <a:srgbClr val="1A5590"/>
            </a:solidFill>
            <a:prstDash val="solid"/>
          </a:ln>
        </p:spPr>
      </p:sp>
      <p:sp>
        <p:nvSpPr>
          <p:cNvPr id="30" name="slab-5-top"/>
          <p:cNvSpPr/>
          <p:nvPr/>
        </p:nvSpPr>
        <p:spPr>
          <a:xfrm>
            <a:off x="982156" y="5321988"/>
            <a:ext cx="2890104" cy="549120"/>
          </a:xfrm>
          <a:custGeom>
            <a:avLst/>
            <a:gdLst/>
            <a:ahLst/>
            <a:cxnLst/>
            <a:rect l="l" t="t" r="r" b="b"/>
            <a:pathLst>
              <a:path w="2890104" h="549120">
                <a:moveTo>
                  <a:pt x="0" y="274560"/>
                </a:moveTo>
                <a:lnTo>
                  <a:pt x="1445052" y="0"/>
                </a:lnTo>
                <a:lnTo>
                  <a:pt x="2890104" y="274560"/>
                </a:lnTo>
                <a:lnTo>
                  <a:pt x="1445052" y="549120"/>
                </a:lnTo>
                <a:close/>
              </a:path>
            </a:pathLst>
          </a:custGeom>
          <a:solidFill>
            <a:srgbClr val="4A97E2"/>
          </a:solidFill>
          <a:ln w="6350">
            <a:solidFill>
              <a:srgbClr val="4A97E2"/>
            </a:solidFill>
            <a:prstDash val="solid"/>
          </a:ln>
        </p:spPr>
      </p:sp>
      <p:sp>
        <p:nvSpPr>
          <p:cNvPr id="31" name="slab-5-num"/>
          <p:cNvSpPr txBox="1"/>
          <p:nvPr/>
        </p:nvSpPr>
        <p:spPr>
          <a:xfrm>
            <a:off x="1970007" y="54593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100" dirty="0"/>
          </a:p>
        </p:txBody>
      </p:sp>
      <p:sp>
        <p:nvSpPr>
          <p:cNvPr id="32" name="fn-1-card"/>
          <p:cNvSpPr/>
          <p:nvPr/>
        </p:nvSpPr>
        <p:spPr>
          <a:xfrm>
            <a:off x="4717255" y="1810512"/>
            <a:ext cx="6925801" cy="749808"/>
          </a:xfrm>
          <a:prstGeom prst="roundRect">
            <a:avLst>
              <a:gd name="adj" fmla="val 6098"/>
            </a:avLst>
          </a:prstGeom>
          <a:solidFill>
            <a:srgbClr val="174579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33" name="fn-1-badge"/>
          <p:cNvSpPr/>
          <p:nvPr/>
        </p:nvSpPr>
        <p:spPr>
          <a:xfrm>
            <a:off x="4900135" y="2029968"/>
            <a:ext cx="310896" cy="310896"/>
          </a:xfrm>
          <a:prstGeom prst="ellipse">
            <a:avLst/>
          </a:prstGeom>
          <a:solidFill>
            <a:srgbClr val="2C5687"/>
          </a:solidFill>
          <a:ln w="12700">
            <a:solidFill>
              <a:srgbClr val="2C5687"/>
            </a:solidFill>
            <a:prstDash val="solid"/>
          </a:ln>
        </p:spPr>
      </p:sp>
      <p:sp>
        <p:nvSpPr>
          <p:cNvPr id="34" name="fn-1-badgenum"/>
          <p:cNvSpPr txBox="1"/>
          <p:nvPr/>
        </p:nvSpPr>
        <p:spPr>
          <a:xfrm>
            <a:off x="4900135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850" dirty="0"/>
          </a:p>
        </p:txBody>
      </p:sp>
      <p:sp>
        <p:nvSpPr>
          <p:cNvPr id="35" name="fn-1-title"/>
          <p:cNvSpPr txBox="1"/>
          <p:nvPr/>
        </p:nvSpPr>
        <p:spPr>
          <a:xfrm>
            <a:off x="5375623" y="1920240"/>
            <a:ext cx="61028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2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 Revenue Identification</a:t>
            </a:r>
            <a:endParaRPr lang="en-US" sz="1300" dirty="0"/>
          </a:p>
        </p:txBody>
      </p:sp>
      <p:sp>
        <p:nvSpPr>
          <p:cNvPr id="36" name="fn-1-desc"/>
          <p:cNvSpPr txBox="1"/>
          <p:nvPr/>
        </p:nvSpPr>
        <p:spPr>
          <a:xfrm>
            <a:off x="5375623" y="2194560"/>
            <a:ext cx="61028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 injury-related encounters, identify potentially responsible payers, and prioritize accounts for investigation.</a:t>
            </a:r>
            <a:endParaRPr lang="en-US" sz="950" dirty="0"/>
          </a:p>
        </p:txBody>
      </p:sp>
      <p:sp>
        <p:nvSpPr>
          <p:cNvPr id="37" name="fn-2-card"/>
          <p:cNvSpPr/>
          <p:nvPr/>
        </p:nvSpPr>
        <p:spPr>
          <a:xfrm>
            <a:off x="4717255" y="2651760"/>
            <a:ext cx="6925801" cy="749808"/>
          </a:xfrm>
          <a:prstGeom prst="roundRect">
            <a:avLst>
              <a:gd name="adj" fmla="val 6098"/>
            </a:avLst>
          </a:prstGeom>
          <a:solidFill>
            <a:srgbClr val="174579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38" name="fn-2-badge"/>
          <p:cNvSpPr/>
          <p:nvPr/>
        </p:nvSpPr>
        <p:spPr>
          <a:xfrm>
            <a:off x="4900135" y="2871216"/>
            <a:ext cx="310896" cy="310896"/>
          </a:xfrm>
          <a:prstGeom prst="ellipse">
            <a:avLst/>
          </a:prstGeom>
          <a:solidFill>
            <a:srgbClr val="2C5687"/>
          </a:solidFill>
          <a:ln w="12700">
            <a:solidFill>
              <a:srgbClr val="2C5687"/>
            </a:solidFill>
            <a:prstDash val="solid"/>
          </a:ln>
        </p:spPr>
      </p:sp>
      <p:sp>
        <p:nvSpPr>
          <p:cNvPr id="39" name="fn-2-badgenum"/>
          <p:cNvSpPr txBox="1"/>
          <p:nvPr/>
        </p:nvSpPr>
        <p:spPr>
          <a:xfrm>
            <a:off x="4900135" y="28712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850" dirty="0"/>
          </a:p>
        </p:txBody>
      </p:sp>
      <p:sp>
        <p:nvSpPr>
          <p:cNvPr id="40" name="fn-2-title"/>
          <p:cNvSpPr txBox="1"/>
          <p:nvPr/>
        </p:nvSpPr>
        <p:spPr>
          <a:xfrm>
            <a:off x="5375623" y="2761488"/>
            <a:ext cx="61028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2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Patient Engagement</a:t>
            </a:r>
            <a:endParaRPr lang="en-US" sz="1300" dirty="0"/>
          </a:p>
        </p:txBody>
      </p:sp>
      <p:sp>
        <p:nvSpPr>
          <p:cNvPr id="41" name="fn-2-desc"/>
          <p:cNvSpPr txBox="1"/>
          <p:nvPr/>
        </p:nvSpPr>
        <p:spPr>
          <a:xfrm>
            <a:off x="5375623" y="3035808"/>
            <a:ext cx="61028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Outreach to verify injury circumstances and collect missing claim, employer, insurer, or attorney information.</a:t>
            </a:r>
            <a:endParaRPr lang="en-US" sz="950" dirty="0"/>
          </a:p>
        </p:txBody>
      </p:sp>
      <p:sp>
        <p:nvSpPr>
          <p:cNvPr id="42" name="fn-3-card"/>
          <p:cNvSpPr/>
          <p:nvPr/>
        </p:nvSpPr>
        <p:spPr>
          <a:xfrm>
            <a:off x="4717255" y="3493008"/>
            <a:ext cx="6925801" cy="749808"/>
          </a:xfrm>
          <a:prstGeom prst="roundRect">
            <a:avLst>
              <a:gd name="adj" fmla="val 6098"/>
            </a:avLst>
          </a:prstGeom>
          <a:solidFill>
            <a:srgbClr val="174579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43" name="fn-3-badge"/>
          <p:cNvSpPr/>
          <p:nvPr/>
        </p:nvSpPr>
        <p:spPr>
          <a:xfrm>
            <a:off x="4900135" y="3712464"/>
            <a:ext cx="310896" cy="310896"/>
          </a:xfrm>
          <a:prstGeom prst="ellipse">
            <a:avLst/>
          </a:prstGeom>
          <a:solidFill>
            <a:srgbClr val="2C5687"/>
          </a:solidFill>
          <a:ln w="12700">
            <a:solidFill>
              <a:srgbClr val="2C5687"/>
            </a:solidFill>
            <a:prstDash val="solid"/>
          </a:ln>
        </p:spPr>
      </p:sp>
      <p:sp>
        <p:nvSpPr>
          <p:cNvPr id="44" name="fn-3-badgenum"/>
          <p:cNvSpPr txBox="1"/>
          <p:nvPr/>
        </p:nvSpPr>
        <p:spPr>
          <a:xfrm>
            <a:off x="4900135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850" dirty="0"/>
          </a:p>
        </p:txBody>
      </p:sp>
      <p:sp>
        <p:nvSpPr>
          <p:cNvPr id="45" name="fn-3-title"/>
          <p:cNvSpPr txBox="1"/>
          <p:nvPr/>
        </p:nvSpPr>
        <p:spPr>
          <a:xfrm>
            <a:off x="5375623" y="3602736"/>
            <a:ext cx="61028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2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Payer Verification &amp; RCM Coordination</a:t>
            </a:r>
            <a:endParaRPr lang="en-US" sz="1300" dirty="0"/>
          </a:p>
        </p:txBody>
      </p:sp>
      <p:sp>
        <p:nvSpPr>
          <p:cNvPr id="46" name="fn-3-desc"/>
          <p:cNvSpPr txBox="1"/>
          <p:nvPr/>
        </p:nvSpPr>
        <p:spPr>
          <a:xfrm>
            <a:off x="5375623" y="3877056"/>
            <a:ext cx="61028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Coordinate findings with registration, billing, and revenue cycle teams for payer determination and follow-up.</a:t>
            </a:r>
            <a:endParaRPr lang="en-US" sz="950" dirty="0"/>
          </a:p>
        </p:txBody>
      </p:sp>
      <p:sp>
        <p:nvSpPr>
          <p:cNvPr id="47" name="fn-4-card"/>
          <p:cNvSpPr/>
          <p:nvPr/>
        </p:nvSpPr>
        <p:spPr>
          <a:xfrm>
            <a:off x="4717255" y="4334256"/>
            <a:ext cx="6925801" cy="749808"/>
          </a:xfrm>
          <a:prstGeom prst="roundRect">
            <a:avLst>
              <a:gd name="adj" fmla="val 6098"/>
            </a:avLst>
          </a:prstGeom>
          <a:solidFill>
            <a:srgbClr val="174579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48" name="fn-4-badge"/>
          <p:cNvSpPr/>
          <p:nvPr/>
        </p:nvSpPr>
        <p:spPr>
          <a:xfrm>
            <a:off x="4900135" y="4553712"/>
            <a:ext cx="310896" cy="310896"/>
          </a:xfrm>
          <a:prstGeom prst="ellipse">
            <a:avLst/>
          </a:prstGeom>
          <a:solidFill>
            <a:srgbClr val="2C5687"/>
          </a:solidFill>
          <a:ln w="12700">
            <a:solidFill>
              <a:srgbClr val="2C5687"/>
            </a:solidFill>
            <a:prstDash val="solid"/>
          </a:ln>
        </p:spPr>
      </p:sp>
      <p:sp>
        <p:nvSpPr>
          <p:cNvPr id="49" name="fn-4-badgenum"/>
          <p:cNvSpPr txBox="1"/>
          <p:nvPr/>
        </p:nvSpPr>
        <p:spPr>
          <a:xfrm>
            <a:off x="4900135" y="4553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850" dirty="0"/>
          </a:p>
        </p:txBody>
      </p:sp>
      <p:sp>
        <p:nvSpPr>
          <p:cNvPr id="50" name="fn-4-title"/>
          <p:cNvSpPr txBox="1"/>
          <p:nvPr/>
        </p:nvSpPr>
        <p:spPr>
          <a:xfrm>
            <a:off x="5375623" y="4443984"/>
            <a:ext cx="61028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2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Auditing &amp; Reconciliation</a:t>
            </a:r>
            <a:endParaRPr lang="en-US" sz="1300" dirty="0"/>
          </a:p>
        </p:txBody>
      </p:sp>
      <p:sp>
        <p:nvSpPr>
          <p:cNvPr id="51" name="fn-4-desc"/>
          <p:cNvSpPr txBox="1"/>
          <p:nvPr/>
        </p:nvSpPr>
        <p:spPr>
          <a:xfrm>
            <a:off x="5375623" y="4718304"/>
            <a:ext cx="61028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Monitor unresolved cases, flag missing or inconsistent information, and track case status and reimbursement.</a:t>
            </a:r>
            <a:endParaRPr lang="en-US" sz="950" dirty="0"/>
          </a:p>
        </p:txBody>
      </p:sp>
      <p:sp>
        <p:nvSpPr>
          <p:cNvPr id="52" name="fn-5-card"/>
          <p:cNvSpPr/>
          <p:nvPr/>
        </p:nvSpPr>
        <p:spPr>
          <a:xfrm>
            <a:off x="4717255" y="5175504"/>
            <a:ext cx="6925801" cy="749808"/>
          </a:xfrm>
          <a:prstGeom prst="roundRect">
            <a:avLst>
              <a:gd name="adj" fmla="val 6098"/>
            </a:avLst>
          </a:prstGeom>
          <a:solidFill>
            <a:srgbClr val="174579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53" name="fn-5-badge"/>
          <p:cNvSpPr/>
          <p:nvPr/>
        </p:nvSpPr>
        <p:spPr>
          <a:xfrm>
            <a:off x="4900135" y="5394960"/>
            <a:ext cx="310896" cy="310896"/>
          </a:xfrm>
          <a:prstGeom prst="ellipse">
            <a:avLst/>
          </a:prstGeom>
          <a:solidFill>
            <a:srgbClr val="2C5687"/>
          </a:solidFill>
          <a:ln w="12700">
            <a:solidFill>
              <a:srgbClr val="2C5687"/>
            </a:solidFill>
            <a:prstDash val="solid"/>
          </a:ln>
        </p:spPr>
      </p:sp>
      <p:sp>
        <p:nvSpPr>
          <p:cNvPr id="54" name="fn-5-badgenum"/>
          <p:cNvSpPr txBox="1"/>
          <p:nvPr/>
        </p:nvSpPr>
        <p:spPr>
          <a:xfrm>
            <a:off x="4900135" y="53949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850" dirty="0"/>
          </a:p>
        </p:txBody>
      </p:sp>
      <p:sp>
        <p:nvSpPr>
          <p:cNvPr id="55" name="fn-5-title"/>
          <p:cNvSpPr txBox="1"/>
          <p:nvPr/>
        </p:nvSpPr>
        <p:spPr>
          <a:xfrm>
            <a:off x="5375623" y="5285232"/>
            <a:ext cx="61028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2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Lien Administration &amp; Recovery</a:t>
            </a:r>
            <a:endParaRPr lang="en-US" sz="1300" dirty="0"/>
          </a:p>
        </p:txBody>
      </p:sp>
      <p:sp>
        <p:nvSpPr>
          <p:cNvPr id="56" name="fn-5-desc"/>
          <p:cNvSpPr txBox="1"/>
          <p:nvPr/>
        </p:nvSpPr>
        <p:spPr>
          <a:xfrm>
            <a:off x="5375623" y="5559552"/>
            <a:ext cx="61028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 approved lien documentation, follow-up, and reimbursement tracking within the legal and contractual framework.</a:t>
            </a:r>
            <a:endParaRPr lang="en-US" sz="950" dirty="0"/>
          </a:p>
        </p:txBody>
      </p:sp>
      <p:sp>
        <p:nvSpPr>
          <p:cNvPr id="57" name="Text 55"/>
          <p:cNvSpPr txBox="1"/>
          <p:nvPr/>
        </p:nvSpPr>
        <p:spPr>
          <a:xfrm>
            <a:off x="4717255" y="6035040"/>
            <a:ext cx="69258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LaborForce works alongside your billing and collections teams.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08</a:t>
            </a:r>
            <a:endParaRPr lang="en-US" sz="8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150"/>
                            </p:stCondLst>
                            <p:childTnLst>
                              <p:par>
                                <p:cTn id="73" presetID="10" presetClass="entr" presetSubtype="0" fill="hold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1800"/>
                            </p:stCondLst>
                            <p:childTnLst>
                              <p:par>
                                <p:cTn id="107" presetID="10" presetClass="entr" presetSubtype="0" fill="hold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>
                            <p:stCondLst>
                              <p:cond delay="2450"/>
                            </p:stCondLst>
                            <p:childTnLst>
                              <p:par>
                                <p:cTn id="141" presetID="10" presetClass="entr" presetSubtype="0" fill="hold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3" grpId="0" animBg="1"/>
      <p:bldP spid="19" grpId="0" animBg="1"/>
      <p:bldP spid="25" grpId="0" animBg="1"/>
      <p:bldP spid="31" grpId="0" animBg="1"/>
      <p:bldP spid="34" grpId="0" animBg="1"/>
      <p:bldP spid="35" grpId="0" animBg="1"/>
      <p:bldP spid="36" grpId="0" animBg="1"/>
      <p:bldP spid="39" grpId="0" animBg="1"/>
      <p:bldP spid="40" grpId="0" animBg="1"/>
      <p:bldP spid="41" grpId="0" animBg="1"/>
      <p:bldP spid="44" grpId="0" animBg="1"/>
      <p:bldP spid="45" grpId="0" animBg="1"/>
      <p:bldP spid="46" grpId="0" animBg="1"/>
      <p:bldP spid="49" grpId="0" animBg="1"/>
      <p:bldP spid="50" grpId="0" animBg="1"/>
      <p:bldP spid="51" grpId="0" animBg="1"/>
      <p:bldP spid="54" grpId="0" animBg="1"/>
      <p:bldP spid="55" grpId="0" animBg="1"/>
      <p:bldP spid="5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520440" y="185623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313432"/>
            <a:ext cx="2808514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84002" y="2267712"/>
            <a:ext cx="146304" cy="14630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25,000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2651760" y="244144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3520440" y="277063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3227832"/>
            <a:ext cx="196596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441448" y="3182112"/>
            <a:ext cx="146304" cy="14630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35584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2651760" y="335584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10%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520440" y="368503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4142232"/>
            <a:ext cx="305816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33648" y="4096512"/>
            <a:ext cx="146304" cy="14630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427024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$500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2651760" y="427024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3520440" y="459943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48640" y="5056632"/>
            <a:ext cx="22936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769108" y="5010912"/>
            <a:ext cx="146304" cy="14630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48640" y="518464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2651760" y="518464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42" name="Text 40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endParaRPr lang="en-US" sz="4600" dirty="0"/>
          </a:p>
        </p:txBody>
      </p:sp>
      <p:sp>
        <p:nvSpPr>
          <p:cNvPr id="43" name="Text 41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$3M a month · ≈ $99K a day · $108M over three years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46" name="Text 44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9,000</a:t>
            </a:r>
            <a:endParaRPr lang="en-US" sz="2200" dirty="0"/>
          </a:p>
        </p:txBody>
      </p:sp>
      <p:sp>
        <p:nvSpPr>
          <p:cNvPr id="47" name="Shape 45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49" name="Text 47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$90M</a:t>
            </a:r>
            <a:endParaRPr lang="en-US" sz="2200" dirty="0"/>
          </a:p>
        </p:txBody>
      </p:sp>
      <p:sp>
        <p:nvSpPr>
          <p:cNvPr id="50" name="Text 48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51" name="Text 49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5212080" y="356616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365082" y="356616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518084" y="356616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671086" y="356616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824088" y="356616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977090" y="356616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130092" y="356616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283094" y="356616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436096" y="356616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589098" y="356616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742100" y="356616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895102" y="356616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048104" y="356616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201106" y="356616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354108" y="356616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507110" y="356616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660112" y="356616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813114" y="356616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966116" y="356616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119118" y="356616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373989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365082" y="373989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518084" y="373989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5671086" y="373989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5824088" y="373989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5977090" y="373989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130092" y="373989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283094" y="373989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436096" y="373989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589098" y="373989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6742100" y="373989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6895102" y="373989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048104" y="373989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7201106" y="373989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7354108" y="373989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7507110" y="373989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7660112" y="373989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7813114" y="373989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7966116" y="373989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8119118" y="373989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212080" y="3913632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5365082" y="3913632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5518084" y="3913632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5671086" y="3913632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5824088" y="3913632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5977090" y="3913632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130092" y="3913632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283094" y="3913632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436096" y="3913632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6589098" y="3913632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6742100" y="3913632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6895102" y="3913632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048104" y="3913632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201106" y="3913632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354108" y="3913632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507110" y="3913632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660112" y="3913632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7813114" y="3913632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7966116" y="3913632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119118" y="3913632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212080" y="4087368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365082" y="4087368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18084" y="4087368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671086" y="4087368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4087368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77090" y="4087368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30092" y="4087368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283094" y="4087368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4087368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89098" y="4087368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742100" y="4087368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95102" y="4087368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4087368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201106" y="4087368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354108" y="4087368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507110" y="4087368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660112" y="4087368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813114" y="4087368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966116" y="4087368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8119118" y="4087368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5212080" y="4261104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5365082" y="4261104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518084" y="4261104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671086" y="4261104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824088" y="4261104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977090" y="4261104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6130092" y="4261104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6283094" y="4261104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6436096" y="4261104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589098" y="4261104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742100" y="4261104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895102" y="4261104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7048104" y="4261104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7201106" y="4261104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7354108" y="4261104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7507110" y="4261104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7660112" y="4261104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813114" y="4261104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966116" y="4261104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8119118" y="4261104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5212080" y="443484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5365082" y="443484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5518084" y="443484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5671086" y="443484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5824088" y="443484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5977090" y="443484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6130092" y="443484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6283094" y="443484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6436096" y="443484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6589098" y="443484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6742100" y="443484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6895102" y="443484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7048104" y="443484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7201106" y="443484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7354108" y="443484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7507110" y="443484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7660112" y="443484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7813114" y="443484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7966116" y="443484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8119118" y="4434840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5212080" y="460857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5365082" y="460857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5518084" y="460857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5671086" y="460857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5824088" y="460857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5977090" y="460857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6130092" y="460857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6283094" y="460857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6436096" y="460857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6589098" y="460857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6742100" y="460857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6895102" y="460857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7048104" y="460857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7201106" y="460857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7354108" y="460857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7507110" y="460857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7660112" y="460857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7813114" y="460857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7966116" y="460857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8119118" y="4608576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212080" y="4782312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5365082" y="4782312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5518084" y="4782312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5671086" y="4782312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5824088" y="4782312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5977090" y="4782312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130092" y="4782312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283094" y="4782312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436096" y="4782312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6589098" y="4782312"/>
            <a:ext cx="125570" cy="137160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3" name="Text 201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04" name="Shape 202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Text 203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06" name="Text 204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07" name="Text 205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08" name="Text 206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09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10" name="Shape 207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11" name="Text 208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12" name="Text 209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13" name="Text 210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14" name="Shape 211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15" name="Text 212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16" name="Text 213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17" name="Text 214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18" name="Shape 215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19" name="Text 216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20" name="Text 217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21" name="Text 218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22" name="Shape 219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23" name="Text 220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24" name="Text 221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$36,000,000</a:t>
            </a:r>
            <a:endParaRPr lang="en-US" sz="1500" dirty="0"/>
          </a:p>
        </p:txBody>
      </p:sp>
      <p:sp>
        <p:nvSpPr>
          <p:cNvPr id="225" name="Text 222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PARTNERSHIP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30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90-day pilot.</a:t>
            </a:r>
            <a:endParaRPr lang="en-US" sz="3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3000" kern="0" spc="-100" dirty="0">
                <a:solidFill>
                  <a:srgbClr val="6A7F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John H. Stroger, Jr. Hospital.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15258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57784" y="1975104"/>
            <a:ext cx="3496970" cy="365760"/>
          </a:xfrm>
          <a:prstGeom prst="rect">
            <a:avLst/>
          </a:prstGeom>
          <a:solidFill>
            <a:srgbClr val="DBE8F7"/>
          </a:solidFill>
          <a:ln w="12700">
            <a:solidFill>
              <a:srgbClr val="DBE8F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965960"/>
            <a:ext cx="17576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01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2306269" y="1965960"/>
            <a:ext cx="15290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DAYS 1 – 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2532888"/>
            <a:ext cx="2052218" cy="73152"/>
          </a:xfrm>
          <a:prstGeom prst="roundRect">
            <a:avLst>
              <a:gd name="adj" fmla="val 375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532888"/>
            <a:ext cx="342036" cy="73152"/>
          </a:xfrm>
          <a:prstGeom prst="roundRect">
            <a:avLst>
              <a:gd name="adj" fmla="val 37500"/>
            </a:avLst>
          </a:prstGeom>
          <a:solidFill>
            <a:srgbClr val="5B8FD6"/>
          </a:solidFill>
          <a:ln w="12700">
            <a:solidFill>
              <a:srgbClr val="5B8F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39186" y="24597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of 90 days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743200"/>
            <a:ext cx="30580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Discovery &amp; Baseline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108960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 current injury-related registration, payer identification, billing, and follow-up. Agree on pilot scope, eligibility criteria, compliance requirements, and baseline measures.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338218" y="1965960"/>
            <a:ext cx="3515258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47362" y="1975104"/>
            <a:ext cx="3496970" cy="365760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66818" y="1965960"/>
            <a:ext cx="17576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02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6095848" y="1965960"/>
            <a:ext cx="15290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DAYS 16 – 60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66818" y="2532888"/>
            <a:ext cx="2052218" cy="73152"/>
          </a:xfrm>
          <a:prstGeom prst="roundRect">
            <a:avLst>
              <a:gd name="adj" fmla="val 375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66818" y="2532888"/>
            <a:ext cx="1026109" cy="73152"/>
          </a:xfrm>
          <a:prstGeom prst="roundRect">
            <a:avLst>
              <a:gd name="adj" fmla="val 375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728765" y="24597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 of 90 days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4566818" y="2743200"/>
            <a:ext cx="30580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Identification &amp; Investigation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4566818" y="3108960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Evaluate designated encounters, conduct authorized patient outreach, identify alternative payer sources, and coordinate verified findings with existing hospital teams.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127797" y="1965960"/>
            <a:ext cx="3515258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36941" y="1975104"/>
            <a:ext cx="3496970" cy="365760"/>
          </a:xfrm>
          <a:prstGeom prst="rect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56397" y="1965960"/>
            <a:ext cx="17576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03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9885426" y="1965960"/>
            <a:ext cx="15290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DAYS 61 – 90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356397" y="2532888"/>
            <a:ext cx="2052218" cy="73152"/>
          </a:xfrm>
          <a:prstGeom prst="roundRect">
            <a:avLst>
              <a:gd name="adj" fmla="val 375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56397" y="2532888"/>
            <a:ext cx="684073" cy="73152"/>
          </a:xfrm>
          <a:prstGeom prst="roundRect">
            <a:avLst>
              <a:gd name="adj" fmla="val 37500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518343" y="24597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 of 90 days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8356397" y="2743200"/>
            <a:ext cx="30580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Validation &amp; Review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356397" y="3108960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Reconcile outcomes, review billing corrections and collections, assess operational impact, and recommend continued monitoring and potential expansion.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48640" y="4480560"/>
            <a:ext cx="3515258" cy="1719072"/>
          </a:xfrm>
          <a:prstGeom prst="roundRect">
            <a:avLst>
              <a:gd name="adj" fmla="val 2128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8640" y="4480560"/>
            <a:ext cx="3515258" cy="45720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4709160"/>
            <a:ext cx="30580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TO READ THE PILOT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777240" y="4983480"/>
            <a:ext cx="305805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Many claims take longer than 90 days to resolve. The pilot measures </a:t>
            </a:r>
            <a:r>
              <a:rPr lang="en-US" sz="10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leading indicators</a:t>
            </a: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and any collections realized; final financial performance is reviewed as the identified account cohort matures.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338218" y="4480560"/>
            <a:ext cx="3515258" cy="1719072"/>
          </a:xfrm>
          <a:prstGeom prst="roundRect">
            <a:avLst>
              <a:gd name="adj" fmla="val 2128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338218" y="4480560"/>
            <a:ext cx="3515258" cy="45720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66818" y="4709160"/>
            <a:ext cx="30580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COOK COUNTY HEALTH PROVIDES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4566818" y="4983480"/>
            <a:ext cx="305805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sponsor and agreed pilot scope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 volume, payer mix, and current TPL/WC workflow data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Compliance requirements and data-access terms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127797" y="4480560"/>
            <a:ext cx="3515258" cy="1719072"/>
          </a:xfrm>
          <a:prstGeom prst="roundRect">
            <a:avLst>
              <a:gd name="adj" fmla="val 2128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127797" y="4480560"/>
            <a:ext cx="3515258" cy="45720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356397" y="4709160"/>
            <a:ext cx="30580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LABORFORCE PROVIDES</a:t>
            </a:r>
            <a:endParaRPr lang="en-US" sz="800" dirty="0"/>
          </a:p>
        </p:txBody>
      </p:sp>
      <p:sp>
        <p:nvSpPr>
          <p:cNvPr id="42" name="Text 40"/>
          <p:cNvSpPr txBox="1"/>
          <p:nvPr/>
        </p:nvSpPr>
        <p:spPr>
          <a:xfrm>
            <a:off x="8356397" y="4983480"/>
            <a:ext cx="305805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Screening, specialist review, and case investigation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patient outreach and lien administration support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Joint reporting at days 30, 60, and 90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 / 08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SUCCESS METRICS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30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Transparent. Measurable.</a:t>
            </a:r>
            <a:endParaRPr lang="en-US" sz="3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3000" kern="0" spc="-100" dirty="0">
                <a:solidFill>
                  <a:srgbClr val="6A7F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Jointly reviewed.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602154" cy="2240280"/>
          </a:xfrm>
          <a:prstGeom prst="roundRect">
            <a:avLst>
              <a:gd name="adj" fmla="val 16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2011680"/>
            <a:ext cx="2602154" cy="54864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13432"/>
            <a:ext cx="128016" cy="128016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5840" y="2212848"/>
            <a:ext cx="19620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Leading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578608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Early signals that cases are being found and verified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017520"/>
            <a:ext cx="214495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Encounters screened and flagged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Number and % with verified additional responsible-party coverage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Accounts accepted for billing correction or recovery action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79394" y="2011680"/>
            <a:ext cx="2602154" cy="2240280"/>
          </a:xfrm>
          <a:prstGeom prst="roundRect">
            <a:avLst>
              <a:gd name="adj" fmla="val 16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79394" y="2011680"/>
            <a:ext cx="2602154" cy="54864"/>
          </a:xfrm>
          <a:prstGeom prst="rect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07994" y="2313432"/>
            <a:ext cx="128016" cy="128016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836594" y="2212848"/>
            <a:ext cx="19620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607994" y="2578608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program returns, net of adjustments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3607994" y="3017520"/>
            <a:ext cx="214495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collections attributable to the program, net of reversals and adjustments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Incremental net revenue after program costs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10148" y="2011680"/>
            <a:ext cx="2602154" cy="2240280"/>
          </a:xfrm>
          <a:prstGeom prst="roundRect">
            <a:avLst>
              <a:gd name="adj" fmla="val 16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0148" y="2011680"/>
            <a:ext cx="2602154" cy="54864"/>
          </a:xfrm>
          <a:prstGeom prst="rect">
            <a:avLst/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38748" y="2313432"/>
            <a:ext cx="128016" cy="128016"/>
          </a:xfrm>
          <a:prstGeom prst="ellipse">
            <a:avLst/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67348" y="2212848"/>
            <a:ext cx="19620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Operational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438748" y="2578608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Effect on hospital teams and account flow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438748" y="3017520"/>
            <a:ext cx="214495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workload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Turnaround time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Unresolved account aging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040901" y="2011680"/>
            <a:ext cx="2602154" cy="2240280"/>
          </a:xfrm>
          <a:prstGeom prst="roundRect">
            <a:avLst>
              <a:gd name="adj" fmla="val 16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040901" y="2011680"/>
            <a:ext cx="2602154" cy="54864"/>
          </a:xfrm>
          <a:prstGeom prst="rect">
            <a:avLst/>
          </a:prstGeom>
          <a:solidFill>
            <a:srgbClr val="7A95AD"/>
          </a:solidFill>
          <a:ln w="12700">
            <a:solidFill>
              <a:srgbClr val="7A95A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269501" y="2313432"/>
            <a:ext cx="128016" cy="128016"/>
          </a:xfrm>
          <a:prstGeom prst="ellipse">
            <a:avLst/>
          </a:prstGeom>
          <a:solidFill>
            <a:srgbClr val="7A95AD"/>
          </a:solidFill>
          <a:ln w="12700">
            <a:solidFill>
              <a:srgbClr val="7A95A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498101" y="2212848"/>
            <a:ext cx="19620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Quality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269501" y="2578608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Safeguards that stay in place throughout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9269501" y="3017520"/>
            <a:ext cx="214495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Compliance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Patient experience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Documentation quality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4526280"/>
            <a:ext cx="11094415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470916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JOINT REVIEW CADENCE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40080" y="5184648"/>
            <a:ext cx="10911535" cy="0"/>
          </a:xfrm>
          <a:prstGeom prst="line">
            <a:avLst/>
          </a:prstGeom>
          <a:noFill/>
          <a:ln w="19050">
            <a:solidFill>
              <a:srgbClr val="D4DC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48640" y="5093208"/>
            <a:ext cx="182880" cy="182880"/>
          </a:xfrm>
          <a:prstGeom prst="ellipse">
            <a:avLst/>
          </a:prstGeom>
          <a:solidFill>
            <a:srgbClr val="0A8FA6"/>
          </a:solidFill>
          <a:ln w="254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48640" y="5413248"/>
            <a:ext cx="24992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641848"/>
            <a:ext cx="240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Scope, eligibility criteria, and baseline agreed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322244" y="5093208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322244" y="5413248"/>
            <a:ext cx="24992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30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3322244" y="5641848"/>
            <a:ext cx="240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Baseline confirmed; screening volumes and first flagged cohort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095848" y="5093208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095848" y="5413248"/>
            <a:ext cx="24992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60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6095848" y="5641848"/>
            <a:ext cx="240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Verification rate, accounts accepted for correction, staff workload impact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8869451" y="5093208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A8FA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869451" y="5413248"/>
            <a:ext cx="24992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90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8869451" y="5641848"/>
            <a:ext cx="240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Collections to date, cohort maturity, and a joint decision on continuation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 / 08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r>
              <a:rPr lang="en-US" sz="900" dirty="0">
                <a:solidFill>
                  <a:srgbClr val="375F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ASK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ask: a 90-day pilot at </a:t>
            </a:r>
            <a:r>
              <a:rPr lang="en-US" sz="3000" kern="0" spc="-10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John H. Stroger, Jr. Hospital.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Strengthen Cook County Health's fiscal resilience while supporting accessible, high-quality care for the community — through a focused, transparent, and measurable pilot, reviewed jointly at days 30, 60, and 90.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606040"/>
            <a:ext cx="3515258" cy="1737360"/>
          </a:xfrm>
          <a:prstGeom prst="roundRect">
            <a:avLst>
              <a:gd name="adj" fmla="val 2632"/>
            </a:avLst>
          </a:prstGeom>
          <a:solidFill>
            <a:srgbClr val="1B487E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880360"/>
            <a:ext cx="292608" cy="29260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300984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-3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sponsor &amp; scope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648456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sponsor and pilot scope at Stroger Hospital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38218" y="2606040"/>
            <a:ext cx="3515258" cy="1737360"/>
          </a:xfrm>
          <a:prstGeom prst="roundRect">
            <a:avLst>
              <a:gd name="adj" fmla="val 2632"/>
            </a:avLst>
          </a:prstGeom>
          <a:solidFill>
            <a:srgbClr val="1B487E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12538" y="2880360"/>
            <a:ext cx="292608" cy="29260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12538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4612538" y="3300984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-3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baseline data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612538" y="3648456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 volume, payer mix, and the current TPL/WC workflow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127797" y="2606040"/>
            <a:ext cx="3515258" cy="1737360"/>
          </a:xfrm>
          <a:prstGeom prst="roundRect">
            <a:avLst>
              <a:gd name="adj" fmla="val 2632"/>
            </a:avLst>
          </a:prstGeom>
          <a:solidFill>
            <a:srgbClr val="1B487E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02117" y="2880360"/>
            <a:ext cx="292608" cy="29260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02117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8402117" y="3300984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-3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Agree &amp; launch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402117" y="3648456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Compliance requirements and success metrics; launch Phase 1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5779008"/>
            <a:ext cx="777240" cy="493776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1" name="Image 0" descr="E:/Claude/laborforce-deck/brand/logo_full_lar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383" y="5847588"/>
            <a:ext cx="541755" cy="356616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7619695" y="573328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619695" y="600760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50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look forward to discussing the pilot with your leadership team.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 / 08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borForce">
  <a:themeElements>
    <a:clrScheme name="LaborForce">
      <a:dk1>
        <a:srgbClr val="15283D"/>
      </a:dk1>
      <a:lt1>
        <a:srgbClr val="FFFFFF"/>
      </a:lt1>
      <a:dk2>
        <a:srgbClr val="0C3C75"/>
      </a:dk2>
      <a:lt2>
        <a:srgbClr val="F4F6F9"/>
      </a:lt2>
      <a:accent1>
        <a:srgbClr val="0A8FA6"/>
      </a:accent1>
      <a:accent2>
        <a:srgbClr val="E0F1F6"/>
      </a:accent2>
      <a:accent3>
        <a:srgbClr val="7FD3E3"/>
      </a:accent3>
      <a:accent4>
        <a:srgbClr val="4A5B6E"/>
      </a:accent4>
      <a:accent5>
        <a:srgbClr val="6E7E90"/>
      </a:accent5>
      <a:accent6>
        <a:srgbClr val="D4DCE6"/>
      </a:accent6>
      <a:hlink>
        <a:srgbClr val="0A8FA6"/>
      </a:hlink>
      <a:folHlink>
        <a:srgbClr val="4A5B6E"/>
      </a:folHlink>
    </a:clrScheme>
    <a:fontScheme name="LaborForce">
      <a:majorFont>
        <a:latin typeface="Sego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1306</Words>
  <Application>Microsoft Office PowerPoint</Application>
  <PresentationFormat>Widescreen</PresentationFormat>
  <Paragraphs>218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Segoe UI</vt:lpstr>
      <vt:lpstr>LaborForce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LaborForce Medical Management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LaborForce Medical Management — Cook County Health Executive Briefing</dc:title>
  <dc:subject>90-day TPL/Workers' Comp revenue-recovery pilot</dc:subject>
  <dc:creator>LaborForce Medical Management</dc:creator>
  <cp:lastModifiedBy>a83192</cp:lastModifiedBy>
  <cp:revision>2</cp:revision>
  <dcterms:created xsi:type="dcterms:W3CDTF">2026-10-27T01:05:42Z</dcterms:created>
  <dcterms:modified xsi:type="dcterms:W3CDTF">2026-10-27T01:05:50Z</dcterms:modified>
</cp:coreProperties>
</file>