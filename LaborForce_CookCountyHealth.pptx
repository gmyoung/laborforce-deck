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solidFill>
              <a:srgbClr val="0A8FA6"/>
            </a:solidFill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4A5B6E"/>
                    </a:solidFill>
                    <a:latin typeface="Segoe U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2%</c:v>
                  </c:pt>
                  <c:pt idx="1">
                    <c:v>3%</c:v>
                  </c:pt>
                  <c:pt idx="2">
                    <c:v>4%</c:v>
                  </c:pt>
                  <c:pt idx="3">
                    <c:v>5%</c:v>
                  </c:pt>
                  <c:pt idx="4">
                    <c:v>6%</c:v>
                  </c:pt>
                  <c:pt idx="5">
                    <c:v>7%</c:v>
                  </c:pt>
                  <c:pt idx="6">
                    <c:v>8%</c:v>
                  </c:pt>
                  <c:pt idx="7">
                    <c:v>9%</c:v>
                  </c:pt>
                  <c:pt idx="8">
                    <c:v>10%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</c:ser>
        <c:dLbls>
          <c:numFmt formatCode="&quot;$&quot;0&quot;M&quot;" sourceLinked="0"/>
          <c:txPr>
            <a:bodyPr/>
            <a:lstStyle/>
            <a:p>
              <a:pPr>
                <a:defRPr b="0" i="0" strike="noStrike" sz="750" u="none">
                  <a:solidFill>
                    <a:srgbClr val="4A5B6E"/>
                  </a:solidFill>
                  <a:latin typeface="Segoe U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Program results are program-reported figures from Chicago-area partner hospitals, March–July 2026; not independently attributed.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version of the interactive planning model at its starting scenario: 150,000 ED encounters × 6% additional coverage × $4,000 net per encounter = $36M per year; 9,000 identified encounters; $90M associated gross charges at a $10,000 average ED charge. Each figure in the grid = 1,000 ED encounters. Illustrative planning model,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 We Optimize Revenue.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6675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spc="-1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revenue.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spc="-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Strengthening hospital performance.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strategic revenue identification and recovery partnership — extending Cook County Health's revenue cycle, not replacing 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6675120" cy="0"/>
          </a:xfrm>
          <a:prstGeom prst="line">
            <a:avLst/>
          </a:prstGeom>
          <a:noFill/>
          <a:ln w="19050">
            <a:solidFill>
              <a:srgbClr val="0C3C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0474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8523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Leadership — CEO · CFO · COO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50474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BY</a:t>
            </a:r>
            <a:endParaRPr lang="en-US" sz="800" dirty="0"/>
          </a:p>
        </p:txBody>
      </p:sp>
      <p:pic>
        <p:nvPicPr>
          <p:cNvPr id="9" name="Image 0" descr="E:/Claude/laborforce-deck/brand/logo_full_l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5266944"/>
            <a:ext cx="896112" cy="58978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50474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BRIEFING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52852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proposal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October 2026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10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7726680" y="0"/>
            <a:ext cx="4465015" cy="685800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26680" y="0"/>
            <a:ext cx="54864" cy="685800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54864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183880" y="91440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80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151790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 at Chicago-area partner hospitals, March – July 2026 ($33K → $144K)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83880" y="199339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83880" y="210312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800" dirty="0"/>
          </a:p>
        </p:txBody>
      </p:sp>
      <p:sp>
        <p:nvSpPr>
          <p:cNvPr id="22" name="Text 19"/>
          <p:cNvSpPr txBox="1"/>
          <p:nvPr/>
        </p:nvSpPr>
        <p:spPr>
          <a:xfrm>
            <a:off x="8183880" y="270662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accuracy, up from under 30%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183880" y="318211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83880" y="329184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</a:t>
            </a:r>
            <a:endParaRPr lang="en-US" sz="3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389534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screened July encounters verified (141 of 178)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092440" y="4754880"/>
            <a:ext cx="3779215" cy="914400"/>
          </a:xfrm>
          <a:prstGeom prst="roundRect">
            <a:avLst>
              <a:gd name="adj" fmla="val 4000"/>
            </a:avLst>
          </a:prstGeom>
          <a:solidFill>
            <a:srgbClr val="1D4A7F"/>
          </a:solidFill>
          <a:ln w="12700">
            <a:solidFill>
              <a:srgbClr val="1D4A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75320" y="493776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8275320" y="5175504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90-day pilot at John H. Stroger, Jr. Hospital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183880" y="6080760"/>
            <a:ext cx="3596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 figures; not independently attributed.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Extending your revenue cycle</a:t>
            </a:r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not replacing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 face reimbursement challenges, rising operational costs, complex payer requirements, and growing uncompensated care obligations.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OPPORTUNITY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ED, trauma and other encounters, Workers' Compensation, Third-Party Liability, auto and other responsible-party coverage can go unidentified or unpursued by traditional workflows.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008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SUPPORT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LaborForce adds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payer identification, patient engagement, revenue auditing, payer verification, and lien administration support.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5191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OUTCOME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075191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75191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additional reimbursement, improve revenue realization, and reduce avoidable administrative work — without replacing current systems or teams.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screening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encounters are flagged from existing registration and billing data.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710864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review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710864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determine the likely responsible payer and what information is missing.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233008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048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patient contact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53048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staff confirm the facts and close gaps, respecting each patient's choices.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75191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395231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Follow-through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95231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corrections, lien support, and payer follow-up until the account resolves.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may overlook.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4752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5920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5920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79112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84752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5920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5920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779112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84752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5920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592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779112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76895" y="2103120"/>
            <a:ext cx="3566160" cy="2907792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8063" y="23042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278063" y="2615184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5223" y="2697480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5223" y="2916936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859975" y="3233928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8063" y="3425952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5223" y="350824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415223" y="3727704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859975" y="4044696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78063" y="4236720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5223" y="4319016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415223" y="4538472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94415" cy="658368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45720" cy="658368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2960" y="57698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560320" y="5532120"/>
            <a:ext cx="8808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pPr indent="0" marL="0">
              <a:buNone/>
            </a:pP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731520"/>
          </a:xfrm>
          <a:prstGeom prst="roundRect">
            <a:avLst>
              <a:gd name="adj" fmla="val 5000"/>
            </a:avLst>
          </a:prstGeom>
          <a:solidFill>
            <a:srgbClr val="1F4C80"/>
          </a:solidFill>
          <a:ln w="9525">
            <a:solidFill>
              <a:srgbClr val="2F5A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568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39696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payer identified · lien documented · reimbursement recovered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106372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findings flow back into the hospital's own billing and collections.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 flipV="1">
            <a:off x="5821528" y="2596896"/>
            <a:ext cx="548640" cy="182880"/>
          </a:xfrm>
          <a:prstGeom prst="triangl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16352"/>
            <a:ext cx="11094415" cy="2331720"/>
          </a:xfrm>
          <a:prstGeom prst="roundRect">
            <a:avLst>
              <a:gd name="adj" fmla="val 1569"/>
            </a:avLst>
          </a:prstGeom>
          <a:solidFill>
            <a:srgbClr val="0677AE"/>
          </a:solidFill>
          <a:ln w="12700">
            <a:solidFill>
              <a:srgbClr val="0677A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9535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LAYER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923544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32115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78419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078419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078419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86990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33294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233294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233294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41865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88169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388169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388169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396740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43044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9543044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543044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 flipV="1">
            <a:off x="5821528" y="5184648"/>
            <a:ext cx="548640" cy="182880"/>
          </a:xfrm>
          <a:prstGeom prst="triangl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404104"/>
            <a:ext cx="11094415" cy="795528"/>
          </a:xfrm>
          <a:prstGeom prst="roundRect">
            <a:avLst>
              <a:gd name="adj" fmla="val 4598"/>
            </a:avLst>
          </a:prstGeom>
          <a:solidFill>
            <a:srgbClr val="061F45"/>
          </a:solidFill>
          <a:ln w="9525">
            <a:solidFill>
              <a:srgbClr val="2A4A7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5229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HOSPITAL REVENUE CYCLE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705856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Registration · Billing · Collections · Revenue cycle teams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92531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BF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Unchanged. LaborForce works alongside these teams — uncovering and advancing opportunities they may not have the specialized resources to fully investigate.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WITH HEALTHCARE PARTNERS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 operating experience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Chicago-area hospitals.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5" name="Image 0" descr="E:/Claude/laborforce-deck/brand/nm_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0120" y="2523744"/>
            <a:ext cx="3508092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NORTHWESTERN MEDICINE · CURRENT PROGRAM PARTNER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233008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8" name="Image 1" descr="E:/Claude/laborforce-deck/brand/hph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2395728"/>
            <a:ext cx="3150048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44488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HUMBOLDT PARK HEALTH · CURRENT PROGRAM PARTNER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548640" y="4160520"/>
            <a:ext cx="11094415" cy="2011680"/>
          </a:xfrm>
          <a:prstGeom prst="roundRect">
            <a:avLst>
              <a:gd name="adj" fmla="val 227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 RESULTS · MARCH – JULY 2026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751015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Program-reported; not independently attributed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8680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$33K → $144K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317672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482264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3482264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under 30%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931256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95848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141 / 178</a:t>
            </a:r>
            <a:endParaRPr lang="en-US" sz="3200" dirty="0"/>
          </a:p>
        </p:txBody>
      </p:sp>
      <p:sp>
        <p:nvSpPr>
          <p:cNvPr id="20" name="Text 16"/>
          <p:cNvSpPr txBox="1"/>
          <p:nvPr/>
        </p:nvSpPr>
        <p:spPr>
          <a:xfrm>
            <a:off x="6095848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July encounters verified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 of those screened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544839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709431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$198,940</a:t>
            </a:r>
            <a:endParaRPr lang="en-US" sz="3200" dirty="0"/>
          </a:p>
        </p:txBody>
      </p:sp>
      <p:sp>
        <p:nvSpPr>
          <p:cNvPr id="23" name="Text 19"/>
          <p:cNvSpPr txBox="1"/>
          <p:nvPr/>
        </p:nvSpPr>
        <p:spPr>
          <a:xfrm>
            <a:off x="8709431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Charges on 32 Workers' Comp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cases identified in July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OPPORTUNITY AT COOK COUNTY HEALTH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focused TPL/WC program for a high-volume safety-net system.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coverage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whether additional responsible-party coverage exists for selected encounters.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8698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68698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claims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identification and documentation of injury-related claims.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88757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8757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 accurately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billing accuracy and reimbursement follow-up.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leakage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avoidable revenue leakage.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68698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68698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Gain visibility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68698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clearer visibility into potentially recoverable accounts.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88757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8757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mission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88757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financial sustainability without compromising access to care.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sizing: 150,000 ED encounters × 6% with additional coverage × $4,000 net per encounter ≈ $36M per year — a planning model, not a forecast.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assumptions into a visible opportunity.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934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5448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ASSUMPTIONS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9019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665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9933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50592"/>
            <a:ext cx="2808514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4002" y="24048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9809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29077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3649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364992"/>
            <a:ext cx="19659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41448" y="33192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7307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895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38221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42793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279392"/>
            <a:ext cx="30581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33648" y="42336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$500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6451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8097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47365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51937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193792"/>
            <a:ext cx="22936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69108" y="51480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595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1554480"/>
            <a:ext cx="0" cy="393192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12080" y="1554480"/>
            <a:ext cx="6430975" cy="1097280"/>
          </a:xfrm>
          <a:prstGeom prst="roundRect">
            <a:avLst>
              <a:gd name="adj" fmla="val 333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68112" y="1755648"/>
            <a:ext cx="20780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5468112" y="1965960"/>
            <a:ext cx="207801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3800" dirty="0"/>
          </a:p>
        </p:txBody>
      </p:sp>
      <p:sp>
        <p:nvSpPr>
          <p:cNvPr id="43" name="Shape 41"/>
          <p:cNvSpPr/>
          <p:nvPr/>
        </p:nvSpPr>
        <p:spPr>
          <a:xfrm>
            <a:off x="7655851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84451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884451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9649453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878053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9878053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5212080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212080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21208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6508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1808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67108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82408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97709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3009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8309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3609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58909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4210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9510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4810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20110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5410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50711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66011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1311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6611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11911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36508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1808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7108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82408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7709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009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28309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43609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8909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74210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89510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04810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20110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35410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0711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66011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81311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96611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11911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21208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36508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1808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7108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82408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97709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13009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28309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43609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58909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74210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89510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04810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20110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35410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50711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66011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1311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6611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1911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6508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1808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67108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7709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3009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28309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8909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74210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9510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20110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35410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50711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66011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81311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6611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11911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521208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36508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51808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67108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82408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97709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613009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28309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43609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8909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4210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89510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04810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20110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35410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750711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66011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81311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96611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811911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21208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36508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51808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67108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82408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97709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13009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28309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43609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58909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74210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89510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04810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20110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35410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50711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66011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81311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6611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11911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21208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36508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51808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67108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82408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97709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13009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28309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43609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58909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74210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89510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04810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720110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735410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750711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66011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81311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96611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811911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21208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36508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51808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67108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82408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97709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13009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28309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43609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58909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521208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2" name="Text 200"/>
          <p:cNvSpPr txBox="1"/>
          <p:nvPr/>
        </p:nvSpPr>
        <p:spPr>
          <a:xfrm>
            <a:off x="5358384" y="51023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740664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Text 202"/>
          <p:cNvSpPr txBox="1"/>
          <p:nvPr/>
        </p:nvSpPr>
        <p:spPr>
          <a:xfrm>
            <a:off x="7552944" y="51023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05" name="Text 203"/>
          <p:cNvSpPr txBox="1"/>
          <p:nvPr/>
        </p:nvSpPr>
        <p:spPr>
          <a:xfrm>
            <a:off x="8610448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06" name="Text 204"/>
          <p:cNvSpPr txBox="1"/>
          <p:nvPr/>
        </p:nvSpPr>
        <p:spPr>
          <a:xfrm>
            <a:off x="8610448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07" name="Text 205"/>
          <p:cNvSpPr txBox="1"/>
          <p:nvPr/>
        </p:nvSpPr>
        <p:spPr>
          <a:xfrm>
            <a:off x="8610448" y="342900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pPr indent="0" marL="0">
              <a:buNone/>
            </a:pP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08" name="Chart 0" descr=""/>
          <p:cNvGraphicFramePr/>
          <p:nvPr/>
        </p:nvGraphicFramePr>
        <p:xfrm>
          <a:off x="8519008" y="3703320"/>
          <a:ext cx="312404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9" name="Shape 206"/>
          <p:cNvSpPr/>
          <p:nvPr/>
        </p:nvSpPr>
        <p:spPr>
          <a:xfrm>
            <a:off x="548640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0" name="Text 207"/>
          <p:cNvSpPr txBox="1"/>
          <p:nvPr/>
        </p:nvSpPr>
        <p:spPr>
          <a:xfrm>
            <a:off x="731520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11" name="Text 208"/>
          <p:cNvSpPr txBox="1"/>
          <p:nvPr/>
        </p:nvSpPr>
        <p:spPr>
          <a:xfrm>
            <a:off x="731520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12" name="Text 209"/>
          <p:cNvSpPr txBox="1"/>
          <p:nvPr/>
        </p:nvSpPr>
        <p:spPr>
          <a:xfrm>
            <a:off x="3047924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3" name="Shape 210"/>
          <p:cNvSpPr/>
          <p:nvPr/>
        </p:nvSpPr>
        <p:spPr>
          <a:xfrm>
            <a:off x="3413684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4" name="Text 211"/>
          <p:cNvSpPr txBox="1"/>
          <p:nvPr/>
        </p:nvSpPr>
        <p:spPr>
          <a:xfrm>
            <a:off x="3596564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15" name="Text 212"/>
          <p:cNvSpPr txBox="1"/>
          <p:nvPr/>
        </p:nvSpPr>
        <p:spPr>
          <a:xfrm>
            <a:off x="3596564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16" name="Text 213"/>
          <p:cNvSpPr txBox="1"/>
          <p:nvPr/>
        </p:nvSpPr>
        <p:spPr>
          <a:xfrm>
            <a:off x="5912968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7" name="Shape 214"/>
          <p:cNvSpPr/>
          <p:nvPr/>
        </p:nvSpPr>
        <p:spPr>
          <a:xfrm>
            <a:off x="6278728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8" name="Text 215"/>
          <p:cNvSpPr txBox="1"/>
          <p:nvPr/>
        </p:nvSpPr>
        <p:spPr>
          <a:xfrm>
            <a:off x="6461608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19" name="Text 216"/>
          <p:cNvSpPr txBox="1"/>
          <p:nvPr/>
        </p:nvSpPr>
        <p:spPr>
          <a:xfrm>
            <a:off x="6461608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20" name="Text 217"/>
          <p:cNvSpPr txBox="1"/>
          <p:nvPr/>
        </p:nvSpPr>
        <p:spPr>
          <a:xfrm>
            <a:off x="8778011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21" name="Shape 218"/>
          <p:cNvSpPr/>
          <p:nvPr/>
        </p:nvSpPr>
        <p:spPr>
          <a:xfrm>
            <a:off x="9143771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22" name="Text 219"/>
          <p:cNvSpPr txBox="1"/>
          <p:nvPr/>
        </p:nvSpPr>
        <p:spPr>
          <a:xfrm>
            <a:off x="9326651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23" name="Text 220"/>
          <p:cNvSpPr txBox="1"/>
          <p:nvPr/>
        </p:nvSpPr>
        <p:spPr>
          <a:xfrm>
            <a:off x="9326651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24" name="Text 2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PARTNERSHIP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90-day pilot.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975104"/>
            <a:ext cx="3496970" cy="365760"/>
          </a:xfrm>
          <a:prstGeom prst="rect">
            <a:avLst/>
          </a:prstGeom>
          <a:solidFill>
            <a:srgbClr val="DBE8F7"/>
          </a:solidFill>
          <a:ln w="12700">
            <a:solidFill>
              <a:srgbClr val="DBE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306269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 –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532888"/>
            <a:ext cx="342036" cy="73152"/>
          </a:xfrm>
          <a:prstGeom prst="roundRect">
            <a:avLst>
              <a:gd name="adj" fmla="val 37500"/>
            </a:avLst>
          </a:prstGeom>
          <a:solidFill>
            <a:srgbClr val="5B8FD6"/>
          </a:solidFill>
          <a:ln w="12700">
            <a:solidFill>
              <a:srgbClr val="5B8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39186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90 days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Baseline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current injury-related registration, payer identification, billing, and follow-up. Agree on pilot scope, eligibility criteria, compliance requirements, and baseline measures.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218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7362" y="1975104"/>
            <a:ext cx="3496970" cy="36576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6818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16 – 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66818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6818" y="2532888"/>
            <a:ext cx="1026109" cy="73152"/>
          </a:xfrm>
          <a:prstGeom prst="roundRect">
            <a:avLst>
              <a:gd name="adj" fmla="val 375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8765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of 90 days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&amp; Investigation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66818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designated encounters, conduct authorized patient outreach, identify alternative payer sources, and coordinate verified findings with existing hospital teams.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7797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6941" y="1975104"/>
            <a:ext cx="3496970" cy="36576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885426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61 – 90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56397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6397" y="2532888"/>
            <a:ext cx="684073" cy="73152"/>
          </a:xfrm>
          <a:prstGeom prst="roundRect">
            <a:avLst>
              <a:gd name="adj" fmla="val 37500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8343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of 90 days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Review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 outcomes, review billing corrections and collections, assess operational impact, and recommend continued monitoring and potential expansion.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READ THE PILOT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claims take longer than 90 days to resolve. The pilot measures </a:t>
            </a:r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indicators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any collections realized; final financial performance is reviewed as the identified account cohort matures.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38218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38218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66818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PROVIDES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566818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agreed pilot scope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current TPL/WC workflow data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data-access terms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127797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27797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56397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PROVIDES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8356397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Screening, specialist review, and case investigation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outreach and lien administration support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reporting at days 30, 60, and 90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SUCCESS METRICS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Transparent. Measurable.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Jointly reviewed.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2154" cy="548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3432"/>
            <a:ext cx="128016" cy="128016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signals that cases are being found and verified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Encounters screened and flagged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and % with verified additional responsible-party coverage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accepted for billing correction or recovery action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9394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9394" y="2011680"/>
            <a:ext cx="2602154" cy="54864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7994" y="2313432"/>
            <a:ext cx="128016" cy="128016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36594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returns, net of adjustments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07994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collections attributable to the program, net of reversals and adjustments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net revenue after program costs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0148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2011680"/>
            <a:ext cx="2602154" cy="54864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2313432"/>
            <a:ext cx="128016" cy="128016"/>
          </a:xfrm>
          <a:prstGeom prst="ellipse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67348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 on hospital teams and account flow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workload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Turnaround time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Unresolved account 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40901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2011680"/>
            <a:ext cx="2602154" cy="54864"/>
          </a:xfrm>
          <a:prstGeom prst="rect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9501" y="2313432"/>
            <a:ext cx="128016" cy="128016"/>
          </a:xfrm>
          <a:prstGeom prst="ellipse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98101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9501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Safeguards that stay in place throughout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269501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experience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quality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REVIEW CADENCE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40080" y="5184648"/>
            <a:ext cx="10911535" cy="0"/>
          </a:xfrm>
          <a:prstGeom prst="line">
            <a:avLst/>
          </a:prstGeom>
          <a:noFill/>
          <a:ln w="19050">
            <a:solidFill>
              <a:srgbClr val="D4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093208"/>
            <a:ext cx="182880" cy="182880"/>
          </a:xfrm>
          <a:prstGeom prst="ellipse">
            <a:avLst/>
          </a:prstGeom>
          <a:solidFill>
            <a:srgbClr val="0A8FA6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Scope, eligibility criteria, and baseline agreed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22244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22244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322244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confirmed; screening volumes and first flagged cohort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5848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95848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095848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rate, accounts accepted for correction, staff workload impact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9451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451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869451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Collections to date, cohort maturity, and a joint decision on continuation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pPr indent="0" marL="0">
              <a:buNone/>
            </a:pP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a 90-day pilot at </a:t>
            </a:r>
            <a:pPr indent="0" marL="0">
              <a:lnSpc>
                <a:spcPct val="105000"/>
              </a:lnSpc>
              <a:buNone/>
            </a:pPr>
            <a:r>
              <a:rPr lang="en-US" sz="3000" spc="-1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Cook County Health's fiscal resilience while supporting accessible, high-quality care for the community — through a focused, transparent, and measurable pilot, reviewed jointly at days 30, 60, and 90.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sponsor &amp; scope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pilot scope at Stroger Hospital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8218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baseline 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the current TPL/WC workflow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7797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&amp; launch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success metrics; launch Phase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20116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E:/Claude/laborforce-deck/brand/logo_full_l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0"/>
            <a:ext cx="1463040" cy="962863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619695" y="5303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9695" y="56052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look forward to discussing the pilot with your leadership team.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LaborForce Medical Management</cp:lastModifiedBy>
  <cp:revision>1</cp:revision>
  <dcterms:created xsi:type="dcterms:W3CDTF">2026-10-26T21:38:43Z</dcterms:created>
  <dcterms:modified xsi:type="dcterms:W3CDTF">2026-10-26T21:38:43Z</dcterms:modified>
</cp:coreProperties>
</file>