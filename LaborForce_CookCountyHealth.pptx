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autoTitleDeleted val="1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Annual net collections ($M)</c:v>
                </c:pt>
              </c:strCache>
            </c:strRef>
          </c:tx>
          <c:spPr>
            <a:ln w="28575" cap="flat">
              <a:solidFill>
                <a:srgbClr val="0A8FA6"/>
              </a:solidFill>
              <a:prstDash val="solid"/>
              <a:round/>
            </a:ln>
            <a:effectLst/>
          </c:spPr>
          <c:marker>
            <c:symbol val="circle"/>
            <c:size val="6"/>
            <c:spPr>
              <a:solidFill>
                <a:srgbClr val="0A8FA6"/>
              </a:solidFill>
              <a:ln w="9525" cap="flat">
                <a:solidFill>
                  <a:srgbClr val="0A8FA6"/>
                </a:solidFill>
                <a:prstDash val="solid"/>
                <a:round/>
              </a:ln>
              <a:effectLst/>
            </c:spPr>
          </c:marker>
          <c:dLbls>
            <c:numFmt formatCode="&quot;$&quot;0&quot;M&quot;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750" b="0" i="0" u="none" strike="noStrike">
                    <a:solidFill>
                      <a:srgbClr val="4A5B6E"/>
                    </a:solidFill>
                    <a:latin typeface="Segoe UI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Sheet1!$A$2:$A$10</c:f>
              <c:strCache>
                <c:ptCount val="9"/>
                <c:pt idx="0">
                  <c:v>2%</c:v>
                </c:pt>
                <c:pt idx="1">
                  <c:v>3%</c:v>
                </c:pt>
                <c:pt idx="2">
                  <c:v>4%</c:v>
                </c:pt>
                <c:pt idx="3">
                  <c:v>5%</c:v>
                </c:pt>
                <c:pt idx="4">
                  <c:v>6%</c:v>
                </c:pt>
                <c:pt idx="5">
                  <c:v>7%</c:v>
                </c:pt>
                <c:pt idx="6">
                  <c:v>8%</c:v>
                </c:pt>
                <c:pt idx="7">
                  <c:v>9%</c:v>
                </c:pt>
                <c:pt idx="8">
                  <c:v>10%</c:v>
                </c:pt>
              </c:strCache>
            </c: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12</c:v>
                </c:pt>
                <c:pt idx="1">
                  <c:v>18</c:v>
                </c:pt>
                <c:pt idx="2">
                  <c:v>24</c:v>
                </c:pt>
                <c:pt idx="3">
                  <c:v>30</c:v>
                </c:pt>
                <c:pt idx="4">
                  <c:v>36</c:v>
                </c:pt>
                <c:pt idx="5">
                  <c:v>42</c:v>
                </c:pt>
                <c:pt idx="6">
                  <c:v>48</c:v>
                </c:pt>
                <c:pt idx="7">
                  <c:v>54</c:v>
                </c:pt>
                <c:pt idx="8">
                  <c:v>60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D605-469F-ACB8-8A13E82ECF5F}"/>
            </c:ext>
          </c:extLst>
        </c:ser>
        <c:dLbls>
          <c:dLblPos val="t"/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2094734554"/>
        <c:axId val="2094734552"/>
      </c:line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pPr>
                  <a:defRPr sz="750" b="0" i="0" u="none" strike="noStrike">
                    <a:solidFill>
                      <a:srgbClr val="6E7E90"/>
                    </a:solidFill>
                    <a:latin typeface="Segoe UI"/>
                  </a:defRPr>
                </a:pPr>
                <a:r>
                  <a:rPr sz="750" b="0" i="0" u="none" strike="noStrike">
                    <a:solidFill>
                      <a:srgbClr val="6E7E90"/>
                    </a:solidFill>
                    <a:latin typeface="Segoe UI"/>
                  </a:rPr>
                  <a:t>Additional coverage identified (%)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70"/>
          <c:min val="0"/>
        </c:scaling>
        <c:delete val="0"/>
        <c:axPos val="l"/>
        <c:majorGridlines>
          <c:spPr>
            <a:ln w="6350" cap="flat">
              <a:solidFill>
                <a:srgbClr val="DDE3EA"/>
              </a:solidFill>
              <a:prstDash val="solid"/>
              <a:round/>
            </a:ln>
          </c:spPr>
        </c:majorGridlines>
        <c:numFmt formatCode="&quot;$&quot;0&quot;M&quot;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750" b="0" i="0" u="none" strike="noStrike">
                <a:solidFill>
                  <a:srgbClr val="6E7E90"/>
                </a:solidFill>
                <a:latin typeface="Segoe UI"/>
              </a:defRPr>
            </a:pPr>
            <a:endParaRPr lang="en-US"/>
          </a:p>
        </c:txPr>
        <c:crossAx val="2094734554"/>
        <c:crosses val="autoZero"/>
        <c:crossBetween val="between"/>
        <c:majorUnit val="10"/>
      </c:valAx>
      <c:spPr>
        <a:solidFill>
          <a:srgbClr val="F4F6F9"/>
        </a:solidFill>
        <a:ln>
          <a:noFill/>
        </a:ln>
        <a:effectLst/>
      </c:spPr>
    </c:plotArea>
    <c:plotVisOnly val="1"/>
    <c:dispBlanksAs val="span"/>
    <c:showDLblsOverMax val="1"/>
  </c:chart>
  <c:spPr>
    <a:solidFill>
      <a:srgbClr val="F4F6F9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721489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Cover. Program results are program-reported figures from Chicago-area partner hospitals, March–July 2026; not independently attributed.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Five-layer waterfall: findings flow from identification (01) down to lien administration and recovery (05). LaborForce works alongside the hospital's billing and collections teams.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Static version of the interactive planning model at its starting scenario: 150,000 ED encounters × 6% additional coverage × $4,000 net per encounter = $36M per year; 9,000 identified encounters; $90M associated gross charges at a $10,000 average ED charge. Each figure in the grid = 1,000 ED encounters. Illustrative planning model, not a forecast.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VY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MEDICAL MANAGEMENT</a:t>
            </a:r>
            <a:endParaRPr lang="en-US" sz="8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F4F6F9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C3C7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382512"/>
            <a:ext cx="1109441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6455664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1783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Deliver Care, We Optimize Revenue.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103120"/>
            <a:ext cx="667512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Uncovering revenue.</a:t>
            </a:r>
            <a:endParaRPr lang="en-US" sz="3600" dirty="0"/>
          </a:p>
          <a:p>
            <a:pPr marL="0" indent="0">
              <a:lnSpc>
                <a:spcPct val="98000"/>
              </a:lnSpc>
              <a:buNone/>
            </a:pPr>
            <a:r>
              <a:rPr lang="en-US" sz="3600" kern="0" spc="-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Strengthening hospital performance.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3977640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revenue identification and recovery partnership for Cook County Health's emergency and trauma care.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6382512"/>
            <a:ext cx="66751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6455664"/>
            <a:ext cx="4572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CONFIDENTIAL — FOR DISCUSSION PURPOSES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5394960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10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7726680" y="0"/>
            <a:ext cx="4465015" cy="685800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26680" y="0"/>
            <a:ext cx="54864" cy="685800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183880" y="54864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AT A GLANCE</a:t>
            </a:r>
            <a:endParaRPr lang="en-US" sz="900" dirty="0"/>
          </a:p>
        </p:txBody>
      </p:sp>
      <p:sp>
        <p:nvSpPr>
          <p:cNvPr id="11" name="Text 9"/>
          <p:cNvSpPr txBox="1"/>
          <p:nvPr/>
        </p:nvSpPr>
        <p:spPr>
          <a:xfrm>
            <a:off x="8183880" y="91440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800" dirty="0"/>
          </a:p>
        </p:txBody>
      </p:sp>
      <p:sp>
        <p:nvSpPr>
          <p:cNvPr id="12" name="Text 10"/>
          <p:cNvSpPr txBox="1"/>
          <p:nvPr/>
        </p:nvSpPr>
        <p:spPr>
          <a:xfrm>
            <a:off x="8183880" y="151790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 at Chicago-area partner hospitals, March – July 2026 ($33K → $144K)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8183880" y="199339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183880" y="210312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800" dirty="0"/>
          </a:p>
        </p:txBody>
      </p:sp>
      <p:sp>
        <p:nvSpPr>
          <p:cNvPr id="15" name="Text 13"/>
          <p:cNvSpPr txBox="1"/>
          <p:nvPr/>
        </p:nvSpPr>
        <p:spPr>
          <a:xfrm>
            <a:off x="8183880" y="270662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accuracy, up from under 30%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8183880" y="3182112"/>
            <a:ext cx="3596335" cy="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183880" y="3291840"/>
            <a:ext cx="359633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</a:t>
            </a:r>
            <a:endParaRPr lang="en-US" sz="3800" dirty="0"/>
          </a:p>
        </p:txBody>
      </p:sp>
      <p:sp>
        <p:nvSpPr>
          <p:cNvPr id="18" name="Text 16"/>
          <p:cNvSpPr txBox="1"/>
          <p:nvPr/>
        </p:nvSpPr>
        <p:spPr>
          <a:xfrm>
            <a:off x="8183880" y="3895344"/>
            <a:ext cx="3596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Of screened July encounters verified (141 of 178)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8092440" y="4754880"/>
            <a:ext cx="3779215" cy="914400"/>
          </a:xfrm>
          <a:prstGeom prst="roundRect">
            <a:avLst>
              <a:gd name="adj" fmla="val 4000"/>
            </a:avLst>
          </a:prstGeom>
          <a:solidFill>
            <a:srgbClr val="1D4A7F"/>
          </a:solidFill>
          <a:ln w="12700">
            <a:solidFill>
              <a:srgbClr val="1D4A7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275320" y="4937760"/>
            <a:ext cx="359633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ASK</a:t>
            </a:r>
            <a:endParaRPr lang="en-US" sz="800" dirty="0"/>
          </a:p>
        </p:txBody>
      </p:sp>
      <p:sp>
        <p:nvSpPr>
          <p:cNvPr id="21" name="Text 19"/>
          <p:cNvSpPr txBox="1"/>
          <p:nvPr/>
        </p:nvSpPr>
        <p:spPr>
          <a:xfrm>
            <a:off x="8275320" y="5175504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90-day pilot at John H. Stroger, Jr. Hospital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8183880" y="6080760"/>
            <a:ext cx="359633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8EA4B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 figures; not independently attributed.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SUMMARY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work inside the revenue cycle</a:t>
            </a: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you already run.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/ CONTEXT</a:t>
            </a:r>
            <a:endParaRPr lang="en-US" sz="8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pressure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Hospitals face reimbursement challenges, rising operational costs, complex payer requirements, and growing uncompensated care obligations.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390824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3390824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OPPORTUNITY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3390824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gap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3390824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ED, trauma and other encounters, Workers' Compensation, Third-Party Liability, auto and other responsible-party coverage can go unidentified or unpursued by traditional workflows.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233008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233008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SUPPORT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233008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LaborForce adds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6233008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Specialized payer identification, patient engagement, revenue auditing, payer verification, and lien administration support.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9075191" y="1737360"/>
            <a:ext cx="2567864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9075191" y="1920240"/>
            <a:ext cx="25678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OUTCOME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9075191" y="2194560"/>
            <a:ext cx="256786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goal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9075191" y="2633472"/>
            <a:ext cx="256786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Identify additional reimbursement, improve revenue realization, and reduce avoidable administrative work — without replacing current systems or teams.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7548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48640" y="49103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8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868680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Technology screening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868680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encounters are flagged from existing registration and billing data.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3390824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  <p:sp>
        <p:nvSpPr>
          <p:cNvPr id="26" name="Text 24"/>
          <p:cNvSpPr txBox="1"/>
          <p:nvPr/>
        </p:nvSpPr>
        <p:spPr>
          <a:xfrm>
            <a:off x="3710864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Specialist review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3710864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Analysts determine the likely responsible payer and what information is missing.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6233008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048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Direct patient contact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553048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staff confirm the facts and close gaps, respecting each patient's choices.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9075191" y="5212080"/>
            <a:ext cx="365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395231" y="5184648"/>
            <a:ext cx="2247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Follow-through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9395231" y="5458968"/>
            <a:ext cx="2247824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Billing corrections, lien support, and payer follow-up until the account resolves.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CHALLENGE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that traditional workflows may overlook.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7160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Patients often arrive after workplace incidents, motor vehicle accidents, or injuries involving another liable party. Registration and billing workflows may not consistently answer: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49808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49808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750" dirty="0"/>
          </a:p>
        </p:txBody>
      </p:sp>
      <p:sp>
        <p:nvSpPr>
          <p:cNvPr id="8" name="Text 6"/>
          <p:cNvSpPr txBox="1"/>
          <p:nvPr/>
        </p:nvSpPr>
        <p:spPr>
          <a:xfrm>
            <a:off x="1143000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Was the injury work-related?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184752" y="210312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385920" y="242316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385920" y="242316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750" dirty="0"/>
          </a:p>
        </p:txBody>
      </p:sp>
      <p:sp>
        <p:nvSpPr>
          <p:cNvPr id="12" name="Text 10"/>
          <p:cNvSpPr txBox="1"/>
          <p:nvPr/>
        </p:nvSpPr>
        <p:spPr>
          <a:xfrm>
            <a:off x="4779112" y="210312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a motor vehicle or other third party responsible?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548640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49808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749808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7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Should another insurer or payer be investigated?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4184752" y="310896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385920" y="342900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4385920" y="342900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4779112" y="310896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Does the hospital have the right claim, attorney, and payer information?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548640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49808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749808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7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 a hospital lien available, documented, and followed up?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4184752" y="4114800"/>
            <a:ext cx="3526384" cy="896112"/>
          </a:xfrm>
          <a:prstGeom prst="roundRect">
            <a:avLst>
              <a:gd name="adj" fmla="val 4082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4385920" y="4434840"/>
            <a:ext cx="256032" cy="256032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385920" y="4434840"/>
            <a:ext cx="256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750" dirty="0"/>
          </a:p>
        </p:txBody>
      </p:sp>
      <p:sp>
        <p:nvSpPr>
          <p:cNvPr id="28" name="Text 26"/>
          <p:cNvSpPr txBox="1"/>
          <p:nvPr/>
        </p:nvSpPr>
        <p:spPr>
          <a:xfrm>
            <a:off x="4779112" y="4114800"/>
            <a:ext cx="2749144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0000"/>
              </a:lnSpc>
              <a:buNone/>
            </a:pPr>
            <a:r>
              <a:rPr lang="en-US" sz="12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Are unresolved cases investigated after discharge?</a:t>
            </a:r>
            <a:endParaRPr lang="en-US" sz="1250" dirty="0"/>
          </a:p>
        </p:txBody>
      </p:sp>
      <p:sp>
        <p:nvSpPr>
          <p:cNvPr id="29" name="Shape 27"/>
          <p:cNvSpPr/>
          <p:nvPr/>
        </p:nvSpPr>
        <p:spPr>
          <a:xfrm>
            <a:off x="8076895" y="2103120"/>
            <a:ext cx="3566160" cy="2907792"/>
          </a:xfrm>
          <a:prstGeom prst="roundRect">
            <a:avLst>
              <a:gd name="adj" fmla="val 1572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8278063" y="2304288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WHERE THE REVENUE GOES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8278063" y="2615184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8415223" y="2697480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Injury-related encounter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8415223" y="2916936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Workplace injury, motor vehicle accident, or incident involving a third party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9859975" y="3233928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5" name="Shape 33"/>
          <p:cNvSpPr/>
          <p:nvPr/>
        </p:nvSpPr>
        <p:spPr>
          <a:xfrm>
            <a:off x="8278063" y="3425952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8415223" y="3508248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-2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Responsible payer missed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8415223" y="3727704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Not identified at registration, or identified but not followed through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9859975" y="4044696"/>
            <a:ext cx="0" cy="146304"/>
          </a:xfrm>
          <a:prstGeom prst="line">
            <a:avLst/>
          </a:prstGeom>
          <a:noFill/>
          <a:ln w="15875">
            <a:solidFill>
              <a:srgbClr val="0A8FA6"/>
            </a:solidFill>
            <a:prstDash val="solid"/>
            <a:tailEnd type="triangle"/>
          </a:ln>
        </p:spPr>
      </p:sp>
      <p:sp>
        <p:nvSpPr>
          <p:cNvPr id="39" name="Shape 37"/>
          <p:cNvSpPr/>
          <p:nvPr/>
        </p:nvSpPr>
        <p:spPr>
          <a:xfrm>
            <a:off x="8278063" y="4236720"/>
            <a:ext cx="3163824" cy="573024"/>
          </a:xfrm>
          <a:prstGeom prst="roundRect">
            <a:avLst>
              <a:gd name="adj" fmla="val 4787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415223" y="4319016"/>
            <a:ext cx="2889504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2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Absorbed by the hospital</a:t>
            </a:r>
            <a:endParaRPr lang="en-US" sz="1200" dirty="0"/>
          </a:p>
        </p:txBody>
      </p:sp>
      <p:sp>
        <p:nvSpPr>
          <p:cNvPr id="41" name="Text 39"/>
          <p:cNvSpPr txBox="1"/>
          <p:nvPr/>
        </p:nvSpPr>
        <p:spPr>
          <a:xfrm>
            <a:off x="8415223" y="4538472"/>
            <a:ext cx="2889504" cy="243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90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Written off as bad debt or uncompensated care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48640" y="5532120"/>
            <a:ext cx="11094415" cy="658368"/>
          </a:xfrm>
          <a:prstGeom prst="rect">
            <a:avLst/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48640" y="5532120"/>
            <a:ext cx="45720" cy="658368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822960" y="5769864"/>
            <a:ext cx="1645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CONSEQUENCE</a:t>
            </a:r>
            <a:endParaRPr lang="en-US" sz="800" dirty="0"/>
          </a:p>
        </p:txBody>
      </p:sp>
      <p:sp>
        <p:nvSpPr>
          <p:cNvPr id="45" name="Text 43"/>
          <p:cNvSpPr txBox="1"/>
          <p:nvPr/>
        </p:nvSpPr>
        <p:spPr>
          <a:xfrm>
            <a:off x="2560320" y="5532120"/>
            <a:ext cx="8808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reimbursement opportunities may remain unidentified, incorrectly routed, delayed, or insufficiently pursued.</a:t>
            </a:r>
            <a:endParaRPr lang="en-US" sz="1300" dirty="0"/>
          </a:p>
        </p:txBody>
      </p:sp>
      <p:sp>
        <p:nvSpPr>
          <p:cNvPr id="46" name="Text 44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LABORFORCE SOLUTION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specialized operational layer.</a:t>
            </a:r>
            <a:endParaRPr lang="en-US" sz="28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9FC0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Five critical functions.</a:t>
            </a:r>
            <a:endParaRPr lang="en-US" sz="2800" dirty="0"/>
          </a:p>
        </p:txBody>
      </p:sp>
      <p:sp>
        <p:nvSpPr>
          <p:cNvPr id="4" name="slab-1-left"/>
          <p:cNvSpPr/>
          <p:nvPr/>
        </p:nvSpPr>
        <p:spPr>
          <a:xfrm>
            <a:off x="982156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7ADBC0"/>
          </a:solidFill>
          <a:ln w="6350">
            <a:solidFill>
              <a:srgbClr val="7ADBC0"/>
            </a:solidFill>
            <a:prstDash val="solid"/>
          </a:ln>
        </p:spPr>
      </p:sp>
      <p:sp>
        <p:nvSpPr>
          <p:cNvPr id="5" name="slab-1-right"/>
          <p:cNvSpPr/>
          <p:nvPr/>
        </p:nvSpPr>
        <p:spPr>
          <a:xfrm>
            <a:off x="2427207" y="2186225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3DB48F"/>
          </a:solidFill>
          <a:ln w="6350">
            <a:solidFill>
              <a:srgbClr val="3DB48F"/>
            </a:solidFill>
            <a:prstDash val="solid"/>
          </a:ln>
        </p:spPr>
      </p:sp>
      <p:sp>
        <p:nvSpPr>
          <p:cNvPr id="6" name="slab-1-top"/>
          <p:cNvSpPr/>
          <p:nvPr/>
        </p:nvSpPr>
        <p:spPr>
          <a:xfrm>
            <a:off x="982156" y="191166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BFEFE0"/>
          </a:solidFill>
          <a:ln w="6350">
            <a:solidFill>
              <a:srgbClr val="BFEFE0"/>
            </a:solidFill>
            <a:prstDash val="solid"/>
          </a:ln>
        </p:spPr>
      </p:sp>
      <p:sp>
        <p:nvSpPr>
          <p:cNvPr id="7" name="slab-1-num"/>
          <p:cNvSpPr txBox="1"/>
          <p:nvPr/>
        </p:nvSpPr>
        <p:spPr>
          <a:xfrm>
            <a:off x="1970007" y="2049065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1100" dirty="0"/>
          </a:p>
        </p:txBody>
      </p:sp>
      <p:sp>
        <p:nvSpPr>
          <p:cNvPr id="8" name="slab-1-link"/>
          <p:cNvSpPr/>
          <p:nvPr/>
        </p:nvSpPr>
        <p:spPr>
          <a:xfrm>
            <a:off x="2427207" y="2590840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9" name="slab-1-drop"/>
          <p:cNvSpPr/>
          <p:nvPr/>
        </p:nvSpPr>
        <p:spPr>
          <a:xfrm>
            <a:off x="2399775" y="2563408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0" name="slab-2-left"/>
          <p:cNvSpPr/>
          <p:nvPr/>
        </p:nvSpPr>
        <p:spPr>
          <a:xfrm>
            <a:off x="982156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4CC9A6"/>
          </a:solidFill>
          <a:ln w="6350">
            <a:solidFill>
              <a:srgbClr val="4CC9A6"/>
            </a:solidFill>
            <a:prstDash val="solid"/>
          </a:ln>
        </p:spPr>
      </p:sp>
      <p:sp>
        <p:nvSpPr>
          <p:cNvPr id="11" name="slab-2-right"/>
          <p:cNvSpPr/>
          <p:nvPr/>
        </p:nvSpPr>
        <p:spPr>
          <a:xfrm>
            <a:off x="2427207" y="3038806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D9E75"/>
          </a:solidFill>
          <a:ln w="6350">
            <a:solidFill>
              <a:srgbClr val="1D9E75"/>
            </a:solidFill>
            <a:prstDash val="solid"/>
          </a:ln>
        </p:spPr>
      </p:sp>
      <p:sp>
        <p:nvSpPr>
          <p:cNvPr id="12" name="slab-2-top"/>
          <p:cNvSpPr/>
          <p:nvPr/>
        </p:nvSpPr>
        <p:spPr>
          <a:xfrm>
            <a:off x="982156" y="2764246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8FE0C9"/>
          </a:solidFill>
          <a:ln w="6350">
            <a:solidFill>
              <a:srgbClr val="8FE0C9"/>
            </a:solidFill>
            <a:prstDash val="solid"/>
          </a:ln>
        </p:spPr>
      </p:sp>
      <p:sp>
        <p:nvSpPr>
          <p:cNvPr id="13" name="slab-2-num"/>
          <p:cNvSpPr txBox="1"/>
          <p:nvPr/>
        </p:nvSpPr>
        <p:spPr>
          <a:xfrm>
            <a:off x="1970007" y="2901646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slab-2-link"/>
          <p:cNvSpPr/>
          <p:nvPr/>
        </p:nvSpPr>
        <p:spPr>
          <a:xfrm>
            <a:off x="2427207" y="344342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15" name="slab-2-drop"/>
          <p:cNvSpPr/>
          <p:nvPr/>
        </p:nvSpPr>
        <p:spPr>
          <a:xfrm>
            <a:off x="2399775" y="341598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16" name="slab-3-left"/>
          <p:cNvSpPr/>
          <p:nvPr/>
        </p:nvSpPr>
        <p:spPr>
          <a:xfrm>
            <a:off x="982156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5AA2E6"/>
          </a:solidFill>
          <a:ln w="6350">
            <a:solidFill>
              <a:srgbClr val="5AA2E6"/>
            </a:solidFill>
            <a:prstDash val="solid"/>
          </a:ln>
        </p:spPr>
      </p:sp>
      <p:sp>
        <p:nvSpPr>
          <p:cNvPr id="17" name="slab-3-right"/>
          <p:cNvSpPr/>
          <p:nvPr/>
        </p:nvSpPr>
        <p:spPr>
          <a:xfrm>
            <a:off x="2427207" y="389138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2F7FCB"/>
          </a:solidFill>
          <a:ln w="6350">
            <a:solidFill>
              <a:srgbClr val="2F7FCB"/>
            </a:solidFill>
            <a:prstDash val="solid"/>
          </a:ln>
        </p:spPr>
      </p:sp>
      <p:sp>
        <p:nvSpPr>
          <p:cNvPr id="18" name="slab-3-top"/>
          <p:cNvSpPr/>
          <p:nvPr/>
        </p:nvSpPr>
        <p:spPr>
          <a:xfrm>
            <a:off x="982156" y="361682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9CC8F0"/>
          </a:solidFill>
          <a:ln w="6350">
            <a:solidFill>
              <a:srgbClr val="9CC8F0"/>
            </a:solidFill>
            <a:prstDash val="solid"/>
          </a:ln>
        </p:spPr>
      </p:sp>
      <p:sp>
        <p:nvSpPr>
          <p:cNvPr id="19" name="slab-3-num"/>
          <p:cNvSpPr txBox="1"/>
          <p:nvPr/>
        </p:nvSpPr>
        <p:spPr>
          <a:xfrm>
            <a:off x="1970007" y="375422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1100" dirty="0"/>
          </a:p>
        </p:txBody>
      </p:sp>
      <p:sp>
        <p:nvSpPr>
          <p:cNvPr id="20" name="slab-3-link"/>
          <p:cNvSpPr/>
          <p:nvPr/>
        </p:nvSpPr>
        <p:spPr>
          <a:xfrm>
            <a:off x="2427207" y="4296001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1" name="slab-3-drop"/>
          <p:cNvSpPr/>
          <p:nvPr/>
        </p:nvSpPr>
        <p:spPr>
          <a:xfrm>
            <a:off x="2399775" y="4268569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2" name="slab-4-left"/>
          <p:cNvSpPr/>
          <p:nvPr/>
        </p:nvSpPr>
        <p:spPr>
          <a:xfrm>
            <a:off x="982156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3A8FDB"/>
          </a:solidFill>
          <a:ln w="6350">
            <a:solidFill>
              <a:srgbClr val="3A8FDB"/>
            </a:solidFill>
            <a:prstDash val="solid"/>
          </a:ln>
        </p:spPr>
      </p:sp>
      <p:sp>
        <p:nvSpPr>
          <p:cNvPr id="23" name="slab-4-right"/>
          <p:cNvSpPr/>
          <p:nvPr/>
        </p:nvSpPr>
        <p:spPr>
          <a:xfrm>
            <a:off x="2427207" y="4743967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F67AE"/>
          </a:solidFill>
          <a:ln w="6350">
            <a:solidFill>
              <a:srgbClr val="1F67AE"/>
            </a:solidFill>
            <a:prstDash val="solid"/>
          </a:ln>
        </p:spPr>
      </p:sp>
      <p:sp>
        <p:nvSpPr>
          <p:cNvPr id="24" name="slab-4-top"/>
          <p:cNvSpPr/>
          <p:nvPr/>
        </p:nvSpPr>
        <p:spPr>
          <a:xfrm>
            <a:off x="982156" y="4469407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6FB0EE"/>
          </a:solidFill>
          <a:ln w="6350">
            <a:solidFill>
              <a:srgbClr val="6FB0EE"/>
            </a:solidFill>
            <a:prstDash val="solid"/>
          </a:ln>
        </p:spPr>
      </p:sp>
      <p:sp>
        <p:nvSpPr>
          <p:cNvPr id="25" name="slab-4-num"/>
          <p:cNvSpPr txBox="1"/>
          <p:nvPr/>
        </p:nvSpPr>
        <p:spPr>
          <a:xfrm>
            <a:off x="1970007" y="4606807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1100" dirty="0"/>
          </a:p>
        </p:txBody>
      </p:sp>
      <p:sp>
        <p:nvSpPr>
          <p:cNvPr id="26" name="slab-4-link"/>
          <p:cNvSpPr/>
          <p:nvPr/>
        </p:nvSpPr>
        <p:spPr>
          <a:xfrm>
            <a:off x="2427207" y="5148582"/>
            <a:ext cx="0" cy="216758"/>
          </a:xfrm>
          <a:prstGeom prst="line">
            <a:avLst/>
          </a:prstGeom>
          <a:noFill/>
          <a:ln w="15875">
            <a:solidFill>
              <a:srgbClr val="7FD3E3"/>
            </a:solidFill>
            <a:prstDash val="sysDash"/>
          </a:ln>
        </p:spPr>
      </p:sp>
      <p:sp>
        <p:nvSpPr>
          <p:cNvPr id="27" name="slab-4-drop"/>
          <p:cNvSpPr/>
          <p:nvPr/>
        </p:nvSpPr>
        <p:spPr>
          <a:xfrm>
            <a:off x="2399775" y="5121150"/>
            <a:ext cx="54864" cy="54864"/>
          </a:xfrm>
          <a:prstGeom prst="ellipse">
            <a:avLst/>
          </a:prstGeom>
          <a:solidFill>
            <a:srgbClr val="7FD3E3"/>
          </a:solidFill>
          <a:ln w="12700">
            <a:solidFill>
              <a:srgbClr val="7FD3E3"/>
            </a:solidFill>
            <a:prstDash val="solid"/>
          </a:ln>
        </p:spPr>
      </p:sp>
      <p:sp>
        <p:nvSpPr>
          <p:cNvPr id="28" name="slab-5-left"/>
          <p:cNvSpPr/>
          <p:nvPr/>
        </p:nvSpPr>
        <p:spPr>
          <a:xfrm>
            <a:off x="982156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0" y="0"/>
                </a:moveTo>
                <a:lnTo>
                  <a:pt x="1445052" y="274560"/>
                </a:lnTo>
                <a:lnTo>
                  <a:pt x="1445052" y="404615"/>
                </a:lnTo>
                <a:lnTo>
                  <a:pt x="0" y="130055"/>
                </a:lnTo>
                <a:close/>
              </a:path>
            </a:pathLst>
          </a:custGeom>
          <a:solidFill>
            <a:srgbClr val="2B74BE"/>
          </a:solidFill>
          <a:ln w="6350">
            <a:solidFill>
              <a:srgbClr val="2B74BE"/>
            </a:solidFill>
            <a:prstDash val="solid"/>
          </a:ln>
        </p:spPr>
      </p:sp>
      <p:sp>
        <p:nvSpPr>
          <p:cNvPr id="29" name="slab-5-right"/>
          <p:cNvSpPr/>
          <p:nvPr/>
        </p:nvSpPr>
        <p:spPr>
          <a:xfrm>
            <a:off x="2427207" y="5596548"/>
            <a:ext cx="1445052" cy="404615"/>
          </a:xfrm>
          <a:custGeom>
            <a:avLst/>
            <a:gdLst/>
            <a:ahLst/>
            <a:cxnLst/>
            <a:rect l="l" t="t" r="r" b="b"/>
            <a:pathLst>
              <a:path w="1445052" h="404615">
                <a:moveTo>
                  <a:pt x="1445052" y="0"/>
                </a:moveTo>
                <a:lnTo>
                  <a:pt x="0" y="274560"/>
                </a:lnTo>
                <a:lnTo>
                  <a:pt x="0" y="404615"/>
                </a:lnTo>
                <a:lnTo>
                  <a:pt x="1445052" y="130055"/>
                </a:lnTo>
                <a:close/>
              </a:path>
            </a:pathLst>
          </a:custGeom>
          <a:solidFill>
            <a:srgbClr val="1A5590"/>
          </a:solidFill>
          <a:ln w="6350">
            <a:solidFill>
              <a:srgbClr val="1A5590"/>
            </a:solidFill>
            <a:prstDash val="solid"/>
          </a:ln>
        </p:spPr>
      </p:sp>
      <p:sp>
        <p:nvSpPr>
          <p:cNvPr id="30" name="slab-5-top"/>
          <p:cNvSpPr/>
          <p:nvPr/>
        </p:nvSpPr>
        <p:spPr>
          <a:xfrm>
            <a:off x="982156" y="5321988"/>
            <a:ext cx="2890104" cy="549120"/>
          </a:xfrm>
          <a:custGeom>
            <a:avLst/>
            <a:gdLst/>
            <a:ahLst/>
            <a:cxnLst/>
            <a:rect l="l" t="t" r="r" b="b"/>
            <a:pathLst>
              <a:path w="2890104" h="549120">
                <a:moveTo>
                  <a:pt x="0" y="274560"/>
                </a:moveTo>
                <a:lnTo>
                  <a:pt x="1445052" y="0"/>
                </a:lnTo>
                <a:lnTo>
                  <a:pt x="2890104" y="274560"/>
                </a:lnTo>
                <a:lnTo>
                  <a:pt x="1445052" y="549120"/>
                </a:lnTo>
                <a:close/>
              </a:path>
            </a:pathLst>
          </a:custGeom>
          <a:solidFill>
            <a:srgbClr val="4A97E2"/>
          </a:solidFill>
          <a:ln w="6350">
            <a:solidFill>
              <a:srgbClr val="4A97E2"/>
            </a:solidFill>
            <a:prstDash val="solid"/>
          </a:ln>
        </p:spPr>
      </p:sp>
      <p:sp>
        <p:nvSpPr>
          <p:cNvPr id="31" name="slab-5-num"/>
          <p:cNvSpPr txBox="1"/>
          <p:nvPr/>
        </p:nvSpPr>
        <p:spPr>
          <a:xfrm>
            <a:off x="1970007" y="5459388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1100" dirty="0"/>
          </a:p>
        </p:txBody>
      </p:sp>
      <p:sp>
        <p:nvSpPr>
          <p:cNvPr id="32" name="fn-1-card"/>
          <p:cNvSpPr/>
          <p:nvPr/>
        </p:nvSpPr>
        <p:spPr>
          <a:xfrm>
            <a:off x="4717255" y="1810512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3" name="fn-1-badge"/>
          <p:cNvSpPr/>
          <p:nvPr/>
        </p:nvSpPr>
        <p:spPr>
          <a:xfrm>
            <a:off x="4900135" y="2029968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4" name="fn-1-badgenum"/>
          <p:cNvSpPr txBox="1"/>
          <p:nvPr/>
        </p:nvSpPr>
        <p:spPr>
          <a:xfrm>
            <a:off x="4900135" y="202996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35" name="fn-1-title"/>
          <p:cNvSpPr txBox="1"/>
          <p:nvPr/>
        </p:nvSpPr>
        <p:spPr>
          <a:xfrm>
            <a:off x="5375623" y="1920240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Proactive Revenue Identification</a:t>
            </a:r>
            <a:endParaRPr lang="en-US" sz="1300" dirty="0"/>
          </a:p>
        </p:txBody>
      </p:sp>
      <p:sp>
        <p:nvSpPr>
          <p:cNvPr id="36" name="fn-1-desc"/>
          <p:cNvSpPr txBox="1"/>
          <p:nvPr/>
        </p:nvSpPr>
        <p:spPr>
          <a:xfrm>
            <a:off x="5375623" y="2194560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injury-related encounters, identify potentially responsible payers, and prioritize accounts for investigation.</a:t>
            </a:r>
            <a:endParaRPr lang="en-US" sz="950" dirty="0"/>
          </a:p>
        </p:txBody>
      </p:sp>
      <p:sp>
        <p:nvSpPr>
          <p:cNvPr id="37" name="fn-2-card"/>
          <p:cNvSpPr/>
          <p:nvPr/>
        </p:nvSpPr>
        <p:spPr>
          <a:xfrm>
            <a:off x="4717255" y="2651760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38" name="fn-2-badge"/>
          <p:cNvSpPr/>
          <p:nvPr/>
        </p:nvSpPr>
        <p:spPr>
          <a:xfrm>
            <a:off x="4900135" y="2871216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39" name="fn-2-badgenum"/>
          <p:cNvSpPr txBox="1"/>
          <p:nvPr/>
        </p:nvSpPr>
        <p:spPr>
          <a:xfrm>
            <a:off x="4900135" y="287121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40" name="fn-2-title"/>
          <p:cNvSpPr txBox="1"/>
          <p:nvPr/>
        </p:nvSpPr>
        <p:spPr>
          <a:xfrm>
            <a:off x="5375623" y="2761488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Engagement</a:t>
            </a:r>
            <a:endParaRPr lang="en-US" sz="1300" dirty="0"/>
          </a:p>
        </p:txBody>
      </p:sp>
      <p:sp>
        <p:nvSpPr>
          <p:cNvPr id="41" name="fn-2-desc"/>
          <p:cNvSpPr txBox="1"/>
          <p:nvPr/>
        </p:nvSpPr>
        <p:spPr>
          <a:xfrm>
            <a:off x="5375623" y="3035808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Outreach to verify injury circumstances and collect missing claim, employer, insurer, or attorney information.</a:t>
            </a:r>
            <a:endParaRPr lang="en-US" sz="950" dirty="0"/>
          </a:p>
        </p:txBody>
      </p:sp>
      <p:sp>
        <p:nvSpPr>
          <p:cNvPr id="42" name="fn-3-card"/>
          <p:cNvSpPr/>
          <p:nvPr/>
        </p:nvSpPr>
        <p:spPr>
          <a:xfrm>
            <a:off x="4717255" y="3493008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3" name="fn-3-badge"/>
          <p:cNvSpPr/>
          <p:nvPr/>
        </p:nvSpPr>
        <p:spPr>
          <a:xfrm>
            <a:off x="4900135" y="3712464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4" name="fn-3-badgenum"/>
          <p:cNvSpPr txBox="1"/>
          <p:nvPr/>
        </p:nvSpPr>
        <p:spPr>
          <a:xfrm>
            <a:off x="4900135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45" name="fn-3-title"/>
          <p:cNvSpPr txBox="1"/>
          <p:nvPr/>
        </p:nvSpPr>
        <p:spPr>
          <a:xfrm>
            <a:off x="5375623" y="3602736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Verification &amp; RCM Coordination</a:t>
            </a:r>
            <a:endParaRPr lang="en-US" sz="1300" dirty="0"/>
          </a:p>
        </p:txBody>
      </p:sp>
      <p:sp>
        <p:nvSpPr>
          <p:cNvPr id="46" name="fn-3-desc"/>
          <p:cNvSpPr txBox="1"/>
          <p:nvPr/>
        </p:nvSpPr>
        <p:spPr>
          <a:xfrm>
            <a:off x="5375623" y="3877056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Coordinate findings with registration, billing, and revenue cycle teams for payer determination and follow-up.</a:t>
            </a:r>
            <a:endParaRPr lang="en-US" sz="950" dirty="0"/>
          </a:p>
        </p:txBody>
      </p:sp>
      <p:sp>
        <p:nvSpPr>
          <p:cNvPr id="47" name="fn-4-card"/>
          <p:cNvSpPr/>
          <p:nvPr/>
        </p:nvSpPr>
        <p:spPr>
          <a:xfrm>
            <a:off x="4717255" y="4334256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48" name="fn-4-badge"/>
          <p:cNvSpPr/>
          <p:nvPr/>
        </p:nvSpPr>
        <p:spPr>
          <a:xfrm>
            <a:off x="4900135" y="4553712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49" name="fn-4-badgenum"/>
          <p:cNvSpPr txBox="1"/>
          <p:nvPr/>
        </p:nvSpPr>
        <p:spPr>
          <a:xfrm>
            <a:off x="4900135" y="45537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850" dirty="0"/>
          </a:p>
        </p:txBody>
      </p:sp>
      <p:sp>
        <p:nvSpPr>
          <p:cNvPr id="50" name="fn-4-title"/>
          <p:cNvSpPr txBox="1"/>
          <p:nvPr/>
        </p:nvSpPr>
        <p:spPr>
          <a:xfrm>
            <a:off x="5375623" y="4443984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Revenue Auditing &amp; Reconciliation</a:t>
            </a:r>
            <a:endParaRPr lang="en-US" sz="1300" dirty="0"/>
          </a:p>
        </p:txBody>
      </p:sp>
      <p:sp>
        <p:nvSpPr>
          <p:cNvPr id="51" name="fn-4-desc"/>
          <p:cNvSpPr txBox="1"/>
          <p:nvPr/>
        </p:nvSpPr>
        <p:spPr>
          <a:xfrm>
            <a:off x="5375623" y="4718304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unresolved cases, flag missing or inconsistent information, and track case status and reimbursement.</a:t>
            </a:r>
            <a:endParaRPr lang="en-US" sz="950" dirty="0"/>
          </a:p>
        </p:txBody>
      </p:sp>
      <p:sp>
        <p:nvSpPr>
          <p:cNvPr id="52" name="fn-5-card"/>
          <p:cNvSpPr/>
          <p:nvPr/>
        </p:nvSpPr>
        <p:spPr>
          <a:xfrm>
            <a:off x="4717255" y="5175504"/>
            <a:ext cx="6925801" cy="749808"/>
          </a:xfrm>
          <a:prstGeom prst="roundRect">
            <a:avLst>
              <a:gd name="adj" fmla="val 6098"/>
            </a:avLst>
          </a:prstGeom>
          <a:solidFill>
            <a:srgbClr val="174579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53" name="fn-5-badge"/>
          <p:cNvSpPr/>
          <p:nvPr/>
        </p:nvSpPr>
        <p:spPr>
          <a:xfrm>
            <a:off x="4900135" y="5394960"/>
            <a:ext cx="310896" cy="310896"/>
          </a:xfrm>
          <a:prstGeom prst="ellipse">
            <a:avLst/>
          </a:prstGeom>
          <a:solidFill>
            <a:srgbClr val="2C5687"/>
          </a:solidFill>
          <a:ln w="12700">
            <a:solidFill>
              <a:srgbClr val="2C5687"/>
            </a:solidFill>
            <a:prstDash val="solid"/>
          </a:ln>
        </p:spPr>
      </p:sp>
      <p:sp>
        <p:nvSpPr>
          <p:cNvPr id="54" name="fn-5-badgenum"/>
          <p:cNvSpPr txBox="1"/>
          <p:nvPr/>
        </p:nvSpPr>
        <p:spPr>
          <a:xfrm>
            <a:off x="4900135" y="539496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850" dirty="0"/>
          </a:p>
        </p:txBody>
      </p:sp>
      <p:sp>
        <p:nvSpPr>
          <p:cNvPr id="55" name="fn-5-title"/>
          <p:cNvSpPr txBox="1"/>
          <p:nvPr/>
        </p:nvSpPr>
        <p:spPr>
          <a:xfrm>
            <a:off x="5375623" y="5285232"/>
            <a:ext cx="610284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2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Lien Administration &amp; Recovery</a:t>
            </a:r>
            <a:endParaRPr lang="en-US" sz="1300" dirty="0"/>
          </a:p>
        </p:txBody>
      </p:sp>
      <p:sp>
        <p:nvSpPr>
          <p:cNvPr id="56" name="fn-5-desc"/>
          <p:cNvSpPr txBox="1"/>
          <p:nvPr/>
        </p:nvSpPr>
        <p:spPr>
          <a:xfrm>
            <a:off x="5375623" y="5559552"/>
            <a:ext cx="6102841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9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approved lien documentation, follow-up, and reimbursement tracking within the legal and contractual framework.</a:t>
            </a:r>
            <a:endParaRPr lang="en-US" sz="950" dirty="0"/>
          </a:p>
        </p:txBody>
      </p:sp>
      <p:sp>
        <p:nvSpPr>
          <p:cNvPr id="57" name="Text 55"/>
          <p:cNvSpPr txBox="1"/>
          <p:nvPr/>
        </p:nvSpPr>
        <p:spPr>
          <a:xfrm>
            <a:off x="4717255" y="6035040"/>
            <a:ext cx="692580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50" i="1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works alongside your billing and collections teams.</a:t>
            </a:r>
            <a:endParaRPr lang="en-US" sz="950" dirty="0"/>
          </a:p>
        </p:txBody>
      </p:sp>
      <p:sp>
        <p:nvSpPr>
          <p:cNvPr id="58" name="Text 56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/ 10</a:t>
            </a:r>
            <a:endParaRPr lang="en-US" sz="800" dirty="0"/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" dur="500"/>
                                        <p:tgtEl>
                                          <p:spTgt spid="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1" dur="5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4" dur="500"/>
                                        <p:tgtEl>
                                          <p:spTgt spid="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8" fill="hold">
                            <p:stCondLst>
                              <p:cond delay="500"/>
                            </p:stCondLst>
                            <p:childTnLst>
                              <p:par>
                                <p:cTn id="39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1" dur="5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4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50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3" dur="500"/>
                                        <p:tgtEl>
                                          <p:spTgt spid="3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6" dur="500"/>
                                        <p:tgtEl>
                                          <p:spTgt spid="3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9" dur="500"/>
                                        <p:tgtEl>
                                          <p:spTgt spid="3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2" dur="500"/>
                                        <p:tgtEl>
                                          <p:spTgt spid="4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500"/>
                                        <p:tgtEl>
                                          <p:spTgt spid="4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8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1" dur="50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2" fill="hold">
                            <p:stCondLst>
                              <p:cond delay="1150"/>
                            </p:stCondLst>
                            <p:childTnLst>
                              <p:par>
                                <p:cTn id="73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5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8" dur="50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7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1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87" dur="500"/>
                                        <p:tgtEl>
                                          <p:spTgt spid="4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0" dur="500"/>
                                        <p:tgtEl>
                                          <p:spTgt spid="4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3" dur="500"/>
                                        <p:tgtEl>
                                          <p:spTgt spid="4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6" dur="500"/>
                                        <p:tgtEl>
                                          <p:spTgt spid="4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9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99" dur="500"/>
                                        <p:tgtEl>
                                          <p:spTgt spid="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2" dur="50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5" dur="50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06" fill="hold">
                            <p:stCondLst>
                              <p:cond delay="1800"/>
                            </p:stCondLst>
                            <p:childTnLst>
                              <p:par>
                                <p:cTn id="107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0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9" dur="50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0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2" dur="50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5" dur="50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8" dur="50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1" dur="500"/>
                                        <p:tgtEl>
                                          <p:spTgt spid="4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4" dur="500"/>
                                        <p:tgtEl>
                                          <p:spTgt spid="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7" dur="500"/>
                                        <p:tgtEl>
                                          <p:spTgt spid="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0" dur="500"/>
                                        <p:tgtEl>
                                          <p:spTgt spid="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1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3" dur="500"/>
                                        <p:tgtEl>
                                          <p:spTgt spid="5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6" dur="50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9" dur="50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40" fill="hold">
                            <p:stCondLst>
                              <p:cond delay="2450"/>
                            </p:stCondLst>
                            <p:childTnLst>
                              <p:par>
                                <p:cTn id="141" presetID="10" presetClass="entr" presetSubtype="0" fill="hold" nodeType="afterEffect">
                                  <p:stCondLst>
                                    <p:cond delay="15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3" dur="50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6" dur="50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9" dur="50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0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2" dur="50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5" dur="500"/>
                                        <p:tgtEl>
                                          <p:spTgt spid="5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8" dur="500"/>
                                        <p:tgtEl>
                                          <p:spTgt spid="5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9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1" dur="500"/>
                                        <p:tgtEl>
                                          <p:spTgt spid="5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2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4" dur="500"/>
                                        <p:tgtEl>
                                          <p:spTgt spid="5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5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67" dur="500"/>
                                        <p:tgtEl>
                                          <p:spTgt spid="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7" grpId="0" animBg="1"/>
      <p:bldP spid="13" grpId="0" animBg="1"/>
      <p:bldP spid="19" grpId="0" animBg="1"/>
      <p:bldP spid="25" grpId="0" animBg="1"/>
      <p:bldP spid="31" grpId="0" animBg="1"/>
      <p:bldP spid="34" grpId="0" animBg="1"/>
      <p:bldP spid="35" grpId="0" animBg="1"/>
      <p:bldP spid="36" grpId="0" animBg="1"/>
      <p:bldP spid="39" grpId="0" animBg="1"/>
      <p:bldP spid="40" grpId="0" animBg="1"/>
      <p:bldP spid="41" grpId="0" animBg="1"/>
      <p:bldP spid="44" grpId="0" animBg="1"/>
      <p:bldP spid="45" grpId="0" animBg="1"/>
      <p:bldP spid="46" grpId="0" animBg="1"/>
      <p:bldP spid="49" grpId="0" animBg="1"/>
      <p:bldP spid="50" grpId="0" animBg="1"/>
      <p:bldP spid="51" grpId="0" animBg="1"/>
      <p:bldP spid="54" grpId="0" animBg="1"/>
      <p:bldP spid="55" grpId="0" animBg="1"/>
      <p:bldP spid="56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EXPERIENCE WITH HEALTHCARE PARTNERS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Proven operating experience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Chicago-area hospitals.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5" name="Image 0" descr="E:/Claude/laborforce-deck/brand/nm_logo.svg"/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60120" y="2523744"/>
            <a:ext cx="3508092" cy="658368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960120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NORTHWESTERN MEDICINE · CURRENT PROGRAM PARTNER</a:t>
            </a:r>
            <a:endParaRPr lang="en-US" sz="850" dirty="0"/>
          </a:p>
        </p:txBody>
      </p:sp>
      <p:sp>
        <p:nvSpPr>
          <p:cNvPr id="7" name="Shape 4"/>
          <p:cNvSpPr/>
          <p:nvPr/>
        </p:nvSpPr>
        <p:spPr>
          <a:xfrm>
            <a:off x="6233008" y="2011680"/>
            <a:ext cx="5410048" cy="1874520"/>
          </a:xfrm>
          <a:prstGeom prst="roundRect">
            <a:avLst>
              <a:gd name="adj" fmla="val 24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pic>
        <p:nvPicPr>
          <p:cNvPr id="8" name="Image 1" descr="E:/Claude/laborforce-deck/brand/hph_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44488" y="2395728"/>
            <a:ext cx="3150048" cy="914400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644488" y="3429000"/>
            <a:ext cx="45870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b="1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HUMBOLDT PARK HEALTH · CURRENT PROGRAM PARTNER</a:t>
            </a:r>
            <a:endParaRPr lang="en-US" sz="850" dirty="0"/>
          </a:p>
        </p:txBody>
      </p:sp>
      <p:sp>
        <p:nvSpPr>
          <p:cNvPr id="10" name="Shape 6"/>
          <p:cNvSpPr/>
          <p:nvPr/>
        </p:nvSpPr>
        <p:spPr>
          <a:xfrm>
            <a:off x="548640" y="4160520"/>
            <a:ext cx="11094415" cy="2011680"/>
          </a:xfrm>
          <a:prstGeom prst="roundRect">
            <a:avLst>
              <a:gd name="adj" fmla="val 227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 RESULTS · MARCH – JULY 2026</a:t>
            </a:r>
            <a:endParaRPr lang="en-US" sz="800" dirty="0"/>
          </a:p>
        </p:txBody>
      </p:sp>
      <p:sp>
        <p:nvSpPr>
          <p:cNvPr id="12" name="Text 8"/>
          <p:cNvSpPr txBox="1"/>
          <p:nvPr/>
        </p:nvSpPr>
        <p:spPr>
          <a:xfrm>
            <a:off x="6751015" y="4416552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900" i="1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Program-reported; not independently attributed</a:t>
            </a:r>
            <a:endParaRPr lang="en-US" sz="9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+336%</a:t>
            </a:r>
            <a:endParaRPr lang="en-US" sz="3200" dirty="0"/>
          </a:p>
        </p:txBody>
      </p:sp>
      <p:sp>
        <p:nvSpPr>
          <p:cNvPr id="14" name="Text 10"/>
          <p:cNvSpPr txBox="1"/>
          <p:nvPr/>
        </p:nvSpPr>
        <p:spPr>
          <a:xfrm>
            <a:off x="868680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Monthly TPL recoveries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$33K → $144K</a:t>
            </a:r>
            <a:endParaRPr lang="en-US" sz="1050" dirty="0"/>
          </a:p>
        </p:txBody>
      </p:sp>
      <p:sp>
        <p:nvSpPr>
          <p:cNvPr id="15" name="Shape 11"/>
          <p:cNvSpPr/>
          <p:nvPr/>
        </p:nvSpPr>
        <p:spPr>
          <a:xfrm>
            <a:off x="3317672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3482264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90%+</a:t>
            </a:r>
            <a:endParaRPr lang="en-US" sz="3200" dirty="0"/>
          </a:p>
        </p:txBody>
      </p:sp>
      <p:sp>
        <p:nvSpPr>
          <p:cNvPr id="17" name="Text 13"/>
          <p:cNvSpPr txBox="1"/>
          <p:nvPr/>
        </p:nvSpPr>
        <p:spPr>
          <a:xfrm>
            <a:off x="3482264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Payer identification accuracy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 from under 30%</a:t>
            </a:r>
            <a:endParaRPr lang="en-US" sz="1050" dirty="0"/>
          </a:p>
        </p:txBody>
      </p:sp>
      <p:sp>
        <p:nvSpPr>
          <p:cNvPr id="18" name="Shape 14"/>
          <p:cNvSpPr/>
          <p:nvPr/>
        </p:nvSpPr>
        <p:spPr>
          <a:xfrm>
            <a:off x="5931256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6095848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141 / 178</a:t>
            </a:r>
            <a:endParaRPr lang="en-US" sz="3200" dirty="0"/>
          </a:p>
        </p:txBody>
      </p:sp>
      <p:sp>
        <p:nvSpPr>
          <p:cNvPr id="20" name="Text 16"/>
          <p:cNvSpPr txBox="1"/>
          <p:nvPr/>
        </p:nvSpPr>
        <p:spPr>
          <a:xfrm>
            <a:off x="6095848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July encounters verified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79% of those screened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8544839" y="4892040"/>
            <a:ext cx="0" cy="100584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8709431" y="4818888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200" kern="0" spc="-15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$198,940</a:t>
            </a:r>
            <a:endParaRPr lang="en-US" sz="3200" dirty="0"/>
          </a:p>
        </p:txBody>
      </p:sp>
      <p:sp>
        <p:nvSpPr>
          <p:cNvPr id="23" name="Text 19"/>
          <p:cNvSpPr txBox="1"/>
          <p:nvPr/>
        </p:nvSpPr>
        <p:spPr>
          <a:xfrm>
            <a:off x="8709431" y="5422392"/>
            <a:ext cx="233926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Charges on 32 Workers' Comp</a:t>
            </a:r>
            <a:endParaRPr lang="en-US" sz="10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C5D6E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cases identified in July</a:t>
            </a:r>
            <a:endParaRPr lang="en-US" sz="1050" dirty="0"/>
          </a:p>
        </p:txBody>
      </p:sp>
      <p:sp>
        <p:nvSpPr>
          <p:cNvPr id="24" name="Text 20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OPPORTUNITY AT COOK COUNTY HEALTH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focused TPL/WC program for a high-volume safety-net system.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548640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coverage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whether additional responsible-party coverage exists for selected encounters.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68698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368698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 claims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4368698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Improve identification and documentation of injury-related claims.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188757" y="182880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188757" y="205740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Bill accurately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8188757" y="245059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billing accuracy and reimbursement follow-up.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48640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548640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Stop leakage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Reduce avoidable revenue leakage.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368698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368698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Gain visibility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4368698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Establish clearer visibility into potentially recoverable accounts.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88757" y="3474720"/>
            <a:ext cx="3454298" cy="0"/>
          </a:xfrm>
          <a:prstGeom prst="line">
            <a:avLst/>
          </a:prstGeom>
          <a:noFill/>
          <a:ln w="9525">
            <a:solidFill>
              <a:srgbClr val="C6D2DE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88757" y="3703320"/>
            <a:ext cx="34542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Protect the mission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8188757" y="4096512"/>
            <a:ext cx="345429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Support financial sustainability without compromising access to care.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8521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0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Illustrative sizing: 150,000 ED encounters × 6% with additional coverage × $4,000 net per encounter ≈ $36M per year — a planning model, not a forecast.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 OPPORTUNITY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28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 assumptions into a visible opportunity.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548640" y="1609344"/>
            <a:ext cx="91440" cy="91440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13232" y="1554480"/>
            <a:ext cx="3931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PLANNING ASSUMPTIONS</a:t>
            </a:r>
            <a:endParaRPr lang="en-US" sz="800" dirty="0"/>
          </a:p>
        </p:txBody>
      </p:sp>
      <p:sp>
        <p:nvSpPr>
          <p:cNvPr id="6" name="Shape 4"/>
          <p:cNvSpPr/>
          <p:nvPr/>
        </p:nvSpPr>
        <p:spPr>
          <a:xfrm>
            <a:off x="548640" y="19019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20665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ED encounters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19933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548640" y="24505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48640" y="2450592"/>
            <a:ext cx="2808514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284002" y="24048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25,000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2651760" y="25786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200,000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548640" y="28163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48640" y="29809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3520440" y="29077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548640" y="33649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548640" y="3364992"/>
            <a:ext cx="19659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2441448" y="33192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2%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2651760" y="34930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10%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548640" y="37307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548640" y="38953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incremental net collection</a:t>
            </a:r>
            <a:endParaRPr lang="en-US" sz="1150" dirty="0"/>
          </a:p>
        </p:txBody>
      </p:sp>
      <p:sp>
        <p:nvSpPr>
          <p:cNvPr id="24" name="Text 22"/>
          <p:cNvSpPr txBox="1"/>
          <p:nvPr/>
        </p:nvSpPr>
        <p:spPr>
          <a:xfrm>
            <a:off x="3520440" y="38221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42793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4279392"/>
            <a:ext cx="305816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533648" y="42336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$500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2651760" y="44074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$5,000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548640" y="46451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48640" y="4809744"/>
            <a:ext cx="2971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  </a:t>
            </a:r>
            <a:r>
              <a:rPr lang="en-US" sz="11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Average ED charge</a:t>
            </a:r>
            <a:endParaRPr lang="en-US" sz="1150" dirty="0"/>
          </a:p>
        </p:txBody>
      </p:sp>
      <p:sp>
        <p:nvSpPr>
          <p:cNvPr id="32" name="Text 30"/>
          <p:cNvSpPr txBox="1"/>
          <p:nvPr/>
        </p:nvSpPr>
        <p:spPr>
          <a:xfrm>
            <a:off x="3520440" y="4736592"/>
            <a:ext cx="960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7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$10,000</a:t>
            </a:r>
            <a:endParaRPr lang="en-US" sz="1700" dirty="0"/>
          </a:p>
        </p:txBody>
      </p:sp>
      <p:sp>
        <p:nvSpPr>
          <p:cNvPr id="33" name="Shape 31"/>
          <p:cNvSpPr/>
          <p:nvPr/>
        </p:nvSpPr>
        <p:spPr>
          <a:xfrm>
            <a:off x="548640" y="5193792"/>
            <a:ext cx="3931920" cy="54864"/>
          </a:xfrm>
          <a:prstGeom prst="roundRect">
            <a:avLst>
              <a:gd name="adj" fmla="val 500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548640" y="5193792"/>
            <a:ext cx="2293620" cy="54864"/>
          </a:xfrm>
          <a:prstGeom prst="roundRect">
            <a:avLst>
              <a:gd name="adj" fmla="val 5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769108" y="5148072"/>
            <a:ext cx="146304" cy="14630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A8FA6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4864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$3,000</a:t>
            </a:r>
            <a:endParaRPr lang="en-US" sz="850" dirty="0"/>
          </a:p>
        </p:txBody>
      </p:sp>
      <p:sp>
        <p:nvSpPr>
          <p:cNvPr id="37" name="Text 35"/>
          <p:cNvSpPr txBox="1"/>
          <p:nvPr/>
        </p:nvSpPr>
        <p:spPr>
          <a:xfrm>
            <a:off x="2651760" y="5321808"/>
            <a:ext cx="18288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$15,000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48640" y="5559552"/>
            <a:ext cx="3931920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846320" y="1554480"/>
            <a:ext cx="0" cy="393192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212080" y="1554480"/>
            <a:ext cx="6430975" cy="1097280"/>
          </a:xfrm>
          <a:prstGeom prst="roundRect">
            <a:avLst>
              <a:gd name="adj" fmla="val 3333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468112" y="1755648"/>
            <a:ext cx="2078011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INCREMENTAL NET COLLECTIONS</a:t>
            </a:r>
            <a:endParaRPr lang="en-US" sz="750" dirty="0"/>
          </a:p>
        </p:txBody>
      </p:sp>
      <p:sp>
        <p:nvSpPr>
          <p:cNvPr id="42" name="Text 40"/>
          <p:cNvSpPr txBox="1"/>
          <p:nvPr/>
        </p:nvSpPr>
        <p:spPr>
          <a:xfrm>
            <a:off x="5468112" y="1965960"/>
            <a:ext cx="2078011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800" kern="0" spc="-2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endParaRPr lang="en-US" sz="3800" dirty="0"/>
          </a:p>
        </p:txBody>
      </p:sp>
      <p:sp>
        <p:nvSpPr>
          <p:cNvPr id="43" name="Shape 41"/>
          <p:cNvSpPr/>
          <p:nvPr/>
        </p:nvSpPr>
        <p:spPr>
          <a:xfrm>
            <a:off x="7655851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884451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IDENTIFIED ENCOUNTERS / YEAR</a:t>
            </a:r>
            <a:endParaRPr lang="en-US" sz="750" dirty="0"/>
          </a:p>
        </p:txBody>
      </p:sp>
      <p:sp>
        <p:nvSpPr>
          <p:cNvPr id="45" name="Text 43"/>
          <p:cNvSpPr txBox="1"/>
          <p:nvPr/>
        </p:nvSpPr>
        <p:spPr>
          <a:xfrm>
            <a:off x="7884451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9,000</a:t>
            </a:r>
            <a:endParaRPr lang="en-US" sz="2800" dirty="0"/>
          </a:p>
        </p:txBody>
      </p:sp>
      <p:sp>
        <p:nvSpPr>
          <p:cNvPr id="46" name="Shape 44"/>
          <p:cNvSpPr/>
          <p:nvPr/>
        </p:nvSpPr>
        <p:spPr>
          <a:xfrm>
            <a:off x="9649453" y="1783080"/>
            <a:ext cx="0" cy="640080"/>
          </a:xfrm>
          <a:prstGeom prst="line">
            <a:avLst/>
          </a:prstGeom>
          <a:noFill/>
          <a:ln w="9525">
            <a:solidFill>
              <a:srgbClr val="375F8F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9878053" y="1755648"/>
            <a:ext cx="162784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b="1" kern="0" spc="5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ASSOCIATED GROSS CHARGES / YEAR</a:t>
            </a:r>
            <a:endParaRPr lang="en-US" sz="750" dirty="0"/>
          </a:p>
        </p:txBody>
      </p:sp>
      <p:sp>
        <p:nvSpPr>
          <p:cNvPr id="48" name="Text 46"/>
          <p:cNvSpPr txBox="1"/>
          <p:nvPr/>
        </p:nvSpPr>
        <p:spPr>
          <a:xfrm>
            <a:off x="9878053" y="2029968"/>
            <a:ext cx="162784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8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$90M</a:t>
            </a:r>
            <a:endParaRPr lang="en-US" sz="2800" dirty="0"/>
          </a:p>
        </p:txBody>
      </p:sp>
      <p:sp>
        <p:nvSpPr>
          <p:cNvPr id="49" name="Text 47"/>
          <p:cNvSpPr txBox="1"/>
          <p:nvPr/>
        </p:nvSpPr>
        <p:spPr>
          <a:xfrm>
            <a:off x="5212080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VOLUME &amp; COVERAGE</a:t>
            </a:r>
            <a:endParaRPr lang="en-US" sz="800" dirty="0"/>
          </a:p>
        </p:txBody>
      </p:sp>
      <p:sp>
        <p:nvSpPr>
          <p:cNvPr id="50" name="Text 48"/>
          <p:cNvSpPr txBox="1"/>
          <p:nvPr/>
        </p:nvSpPr>
        <p:spPr>
          <a:xfrm>
            <a:off x="5212080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visible share of every visit.</a:t>
            </a:r>
            <a:endParaRPr lang="en-US" sz="1300" dirty="0"/>
          </a:p>
        </p:txBody>
      </p:sp>
      <p:sp>
        <p:nvSpPr>
          <p:cNvPr id="51" name="Shape 49"/>
          <p:cNvSpPr/>
          <p:nvPr/>
        </p:nvSpPr>
        <p:spPr>
          <a:xfrm>
            <a:off x="521208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536508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551808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567108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582408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97709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613009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>
            <a:off x="628309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43609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>
            <a:off x="658909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74210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9510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704810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>
            <a:off x="720110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735410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>
            <a:off x="7507110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7660112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>
            <a:off x="7813114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7966116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>
            <a:off x="8119118" y="347472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521208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>
            <a:off x="536508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551808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>
            <a:off x="567108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582408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>
            <a:off x="597709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009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>
            <a:off x="628309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>
            <a:off x="643609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>
            <a:off x="658909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>
            <a:off x="674210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>
            <a:off x="689510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>
            <a:off x="704810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720110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5" name="Shape 83"/>
          <p:cNvSpPr/>
          <p:nvPr/>
        </p:nvSpPr>
        <p:spPr>
          <a:xfrm>
            <a:off x="735410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7507110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7660112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7813114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966116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8119118" y="366674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521208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536508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551808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4" name="Shape 92"/>
          <p:cNvSpPr/>
          <p:nvPr/>
        </p:nvSpPr>
        <p:spPr>
          <a:xfrm>
            <a:off x="567108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5" name="Shape 93"/>
          <p:cNvSpPr/>
          <p:nvPr/>
        </p:nvSpPr>
        <p:spPr>
          <a:xfrm>
            <a:off x="582408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597709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13009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628309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643609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658909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674210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689510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3" name="Shape 101"/>
          <p:cNvSpPr/>
          <p:nvPr/>
        </p:nvSpPr>
        <p:spPr>
          <a:xfrm>
            <a:off x="704810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4" name="Shape 102"/>
          <p:cNvSpPr/>
          <p:nvPr/>
        </p:nvSpPr>
        <p:spPr>
          <a:xfrm>
            <a:off x="720110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5" name="Shape 103"/>
          <p:cNvSpPr/>
          <p:nvPr/>
        </p:nvSpPr>
        <p:spPr>
          <a:xfrm>
            <a:off x="735410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6" name="Shape 104"/>
          <p:cNvSpPr/>
          <p:nvPr/>
        </p:nvSpPr>
        <p:spPr>
          <a:xfrm>
            <a:off x="7507110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7660112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7813114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7966116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8119118" y="385876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>
            <a:off x="521208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>
            <a:off x="536508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>
            <a:off x="551808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>
            <a:off x="567108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>
            <a:off x="582408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>
            <a:off x="597709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>
            <a:off x="613009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628309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643609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658909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>
            <a:off x="674210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>
            <a:off x="689510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>
            <a:off x="704810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>
            <a:off x="720110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>
            <a:off x="735410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>
            <a:off x="7507110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>
            <a:off x="7660112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>
            <a:off x="7813114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>
            <a:off x="7966116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8119118" y="4050792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521208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536508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>
            <a:off x="551808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>
            <a:off x="567108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>
            <a:off x="582408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>
            <a:off x="597709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>
            <a:off x="613009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>
            <a:off x="628309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>
            <a:off x="643609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>
            <a:off x="658909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>
            <a:off x="674210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2" name="Shape 140"/>
          <p:cNvSpPr/>
          <p:nvPr/>
        </p:nvSpPr>
        <p:spPr>
          <a:xfrm>
            <a:off x="689510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3" name="Shape 141"/>
          <p:cNvSpPr/>
          <p:nvPr/>
        </p:nvSpPr>
        <p:spPr>
          <a:xfrm>
            <a:off x="704810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>
            <a:off x="720110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>
            <a:off x="735410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>
            <a:off x="7507110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>
            <a:off x="7660112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>
            <a:off x="7813114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>
            <a:off x="7966116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>
            <a:off x="8119118" y="4242816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>
            <a:off x="521208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>
            <a:off x="536508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551808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567108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582408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>
            <a:off x="597709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>
            <a:off x="613009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>
            <a:off x="628309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>
            <a:off x="643609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>
            <a:off x="658909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>
            <a:off x="674210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>
            <a:off x="689510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>
            <a:off x="704810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>
            <a:off x="720110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735410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7507110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7660112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7813114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>
            <a:off x="7966116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>
            <a:off x="8119118" y="4434840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>
            <a:off x="521208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>
            <a:off x="536508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>
            <a:off x="551808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>
            <a:off x="567108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>
            <a:off x="582408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>
            <a:off x="597709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613009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8" name="Shape 176"/>
          <p:cNvSpPr/>
          <p:nvPr/>
        </p:nvSpPr>
        <p:spPr>
          <a:xfrm>
            <a:off x="628309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79" name="Shape 177"/>
          <p:cNvSpPr/>
          <p:nvPr/>
        </p:nvSpPr>
        <p:spPr>
          <a:xfrm>
            <a:off x="643609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658909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674210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>
            <a:off x="689510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>
            <a:off x="704810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>
            <a:off x="720110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>
            <a:off x="735410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>
            <a:off x="7507110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>
            <a:off x="7660112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>
            <a:off x="7813114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>
            <a:off x="7966116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>
            <a:off x="8119118" y="4626864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521208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536508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551808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>
            <a:off x="567108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>
            <a:off x="582408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>
            <a:off x="5977090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>
            <a:off x="6130092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>
            <a:off x="6283094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>
            <a:off x="6436096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>
            <a:off x="6589098" y="4818888"/>
            <a:ext cx="125570" cy="155448"/>
          </a:xfrm>
          <a:prstGeom prst="roundRect">
            <a:avLst>
              <a:gd name="adj" fmla="val 14564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>
            <a:off x="521208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202" name="Text 200"/>
          <p:cNvSpPr txBox="1"/>
          <p:nvPr/>
        </p:nvSpPr>
        <p:spPr>
          <a:xfrm>
            <a:off x="5358384" y="5102352"/>
            <a:ext cx="21031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 identified</a:t>
            </a:r>
            <a:endParaRPr lang="en-US" sz="850" dirty="0"/>
          </a:p>
        </p:txBody>
      </p:sp>
      <p:sp>
        <p:nvSpPr>
          <p:cNvPr id="203" name="Shape 201"/>
          <p:cNvSpPr/>
          <p:nvPr/>
        </p:nvSpPr>
        <p:spPr>
          <a:xfrm>
            <a:off x="7406640" y="5157216"/>
            <a:ext cx="91440" cy="91440"/>
          </a:xfrm>
          <a:prstGeom prst="roundRect">
            <a:avLst>
              <a:gd name="adj" fmla="val 10000"/>
            </a:avLst>
          </a:prstGeom>
          <a:solidFill>
            <a:srgbClr val="CCD6E0"/>
          </a:solidFill>
          <a:ln w="12700">
            <a:solidFill>
              <a:srgbClr val="CCD6E0"/>
            </a:solidFill>
            <a:prstDash val="solid"/>
          </a:ln>
        </p:spPr>
      </p:sp>
      <p:sp>
        <p:nvSpPr>
          <p:cNvPr id="204" name="Text 202"/>
          <p:cNvSpPr txBox="1"/>
          <p:nvPr/>
        </p:nvSpPr>
        <p:spPr>
          <a:xfrm>
            <a:off x="7552944" y="5102352"/>
            <a:ext cx="1463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Other encounters</a:t>
            </a:r>
            <a:endParaRPr lang="en-US" sz="850" dirty="0"/>
          </a:p>
        </p:txBody>
      </p:sp>
      <p:sp>
        <p:nvSpPr>
          <p:cNvPr id="205" name="Text 203"/>
          <p:cNvSpPr txBox="1"/>
          <p:nvPr/>
        </p:nvSpPr>
        <p:spPr>
          <a:xfrm>
            <a:off x="8610448" y="2880360"/>
            <a:ext cx="30326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COVERAGE SENSITIVITY</a:t>
            </a:r>
            <a:endParaRPr lang="en-US" sz="800" dirty="0"/>
          </a:p>
        </p:txBody>
      </p:sp>
      <p:sp>
        <p:nvSpPr>
          <p:cNvPr id="206" name="Text 204"/>
          <p:cNvSpPr txBox="1"/>
          <p:nvPr/>
        </p:nvSpPr>
        <p:spPr>
          <a:xfrm>
            <a:off x="8610448" y="3099816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changes as coverage improves?</a:t>
            </a:r>
            <a:endParaRPr lang="en-US" sz="1300" dirty="0"/>
          </a:p>
        </p:txBody>
      </p:sp>
      <p:sp>
        <p:nvSpPr>
          <p:cNvPr id="207" name="Text 205"/>
          <p:cNvSpPr txBox="1"/>
          <p:nvPr/>
        </p:nvSpPr>
        <p:spPr>
          <a:xfrm>
            <a:off x="8610448" y="3429000"/>
            <a:ext cx="30326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$36M</a:t>
            </a:r>
            <a:r>
              <a:rPr lang="en-US" sz="9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at 6% identified coverage</a:t>
            </a:r>
            <a:endParaRPr lang="en-US" sz="900" dirty="0"/>
          </a:p>
        </p:txBody>
      </p:sp>
      <p:graphicFrame>
        <p:nvGraphicFramePr>
          <p:cNvPr id="208" name="Chart 0"/>
          <p:cNvGraphicFramePr/>
          <p:nvPr/>
        </p:nvGraphicFramePr>
        <p:xfrm>
          <a:off x="8519008" y="3703320"/>
          <a:ext cx="3124048" cy="16916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209" name="Shape 206"/>
          <p:cNvSpPr/>
          <p:nvPr/>
        </p:nvSpPr>
        <p:spPr>
          <a:xfrm>
            <a:off x="548640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0" name="Text 207"/>
          <p:cNvSpPr txBox="1"/>
          <p:nvPr/>
        </p:nvSpPr>
        <p:spPr>
          <a:xfrm>
            <a:off x="731520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ENCOUNTERS</a:t>
            </a:r>
            <a:endParaRPr lang="en-US" sz="750" dirty="0"/>
          </a:p>
        </p:txBody>
      </p:sp>
      <p:sp>
        <p:nvSpPr>
          <p:cNvPr id="211" name="Text 208"/>
          <p:cNvSpPr txBox="1"/>
          <p:nvPr/>
        </p:nvSpPr>
        <p:spPr>
          <a:xfrm>
            <a:off x="731520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150,000</a:t>
            </a:r>
            <a:endParaRPr lang="en-US" sz="1500" dirty="0"/>
          </a:p>
        </p:txBody>
      </p:sp>
      <p:sp>
        <p:nvSpPr>
          <p:cNvPr id="212" name="Text 209"/>
          <p:cNvSpPr txBox="1"/>
          <p:nvPr/>
        </p:nvSpPr>
        <p:spPr>
          <a:xfrm>
            <a:off x="3047924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3" name="Shape 210"/>
          <p:cNvSpPr/>
          <p:nvPr/>
        </p:nvSpPr>
        <p:spPr>
          <a:xfrm>
            <a:off x="3413684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4" name="Text 211"/>
          <p:cNvSpPr txBox="1"/>
          <p:nvPr/>
        </p:nvSpPr>
        <p:spPr>
          <a:xfrm>
            <a:off x="3596564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COVERAGE</a:t>
            </a:r>
            <a:endParaRPr lang="en-US" sz="750" dirty="0"/>
          </a:p>
        </p:txBody>
      </p:sp>
      <p:sp>
        <p:nvSpPr>
          <p:cNvPr id="215" name="Text 212"/>
          <p:cNvSpPr txBox="1"/>
          <p:nvPr/>
        </p:nvSpPr>
        <p:spPr>
          <a:xfrm>
            <a:off x="3596564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6%</a:t>
            </a:r>
            <a:endParaRPr lang="en-US" sz="1500" dirty="0"/>
          </a:p>
        </p:txBody>
      </p:sp>
      <p:sp>
        <p:nvSpPr>
          <p:cNvPr id="216" name="Text 213"/>
          <p:cNvSpPr txBox="1"/>
          <p:nvPr/>
        </p:nvSpPr>
        <p:spPr>
          <a:xfrm>
            <a:off x="5912968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×</a:t>
            </a:r>
            <a:endParaRPr lang="en-US" sz="1600" dirty="0"/>
          </a:p>
        </p:txBody>
      </p:sp>
      <p:sp>
        <p:nvSpPr>
          <p:cNvPr id="217" name="Shape 214"/>
          <p:cNvSpPr/>
          <p:nvPr/>
        </p:nvSpPr>
        <p:spPr>
          <a:xfrm>
            <a:off x="6278728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18" name="Text 215"/>
          <p:cNvSpPr txBox="1"/>
          <p:nvPr/>
        </p:nvSpPr>
        <p:spPr>
          <a:xfrm>
            <a:off x="6461608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 COLLECTION / ENCOUNTER</a:t>
            </a:r>
            <a:endParaRPr lang="en-US" sz="750" dirty="0"/>
          </a:p>
        </p:txBody>
      </p:sp>
      <p:sp>
        <p:nvSpPr>
          <p:cNvPr id="219" name="Text 216"/>
          <p:cNvSpPr txBox="1"/>
          <p:nvPr/>
        </p:nvSpPr>
        <p:spPr>
          <a:xfrm>
            <a:off x="6461608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$4,000</a:t>
            </a:r>
            <a:endParaRPr lang="en-US" sz="1500" dirty="0"/>
          </a:p>
        </p:txBody>
      </p:sp>
      <p:sp>
        <p:nvSpPr>
          <p:cNvPr id="220" name="Text 217"/>
          <p:cNvSpPr txBox="1"/>
          <p:nvPr/>
        </p:nvSpPr>
        <p:spPr>
          <a:xfrm>
            <a:off x="8778011" y="5532120"/>
            <a:ext cx="3657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=</a:t>
            </a:r>
            <a:endParaRPr lang="en-US" sz="1600" dirty="0"/>
          </a:p>
        </p:txBody>
      </p:sp>
      <p:sp>
        <p:nvSpPr>
          <p:cNvPr id="221" name="Shape 218"/>
          <p:cNvSpPr/>
          <p:nvPr/>
        </p:nvSpPr>
        <p:spPr>
          <a:xfrm>
            <a:off x="9143771" y="5532120"/>
            <a:ext cx="2499284" cy="566928"/>
          </a:xfrm>
          <a:prstGeom prst="roundRect">
            <a:avLst>
              <a:gd name="adj" fmla="val 4839"/>
            </a:avLst>
          </a:prstGeom>
          <a:solidFill>
            <a:srgbClr val="E0F1F6"/>
          </a:solidFill>
          <a:ln w="12700">
            <a:solidFill>
              <a:srgbClr val="E0F1F6"/>
            </a:solidFill>
            <a:prstDash val="solid"/>
          </a:ln>
        </p:spPr>
      </p:sp>
      <p:sp>
        <p:nvSpPr>
          <p:cNvPr id="222" name="Text 219"/>
          <p:cNvSpPr txBox="1"/>
          <p:nvPr/>
        </p:nvSpPr>
        <p:spPr>
          <a:xfrm>
            <a:off x="9326651" y="5623560"/>
            <a:ext cx="21335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750" kern="0" spc="10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ANNUAL NET COLLECTIONS</a:t>
            </a:r>
            <a:endParaRPr lang="en-US" sz="750" dirty="0"/>
          </a:p>
        </p:txBody>
      </p:sp>
      <p:sp>
        <p:nvSpPr>
          <p:cNvPr id="223" name="Text 220"/>
          <p:cNvSpPr txBox="1"/>
          <p:nvPr/>
        </p:nvSpPr>
        <p:spPr>
          <a:xfrm>
            <a:off x="9326651" y="5797296"/>
            <a:ext cx="21335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$36,000,000</a:t>
            </a:r>
            <a:endParaRPr lang="en-US" sz="1500" dirty="0"/>
          </a:p>
        </p:txBody>
      </p:sp>
      <p:sp>
        <p:nvSpPr>
          <p:cNvPr id="224" name="Text 2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PARTNERSHIP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90-day pilot.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57784" y="1975104"/>
            <a:ext cx="3496970" cy="365760"/>
          </a:xfrm>
          <a:prstGeom prst="rect">
            <a:avLst/>
          </a:prstGeom>
          <a:solidFill>
            <a:srgbClr val="DBE8F7"/>
          </a:solidFill>
          <a:ln w="12700">
            <a:solidFill>
              <a:srgbClr val="DBE8F7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777240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01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2306269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 – 15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777240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777240" y="2532888"/>
            <a:ext cx="342036" cy="73152"/>
          </a:xfrm>
          <a:prstGeom prst="roundRect">
            <a:avLst>
              <a:gd name="adj" fmla="val 37500"/>
            </a:avLst>
          </a:prstGeom>
          <a:solidFill>
            <a:srgbClr val="5B8FD6"/>
          </a:solidFill>
          <a:ln w="12700">
            <a:solidFill>
              <a:srgbClr val="5B8FD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2939186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 of 90 days</a:t>
            </a:r>
            <a:endParaRPr lang="en-US" sz="85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Discovery &amp; Baseline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Review current injury-related registration, payer identification, billing, and follow-up. Agree on pilot scope, eligibility criteria, compliance requirements, and baseline measures.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338218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347362" y="1975104"/>
            <a:ext cx="3496970" cy="36576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566818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02</a:t>
            </a:r>
            <a:endParaRPr lang="en-US" sz="900" dirty="0"/>
          </a:p>
        </p:txBody>
      </p:sp>
      <p:sp>
        <p:nvSpPr>
          <p:cNvPr id="16" name="Text 14"/>
          <p:cNvSpPr txBox="1"/>
          <p:nvPr/>
        </p:nvSpPr>
        <p:spPr>
          <a:xfrm>
            <a:off x="6095848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16 – 60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66818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66818" y="2532888"/>
            <a:ext cx="1026109" cy="73152"/>
          </a:xfrm>
          <a:prstGeom prst="roundRect">
            <a:avLst>
              <a:gd name="adj" fmla="val 37500"/>
            </a:avLst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728765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45 of 90 days</a:t>
            </a:r>
            <a:endParaRPr lang="en-US" sz="850" dirty="0"/>
          </a:p>
        </p:txBody>
      </p:sp>
      <p:sp>
        <p:nvSpPr>
          <p:cNvPr id="20" name="Text 18"/>
          <p:cNvSpPr txBox="1"/>
          <p:nvPr/>
        </p:nvSpPr>
        <p:spPr>
          <a:xfrm>
            <a:off x="4566818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Identification &amp; Investigation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566818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Evaluate designated encounters, conduct authorized patient outreach, identify alternative payer sources, and coordinate verified findings with existing hospital teams.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8127797" y="1965960"/>
            <a:ext cx="3515258" cy="2240280"/>
          </a:xfrm>
          <a:prstGeom prst="roundRect">
            <a:avLst>
              <a:gd name="adj" fmla="val 2041"/>
            </a:avLst>
          </a:prstGeom>
          <a:solidFill>
            <a:srgbClr val="FFFFFF"/>
          </a:solidFill>
          <a:ln w="9525">
            <a:solidFill>
              <a:srgbClr val="D4DCE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136941" y="1975104"/>
            <a:ext cx="3496970" cy="365760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356397" y="1965960"/>
            <a:ext cx="17576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03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9885426" y="1965960"/>
            <a:ext cx="152902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b="1" kern="0" spc="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DAYS 61 – 90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8356397" y="2532888"/>
            <a:ext cx="2052218" cy="73152"/>
          </a:xfrm>
          <a:prstGeom prst="roundRect">
            <a:avLst>
              <a:gd name="adj" fmla="val 37500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8356397" y="2532888"/>
            <a:ext cx="684073" cy="73152"/>
          </a:xfrm>
          <a:prstGeom prst="roundRect">
            <a:avLst>
              <a:gd name="adj" fmla="val 37500"/>
            </a:avLst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0518343" y="245973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 of 90 days</a:t>
            </a:r>
            <a:endParaRPr lang="en-US" sz="850" dirty="0"/>
          </a:p>
        </p:txBody>
      </p:sp>
      <p:sp>
        <p:nvSpPr>
          <p:cNvPr id="29" name="Text 27"/>
          <p:cNvSpPr txBox="1"/>
          <p:nvPr/>
        </p:nvSpPr>
        <p:spPr>
          <a:xfrm>
            <a:off x="8356397" y="2743200"/>
            <a:ext cx="305805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kern="0" spc="-3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Validation &amp; Review</a:t>
            </a:r>
            <a:endParaRPr lang="en-US" sz="1500" dirty="0"/>
          </a:p>
        </p:txBody>
      </p:sp>
      <p:sp>
        <p:nvSpPr>
          <p:cNvPr id="30" name="Text 28"/>
          <p:cNvSpPr txBox="1"/>
          <p:nvPr/>
        </p:nvSpPr>
        <p:spPr>
          <a:xfrm>
            <a:off x="8356397" y="3108960"/>
            <a:ext cx="305805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Reconcile outcomes, review billing corrections and collections, assess operational impact, and recommend continued monitoring and potential expansion.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48640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48640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777240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TO READ THE PILOT</a:t>
            </a:r>
            <a:endParaRPr lang="en-US" sz="800" dirty="0"/>
          </a:p>
        </p:txBody>
      </p:sp>
      <p:sp>
        <p:nvSpPr>
          <p:cNvPr id="34" name="Text 32"/>
          <p:cNvSpPr txBox="1"/>
          <p:nvPr/>
        </p:nvSpPr>
        <p:spPr>
          <a:xfrm>
            <a:off x="777240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Many claims take longer than 90 days to resolve. The pilot measures </a:t>
            </a:r>
            <a:r>
              <a:rPr lang="en-US" sz="105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 indicators</a:t>
            </a: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and any collections realized; final financial performance is reviewed as the identified account cohort matures.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338218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4338218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566818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COOK COUNTY HEALTH PROVIDES</a:t>
            </a:r>
            <a:endParaRPr lang="en-US" sz="800" dirty="0"/>
          </a:p>
        </p:txBody>
      </p:sp>
      <p:sp>
        <p:nvSpPr>
          <p:cNvPr id="38" name="Text 36"/>
          <p:cNvSpPr txBox="1"/>
          <p:nvPr/>
        </p:nvSpPr>
        <p:spPr>
          <a:xfrm>
            <a:off x="4566818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agreed pilot scope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current TPL/WC workflow data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data-access terms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8127797" y="4480560"/>
            <a:ext cx="3515258" cy="1719072"/>
          </a:xfrm>
          <a:prstGeom prst="roundRect">
            <a:avLst>
              <a:gd name="adj" fmla="val 2128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8127797" y="4480560"/>
            <a:ext cx="3515258" cy="45720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356397" y="4709160"/>
            <a:ext cx="305805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LABORFORCE PROVIDES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8356397" y="4983480"/>
            <a:ext cx="3058058" cy="11247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Screening, specialist review, and case investigation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Dedicated patient outreach and lien administration support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3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reporting at days 30, 60, and 90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r>
              <a:rPr lang="en-US" sz="900" dirty="0">
                <a:solidFill>
                  <a:srgbClr val="D4DC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PROPOSED SUCCESS METRICS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Transparent. Measurable.</a:t>
            </a:r>
            <a:endParaRPr lang="en-US" sz="3000" dirty="0"/>
          </a:p>
          <a:p>
            <a:pPr marL="0" indent="0">
              <a:lnSpc>
                <a:spcPct val="100000"/>
              </a:lnSpc>
              <a:buNone/>
            </a:pPr>
            <a:r>
              <a:rPr lang="en-US" sz="3000" kern="0" spc="-100" dirty="0">
                <a:solidFill>
                  <a:srgbClr val="6A7F9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Jointly reviewed.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48640" y="2011680"/>
            <a:ext cx="2602154" cy="54864"/>
          </a:xfrm>
          <a:prstGeom prst="rect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77240" y="2313432"/>
            <a:ext cx="128016" cy="128016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1005840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Leading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777240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Early signals that cases are being found and verified</a:t>
            </a:r>
            <a:endParaRPr lang="en-US" sz="950" dirty="0"/>
          </a:p>
        </p:txBody>
      </p:sp>
      <p:sp>
        <p:nvSpPr>
          <p:cNvPr id="9" name="Text 7"/>
          <p:cNvSpPr txBox="1"/>
          <p:nvPr/>
        </p:nvSpPr>
        <p:spPr>
          <a:xfrm>
            <a:off x="777240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Encounters screened and flagged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Number and % with verified additional responsible-party coverage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Accounts accepted for billing correction or recovery action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379394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3379394" y="2011680"/>
            <a:ext cx="2602154" cy="54864"/>
          </a:xfrm>
          <a:prstGeom prst="rect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07994" y="2313432"/>
            <a:ext cx="128016" cy="128016"/>
          </a:xfrm>
          <a:prstGeom prst="ellipse">
            <a:avLst/>
          </a:prstGeom>
          <a:solidFill>
            <a:srgbClr val="0C3C75"/>
          </a:solidFill>
          <a:ln w="12700">
            <a:solidFill>
              <a:srgbClr val="0C3C7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3836594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Financial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607994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the program returns, net of adjustments</a:t>
            </a:r>
            <a:endParaRPr lang="en-US" sz="950" dirty="0"/>
          </a:p>
        </p:txBody>
      </p:sp>
      <p:sp>
        <p:nvSpPr>
          <p:cNvPr id="15" name="Text 13"/>
          <p:cNvSpPr txBox="1"/>
          <p:nvPr/>
        </p:nvSpPr>
        <p:spPr>
          <a:xfrm>
            <a:off x="3607994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Additional collections attributable to the program, net of reversals and adjustments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Incremental net revenue after program costs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210148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210148" y="2011680"/>
            <a:ext cx="2602154" cy="54864"/>
          </a:xfrm>
          <a:prstGeom prst="rect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438748" y="2313432"/>
            <a:ext cx="128016" cy="128016"/>
          </a:xfrm>
          <a:prstGeom prst="ellipse">
            <a:avLst/>
          </a:prstGeom>
          <a:solidFill>
            <a:srgbClr val="2F6FB5"/>
          </a:solidFill>
          <a:ln w="12700">
            <a:solidFill>
              <a:srgbClr val="2F6FB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6667348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Operational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38748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Effect on hospital teams and account flow</a:t>
            </a:r>
            <a:endParaRPr lang="en-US" sz="950" dirty="0"/>
          </a:p>
        </p:txBody>
      </p:sp>
      <p:sp>
        <p:nvSpPr>
          <p:cNvPr id="21" name="Text 19"/>
          <p:cNvSpPr txBox="1"/>
          <p:nvPr/>
        </p:nvSpPr>
        <p:spPr>
          <a:xfrm>
            <a:off x="6438748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Staff workload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Turnaround time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Unresolved account aging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9040901" y="2011680"/>
            <a:ext cx="2602154" cy="2240280"/>
          </a:xfrm>
          <a:prstGeom prst="roundRect">
            <a:avLst>
              <a:gd name="adj" fmla="val 1633"/>
            </a:avLst>
          </a:prstGeom>
          <a:solidFill>
            <a:srgbClr val="E8EDF3"/>
          </a:solidFill>
          <a:ln w="12700">
            <a:solidFill>
              <a:srgbClr val="E8EDF3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9040901" y="2011680"/>
            <a:ext cx="2602154" cy="54864"/>
          </a:xfrm>
          <a:prstGeom prst="rect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9269501" y="2313432"/>
            <a:ext cx="128016" cy="128016"/>
          </a:xfrm>
          <a:prstGeom prst="ellipse">
            <a:avLst/>
          </a:prstGeom>
          <a:solidFill>
            <a:srgbClr val="7A95AD"/>
          </a:solidFill>
          <a:ln w="12700">
            <a:solidFill>
              <a:srgbClr val="7A95AD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9498101" y="2212848"/>
            <a:ext cx="196207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500" b="1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Quality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9269501" y="2578608"/>
            <a:ext cx="214495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9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Safeguards that stay in place throughout</a:t>
            </a:r>
            <a:endParaRPr lang="en-US" sz="950" dirty="0"/>
          </a:p>
        </p:txBody>
      </p:sp>
      <p:sp>
        <p:nvSpPr>
          <p:cNvPr id="27" name="Text 25"/>
          <p:cNvSpPr txBox="1"/>
          <p:nvPr/>
        </p:nvSpPr>
        <p:spPr>
          <a:xfrm>
            <a:off x="9269501" y="3017520"/>
            <a:ext cx="214495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Patient experience</a:t>
            </a:r>
            <a:endParaRPr lang="en-US" sz="1050" dirty="0"/>
          </a:p>
          <a:p>
            <a:pPr marL="152400" indent="-152400">
              <a:lnSpc>
                <a:spcPct val="112000"/>
              </a:lnSpc>
              <a:spcAft>
                <a:spcPts val="400"/>
              </a:spcAft>
              <a:buSzPct val="100000"/>
              <a:buChar char="●"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Documentation quality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48640" y="4526280"/>
            <a:ext cx="11094415" cy="0"/>
          </a:xfrm>
          <a:prstGeom prst="line">
            <a:avLst/>
          </a:prstGeom>
          <a:noFill/>
          <a:ln w="9525">
            <a:solidFill>
              <a:srgbClr val="D4DCE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548640" y="47091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800" b="1" kern="0" spc="150" dirty="0">
                <a:solidFill>
                  <a:srgbClr val="0A8F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JOINT REVIEW CADENCE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640080" y="5184648"/>
            <a:ext cx="10911535" cy="0"/>
          </a:xfrm>
          <a:prstGeom prst="line">
            <a:avLst/>
          </a:prstGeom>
          <a:noFill/>
          <a:ln w="19050">
            <a:solidFill>
              <a:srgbClr val="D4DCE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48640" y="5093208"/>
            <a:ext cx="182880" cy="182880"/>
          </a:xfrm>
          <a:prstGeom prst="ellipse">
            <a:avLst/>
          </a:prstGeom>
          <a:solidFill>
            <a:srgbClr val="0A8FA6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548640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LAUNCH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548640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Scope, eligibility criteria, and baseline agreed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3322244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322244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30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3322244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Baseline confirmed; screening volumes and first flagged cohort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6095848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38" name="Text 36"/>
          <p:cNvSpPr txBox="1"/>
          <p:nvPr/>
        </p:nvSpPr>
        <p:spPr>
          <a:xfrm>
            <a:off x="6095848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60</a:t>
            </a:r>
            <a:endParaRPr lang="en-US" sz="900" dirty="0"/>
          </a:p>
        </p:txBody>
      </p:sp>
      <p:sp>
        <p:nvSpPr>
          <p:cNvPr id="39" name="Text 37"/>
          <p:cNvSpPr txBox="1"/>
          <p:nvPr/>
        </p:nvSpPr>
        <p:spPr>
          <a:xfrm>
            <a:off x="6095848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Verification rate, accounts accepted for correction, staff workload impact</a:t>
            </a:r>
            <a:endParaRPr lang="en-US" sz="1050" dirty="0"/>
          </a:p>
        </p:txBody>
      </p:sp>
      <p:sp>
        <p:nvSpPr>
          <p:cNvPr id="40" name="Shape 38"/>
          <p:cNvSpPr/>
          <p:nvPr/>
        </p:nvSpPr>
        <p:spPr>
          <a:xfrm>
            <a:off x="8869451" y="5093208"/>
            <a:ext cx="182880" cy="1828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8FA6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869451" y="5413248"/>
            <a:ext cx="24992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b="1" kern="0" spc="100" dirty="0">
                <a:solidFill>
                  <a:srgbClr val="0C3C7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DAY 90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8869451" y="5641848"/>
            <a:ext cx="240784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4A5B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Collections to date, cohort maturity, and a joint decision on continuation</a:t>
            </a:r>
            <a:endParaRPr lang="en-US" sz="1050" dirty="0"/>
          </a:p>
        </p:txBody>
      </p:sp>
      <p:sp>
        <p:nvSpPr>
          <p:cNvPr id="43" name="Text 4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6E7E9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11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900" kern="0" spc="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r>
              <a:rPr lang="en-US" sz="900" dirty="0">
                <a:solidFill>
                  <a:srgbClr val="375F8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   |   </a:t>
            </a:r>
            <a:r>
              <a:rPr lang="en-US" sz="900" b="1" kern="0" spc="2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</a:t>
            </a:r>
            <a:endParaRPr lang="en-US" sz="9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77724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3000" kern="0" spc="-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ask: a 90-day pilot at </a:t>
            </a:r>
            <a:r>
              <a:rPr lang="en-US" sz="3000" kern="0" spc="-100" dirty="0">
                <a:solidFill>
                  <a:srgbClr val="7FD3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John H. Stroger, Jr. Hospital.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554480"/>
            <a:ext cx="9509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Strengthen Cook County Health's fiscal resilience while supporting accessible, high-quality care for the community — through a focused, transparent, and measurable pilot, reviewed jointly at days 30, 60, and 90.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48640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850" dirty="0"/>
          </a:p>
        </p:txBody>
      </p:sp>
      <p:sp>
        <p:nvSpPr>
          <p:cNvPr id="8" name="Text 6"/>
          <p:cNvSpPr txBox="1"/>
          <p:nvPr/>
        </p:nvSpPr>
        <p:spPr>
          <a:xfrm>
            <a:off x="822960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Confirm sponsor &amp; scope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Executive sponsor and pilot scope at Stroger Hospital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338218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612538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612538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850" dirty="0"/>
          </a:p>
        </p:txBody>
      </p:sp>
      <p:sp>
        <p:nvSpPr>
          <p:cNvPr id="13" name="Text 11"/>
          <p:cNvSpPr txBox="1"/>
          <p:nvPr/>
        </p:nvSpPr>
        <p:spPr>
          <a:xfrm>
            <a:off x="4612538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baseline data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4612538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 volume, payer mix, and the current TPL/WC workflow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127797" y="2606040"/>
            <a:ext cx="3515258" cy="1737360"/>
          </a:xfrm>
          <a:prstGeom prst="roundRect">
            <a:avLst>
              <a:gd name="adj" fmla="val 2632"/>
            </a:avLst>
          </a:prstGeom>
          <a:solidFill>
            <a:srgbClr val="1B487E"/>
          </a:solidFill>
          <a:ln w="9525">
            <a:solidFill>
              <a:srgbClr val="2C5687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8402117" y="2880360"/>
            <a:ext cx="292608" cy="292608"/>
          </a:xfrm>
          <a:prstGeom prst="ellipse">
            <a:avLst/>
          </a:prstGeom>
          <a:solidFill>
            <a:srgbClr val="0A8FA6"/>
          </a:solidFill>
          <a:ln w="12700">
            <a:solidFill>
              <a:srgbClr val="0A8F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8402117" y="28803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8402117" y="3300984"/>
            <a:ext cx="296661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kern="0" spc="-3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Agree &amp; launch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8402117" y="3648456"/>
            <a:ext cx="29666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Compliance requirements and success metrics; launch Phase 1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892040"/>
            <a:ext cx="2011680" cy="1234440"/>
          </a:xfrm>
          <a:prstGeom prst="roundRect">
            <a:avLst>
              <a:gd name="adj" fmla="val 370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21" name="Image 0" descr="E:/Claude/laborforce-deck/brand/logo_full_lar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2960" y="5029200"/>
            <a:ext cx="1463040" cy="962863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619695" y="5303520"/>
            <a:ext cx="4023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7619695" y="5605272"/>
            <a:ext cx="4023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lnSpc>
                <a:spcPct val="125000"/>
              </a:lnSpc>
              <a:buNone/>
            </a:pPr>
            <a:r>
              <a:rPr lang="en-US" sz="1050" dirty="0">
                <a:solidFill>
                  <a:srgbClr val="C3D2E3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We look forward to discussing the pilot with your leadership team.</a:t>
            </a:r>
            <a:endParaRPr lang="en-US" sz="1050" dirty="0"/>
          </a:p>
        </p:txBody>
      </p:sp>
      <p:sp>
        <p:nvSpPr>
          <p:cNvPr id="24" name="Text 21"/>
          <p:cNvSpPr txBox="1"/>
          <p:nvPr/>
        </p:nvSpPr>
        <p:spPr>
          <a:xfrm>
            <a:off x="9814255" y="6455664"/>
            <a:ext cx="1828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en-US" sz="800" kern="0" spc="150" dirty="0">
                <a:solidFill>
                  <a:srgbClr val="94A9C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aborForce">
  <a:themeElements>
    <a:clrScheme name="LaborForce">
      <a:dk1>
        <a:srgbClr val="15283D"/>
      </a:dk1>
      <a:lt1>
        <a:srgbClr val="FFFFFF"/>
      </a:lt1>
      <a:dk2>
        <a:srgbClr val="0C3C75"/>
      </a:dk2>
      <a:lt2>
        <a:srgbClr val="F4F6F9"/>
      </a:lt2>
      <a:accent1>
        <a:srgbClr val="0A8FA6"/>
      </a:accent1>
      <a:accent2>
        <a:srgbClr val="E0F1F6"/>
      </a:accent2>
      <a:accent3>
        <a:srgbClr val="7FD3E3"/>
      </a:accent3>
      <a:accent4>
        <a:srgbClr val="4A5B6E"/>
      </a:accent4>
      <a:accent5>
        <a:srgbClr val="6E7E90"/>
      </a:accent5>
      <a:accent6>
        <a:srgbClr val="D4DCE6"/>
      </a:accent6>
      <a:hlink>
        <a:srgbClr val="0A8FA6"/>
      </a:hlink>
      <a:folHlink>
        <a:srgbClr val="4A5B6E"/>
      </a:folHlink>
    </a:clrScheme>
    <a:fontScheme name="LaborForce">
      <a:majorFont>
        <a:latin typeface="Segoe UI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Segoe U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1544</Words>
  <Application>Microsoft Office PowerPoint</Application>
  <PresentationFormat>Widescreen</PresentationFormat>
  <Paragraphs>264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Segoe UI</vt:lpstr>
      <vt:lpstr>LaborForce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LaborForce Medical Management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LaborForce Medical Management — Cook County Health Executive Briefing</dc:title>
  <dc:subject>90-day TPL/Workers' Comp revenue-recovery pilot</dc:subject>
  <dc:creator>LaborForce Medical Management</dc:creator>
  <cp:lastModifiedBy>a83192</cp:lastModifiedBy>
  <cp:revision>2</cp:revision>
  <dcterms:created xsi:type="dcterms:W3CDTF">2026-10-26T21:58:19Z</dcterms:created>
  <dcterms:modified xsi:type="dcterms:W3CDTF">2026-10-26T21:58:59Z</dcterms:modified>
</cp:coreProperties>
</file>