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solidFill>
              <a:srgbClr val="0A8FA6"/>
            </a:solidFill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invertIfNegative val="0"/>
          <c:dLbls>
            <c:numFmt formatCode="&quot;$&quot;0&quot;M&quot;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4A5B6E"/>
                    </a:solidFill>
                    <a:latin typeface="Segoe UI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2%</c:v>
                  </c:pt>
                  <c:pt idx="1">
                    <c:v>3%</c:v>
                  </c:pt>
                  <c:pt idx="2">
                    <c:v>4%</c:v>
                  </c:pt>
                  <c:pt idx="3">
                    <c:v>5%</c:v>
                  </c:pt>
                  <c:pt idx="4">
                    <c:v>6%</c:v>
                  </c:pt>
                  <c:pt idx="5">
                    <c:v>7%</c:v>
                  </c:pt>
                  <c:pt idx="6">
                    <c:v>8%</c:v>
                  </c:pt>
                  <c:pt idx="7">
                    <c:v>9%</c:v>
                  </c:pt>
                  <c:pt idx="8">
                    <c:v>10%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</c:v>
                </c:pt>
                <c:pt idx="1">
                  <c:v>18</c:v>
                </c:pt>
                <c:pt idx="2">
                  <c:v>24</c:v>
                </c:pt>
                <c:pt idx="3">
                  <c:v>30</c:v>
                </c:pt>
                <c:pt idx="4">
                  <c:v>36</c:v>
                </c:pt>
                <c:pt idx="5">
                  <c:v>42</c:v>
                </c:pt>
                <c:pt idx="6">
                  <c:v>48</c:v>
                </c:pt>
                <c:pt idx="7">
                  <c:v>54</c:v>
                </c:pt>
                <c:pt idx="8">
                  <c:v>60</c:v>
                </c:pt>
              </c:numCache>
            </c:numRef>
          </c:val>
          <c:smooth val="0"/>
        </c:ser>
        <c:dLbls>
          <c:numFmt formatCode="&quot;$&quot;0&quot;M&quot;" sourceLinked="0"/>
          <c:txPr>
            <a:bodyPr/>
            <a:lstStyle/>
            <a:p>
              <a:pPr>
                <a:defRPr b="0" i="0" strike="noStrike" sz="750" u="none">
                  <a:solidFill>
                    <a:srgbClr val="4A5B6E"/>
                  </a:solidFill>
                  <a:latin typeface="Segoe UI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Cover. Program results are program-reported figures from Chicago-area partner hospitals, March–July 2026; not independently attributed.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Static version of the interactive planning model at its starting scenario: 150,000 ED encounters × 6% additional coverage × $4,000 net per encounter = $36M per year; 9,000 identified encounters; $153M associated gross charges at a $17,000 average ED charge. Each figure in the grid = 1,000 ED encounters. Illustrative planning model, not a forecast.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382512"/>
            <a:ext cx="11094415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455664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LABORFORCE MEDICAL MANAGEMENT</a:t>
            </a:r>
            <a:endParaRPr lang="en-US" sz="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VY">
    <p:bg>
      <p:bgPr>
        <a:solidFill>
          <a:srgbClr val="0C3C7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382512"/>
            <a:ext cx="11094415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455664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94A9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LABORFORCE MEDICAL MANAGEMENT</a:t>
            </a:r>
            <a:endParaRPr lang="en-US" sz="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0C3C7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382512"/>
            <a:ext cx="11094415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455664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94A9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FOR DISCUSSION PURPOSES</a:t>
            </a:r>
            <a:endParaRPr lang="en-US" sz="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25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 deliver care. We recover revenue.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45920"/>
            <a:ext cx="66751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600" spc="-15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Uncovering revenue.</a:t>
            </a:r>
            <a:endParaRPr lang="en-US" sz="3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3600" spc="-150" kern="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Strengthening hospital performance.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52044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strategic revenue identification and recovery partnership — extending Cook County Health's revenue cycle, not replacing it.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4846320"/>
            <a:ext cx="6675120" cy="0"/>
          </a:xfrm>
          <a:prstGeom prst="line">
            <a:avLst/>
          </a:prstGeom>
          <a:noFill/>
          <a:ln w="19050">
            <a:solidFill>
              <a:srgbClr val="0C3C7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5047488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PREPARED FOR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5285232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Cook County Health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Executive Leadership — CEO · CFO · COO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3657600" y="504748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PREPARED BY</a:t>
            </a:r>
            <a:endParaRPr lang="en-US" sz="800" dirty="0"/>
          </a:p>
        </p:txBody>
      </p:sp>
      <p:pic>
        <p:nvPicPr>
          <p:cNvPr id="9" name="Image 0" descr="E:/Claude/laborforce-deck/brand/logo_full_lar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0" y="5266944"/>
            <a:ext cx="896112" cy="589788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577840" y="5047488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BRIEFING</a:t>
            </a:r>
            <a:endParaRPr lang="en-US" sz="800" dirty="0"/>
          </a:p>
        </p:txBody>
      </p:sp>
      <p:sp>
        <p:nvSpPr>
          <p:cNvPr id="11" name="Text 8"/>
          <p:cNvSpPr txBox="1"/>
          <p:nvPr/>
        </p:nvSpPr>
        <p:spPr>
          <a:xfrm>
            <a:off x="5577840" y="5285232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Executive proposal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October 2026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548640" y="6382512"/>
            <a:ext cx="66751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48640" y="6455664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FOR DISCUSSION PURPOSES</a:t>
            </a:r>
            <a:endParaRPr lang="en-US" sz="800" dirty="0"/>
          </a:p>
        </p:txBody>
      </p:sp>
      <p:sp>
        <p:nvSpPr>
          <p:cNvPr id="14" name="Text 11"/>
          <p:cNvSpPr txBox="1"/>
          <p:nvPr/>
        </p:nvSpPr>
        <p:spPr>
          <a:xfrm>
            <a:off x="5394960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spc="150" kern="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/ 10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7726680" y="0"/>
            <a:ext cx="4465015" cy="6858000"/>
          </a:xfrm>
          <a:prstGeom prst="rect">
            <a:avLst/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726680" y="0"/>
            <a:ext cx="54864" cy="6858000"/>
          </a:xfrm>
          <a:prstGeom prst="rect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183880" y="548640"/>
            <a:ext cx="359633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 A GLANCE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8183880" y="914400"/>
            <a:ext cx="3596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spc="-2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+336%</a:t>
            </a:r>
            <a:endParaRPr lang="en-US" sz="3800" dirty="0"/>
          </a:p>
        </p:txBody>
      </p:sp>
      <p:sp>
        <p:nvSpPr>
          <p:cNvPr id="19" name="Text 16"/>
          <p:cNvSpPr txBox="1"/>
          <p:nvPr/>
        </p:nvSpPr>
        <p:spPr>
          <a:xfrm>
            <a:off x="8183880" y="1517904"/>
            <a:ext cx="3596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Monthly TPL recoveries at Chicago-area partner hospitals, March – July 2026 ($33K → $144K)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8183880" y="1993392"/>
            <a:ext cx="3596335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183880" y="2103120"/>
            <a:ext cx="3596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spc="-2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90%+</a:t>
            </a:r>
            <a:endParaRPr lang="en-US" sz="3800" dirty="0"/>
          </a:p>
        </p:txBody>
      </p:sp>
      <p:sp>
        <p:nvSpPr>
          <p:cNvPr id="22" name="Text 19"/>
          <p:cNvSpPr txBox="1"/>
          <p:nvPr/>
        </p:nvSpPr>
        <p:spPr>
          <a:xfrm>
            <a:off x="8183880" y="2706624"/>
            <a:ext cx="3596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Payer identification accuracy, up from under 30%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8183880" y="3182112"/>
            <a:ext cx="3596335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183880" y="3291840"/>
            <a:ext cx="3596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spc="-2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79%</a:t>
            </a:r>
            <a:endParaRPr lang="en-US" sz="3800" dirty="0"/>
          </a:p>
        </p:txBody>
      </p:sp>
      <p:sp>
        <p:nvSpPr>
          <p:cNvPr id="25" name="Text 22"/>
          <p:cNvSpPr txBox="1"/>
          <p:nvPr/>
        </p:nvSpPr>
        <p:spPr>
          <a:xfrm>
            <a:off x="8183880" y="3895344"/>
            <a:ext cx="3596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 screened July encounters verified (141 of 178)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8092440" y="4754880"/>
            <a:ext cx="3779215" cy="914400"/>
          </a:xfrm>
          <a:prstGeom prst="roundRect">
            <a:avLst>
              <a:gd name="adj" fmla="val 4000"/>
            </a:avLst>
          </a:prstGeom>
          <a:solidFill>
            <a:srgbClr val="1D4A7F"/>
          </a:solidFill>
          <a:ln w="12700">
            <a:solidFill>
              <a:srgbClr val="1D4A7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275320" y="4937760"/>
            <a:ext cx="359633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ASK</a:t>
            </a:r>
            <a:endParaRPr lang="en-US" sz="800" dirty="0"/>
          </a:p>
        </p:txBody>
      </p:sp>
      <p:sp>
        <p:nvSpPr>
          <p:cNvPr id="28" name="Text 25"/>
          <p:cNvSpPr txBox="1"/>
          <p:nvPr/>
        </p:nvSpPr>
        <p:spPr>
          <a:xfrm>
            <a:off x="8275320" y="5175504"/>
            <a:ext cx="3413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90-day pilot at John H. Stroger, Jr. Hospital</a:t>
            </a:r>
            <a:endParaRPr lang="en-US" sz="1250" dirty="0"/>
          </a:p>
        </p:txBody>
      </p:sp>
      <p:sp>
        <p:nvSpPr>
          <p:cNvPr id="29" name="Text 26"/>
          <p:cNvSpPr txBox="1"/>
          <p:nvPr/>
        </p:nvSpPr>
        <p:spPr>
          <a:xfrm>
            <a:off x="8183880" y="6080760"/>
            <a:ext cx="35963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EA4B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Program-reported figures; not independently attributed.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pPr indent="0" marL="0">
              <a:buNone/>
            </a:pP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pPr indent="0" marL="0">
              <a:buNone/>
            </a:pPr>
            <a:r>
              <a:rPr lang="en-US" sz="900" b="1" spc="200" kern="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EXECUTIVE SUMMARY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spc="-10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Extending your revenue cycle</a:t>
            </a:r>
            <a:pPr indent="0" marL="0">
              <a:lnSpc>
                <a:spcPct val="100000"/>
              </a:lnSpc>
              <a:buNone/>
            </a:pPr>
            <a:r>
              <a:rPr lang="en-US" sz="3000" spc="-100" kern="0" dirty="0">
                <a:solidFill>
                  <a:srgbClr val="6A7F9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not replacing it.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567864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920240"/>
            <a:ext cx="25678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/ CONTEXT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94560"/>
            <a:ext cx="256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spc="-5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pressure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633472"/>
            <a:ext cx="256786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Hospitals face reimbursement challenges, rising operational costs, complex payer requirements, and growing uncompensated care obligations.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390824" y="1737360"/>
            <a:ext cx="2567864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390824" y="1920240"/>
            <a:ext cx="25678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/ OPPORTUNITY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3390824" y="2194560"/>
            <a:ext cx="256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spc="-5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gap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3390824" y="2633472"/>
            <a:ext cx="256786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ED, trauma and other encounters, Workers' Compensation, Third-Party Liability, auto and other responsible-party coverage can go unidentified or unpursued by traditional workflows.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33008" y="1737360"/>
            <a:ext cx="2567864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33008" y="1920240"/>
            <a:ext cx="25678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/ SUPPORT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6233008" y="2194560"/>
            <a:ext cx="256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spc="-5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LaborForce adds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6233008" y="2633472"/>
            <a:ext cx="256786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Specialized payer identification, patient engagement, revenue auditing, payer verification, and lien administration support.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075191" y="1737360"/>
            <a:ext cx="2567864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075191" y="1920240"/>
            <a:ext cx="25678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OUTCOME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9075191" y="2194560"/>
            <a:ext cx="256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spc="-50" kern="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goal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9075191" y="2633472"/>
            <a:ext cx="256786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Identify additional reimbursement, improve revenue realization, and reduce avoidable administrative work — without replacing current systems or teams.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4754880"/>
            <a:ext cx="11094415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49103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IT WORKS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521208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68680" y="5184648"/>
            <a:ext cx="2247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Technology screening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868680" y="5458968"/>
            <a:ext cx="22478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Injury-related encounters are flagged from existing registration and billing data.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3390824" y="521208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3710864" y="5184648"/>
            <a:ext cx="2247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Specialist review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3710864" y="5458968"/>
            <a:ext cx="22478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Analysts determine the likely responsible payer and what information is missing.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6233008" y="521208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6553048" y="5184648"/>
            <a:ext cx="2247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Direct patient contact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553048" y="5458968"/>
            <a:ext cx="22478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Dedicated staff confirm the facts and close gaps, respecting each patient's choices.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9075191" y="521208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9395231" y="5184648"/>
            <a:ext cx="2247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Follow-through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9395231" y="5458968"/>
            <a:ext cx="22478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Billing corrections, lien support, and payer follow-up until the account resolves.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spc="150" kern="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/ 10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pPr indent="0" marL="0">
              <a:buNone/>
            </a:pP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pPr indent="0" marL="0">
              <a:buNone/>
            </a:pPr>
            <a:r>
              <a:rPr lang="en-US" sz="900" b="1" spc="200" kern="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CHALLENGE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spc="-10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that traditional workflows may overlook.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Patients often arrive after workplace incidents, motor vehicle accidents, or injuries involving another liable party. Registration and billing workflows may not consistently capture or resolve: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3526384" cy="896112"/>
          </a:xfrm>
          <a:prstGeom prst="roundRect">
            <a:avLst>
              <a:gd name="adj" fmla="val 4082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2423160"/>
            <a:ext cx="256032" cy="256032"/>
          </a:xfrm>
          <a:prstGeom prst="ellipse">
            <a:avLst/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242316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1143000" y="2103120"/>
            <a:ext cx="274914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Whether the injury occurred while the patient was working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184752" y="2103120"/>
            <a:ext cx="3526384" cy="896112"/>
          </a:xfrm>
          <a:prstGeom prst="roundRect">
            <a:avLst>
              <a:gd name="adj" fmla="val 4082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85920" y="2423160"/>
            <a:ext cx="256032" cy="256032"/>
          </a:xfrm>
          <a:prstGeom prst="ellipse">
            <a:avLst/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385920" y="242316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750" dirty="0"/>
          </a:p>
        </p:txBody>
      </p:sp>
      <p:sp>
        <p:nvSpPr>
          <p:cNvPr id="12" name="Text 10"/>
          <p:cNvSpPr txBox="1"/>
          <p:nvPr/>
        </p:nvSpPr>
        <p:spPr>
          <a:xfrm>
            <a:off x="4779112" y="2103120"/>
            <a:ext cx="274914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Whether a motor vehicle or other third party may be responsible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108960"/>
            <a:ext cx="3526384" cy="896112"/>
          </a:xfrm>
          <a:prstGeom prst="roundRect">
            <a:avLst>
              <a:gd name="adj" fmla="val 4082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49808" y="3429000"/>
            <a:ext cx="256032" cy="256032"/>
          </a:xfrm>
          <a:prstGeom prst="ellipse">
            <a:avLst/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49808" y="34290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750" dirty="0"/>
          </a:p>
        </p:txBody>
      </p:sp>
      <p:sp>
        <p:nvSpPr>
          <p:cNvPr id="16" name="Text 14"/>
          <p:cNvSpPr txBox="1"/>
          <p:nvPr/>
        </p:nvSpPr>
        <p:spPr>
          <a:xfrm>
            <a:off x="1143000" y="3108960"/>
            <a:ext cx="274914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Whether another insurer or payer should be investigated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184752" y="3108960"/>
            <a:ext cx="3526384" cy="896112"/>
          </a:xfrm>
          <a:prstGeom prst="roundRect">
            <a:avLst>
              <a:gd name="adj" fmla="val 4082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85920" y="3429000"/>
            <a:ext cx="256032" cy="256032"/>
          </a:xfrm>
          <a:prstGeom prst="ellipse">
            <a:avLst/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385920" y="34290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750" dirty="0"/>
          </a:p>
        </p:txBody>
      </p:sp>
      <p:sp>
        <p:nvSpPr>
          <p:cNvPr id="20" name="Text 18"/>
          <p:cNvSpPr txBox="1"/>
          <p:nvPr/>
        </p:nvSpPr>
        <p:spPr>
          <a:xfrm>
            <a:off x="4779112" y="3108960"/>
            <a:ext cx="274914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Whether the hospital has the right claim, attorney, or payer information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" y="4114800"/>
            <a:ext cx="3526384" cy="896112"/>
          </a:xfrm>
          <a:prstGeom prst="roundRect">
            <a:avLst>
              <a:gd name="adj" fmla="val 4082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49808" y="4434840"/>
            <a:ext cx="256032" cy="256032"/>
          </a:xfrm>
          <a:prstGeom prst="ellipse">
            <a:avLst/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49808" y="44348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750" dirty="0"/>
          </a:p>
        </p:txBody>
      </p:sp>
      <p:sp>
        <p:nvSpPr>
          <p:cNvPr id="24" name="Text 22"/>
          <p:cNvSpPr txBox="1"/>
          <p:nvPr/>
        </p:nvSpPr>
        <p:spPr>
          <a:xfrm>
            <a:off x="1143000" y="4114800"/>
            <a:ext cx="274914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Whether a hospital lien is available, documented, and followed up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4184752" y="4114800"/>
            <a:ext cx="3526384" cy="896112"/>
          </a:xfrm>
          <a:prstGeom prst="roundRect">
            <a:avLst>
              <a:gd name="adj" fmla="val 4082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385920" y="4434840"/>
            <a:ext cx="256032" cy="256032"/>
          </a:xfrm>
          <a:prstGeom prst="ellipse">
            <a:avLst/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385920" y="44348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</a:t>
            </a:r>
            <a:endParaRPr lang="en-US" sz="750" dirty="0"/>
          </a:p>
        </p:txBody>
      </p:sp>
      <p:sp>
        <p:nvSpPr>
          <p:cNvPr id="28" name="Text 26"/>
          <p:cNvSpPr txBox="1"/>
          <p:nvPr/>
        </p:nvSpPr>
        <p:spPr>
          <a:xfrm>
            <a:off x="4779112" y="4114800"/>
            <a:ext cx="274914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Whether unresolved cases need investigation after discharge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8076895" y="2103120"/>
            <a:ext cx="3566160" cy="2907792"/>
          </a:xfrm>
          <a:prstGeom prst="roundRect">
            <a:avLst>
              <a:gd name="adj" fmla="val 1572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78063" y="230428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THE REVENUE GOES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8278063" y="2615184"/>
            <a:ext cx="3163824" cy="573024"/>
          </a:xfrm>
          <a:prstGeom prst="roundRect">
            <a:avLst>
              <a:gd name="adj" fmla="val 4787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415223" y="2697480"/>
            <a:ext cx="28895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-2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Injury-related encounter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415223" y="2916936"/>
            <a:ext cx="2889504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Workplace injury, motor vehicle accident, or incident involving a third party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9859975" y="3233928"/>
            <a:ext cx="0" cy="146304"/>
          </a:xfrm>
          <a:prstGeom prst="line">
            <a:avLst/>
          </a:prstGeom>
          <a:noFill/>
          <a:ln w="15875">
            <a:solidFill>
              <a:srgbClr val="0A8FA6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8278063" y="3425952"/>
            <a:ext cx="3163824" cy="573024"/>
          </a:xfrm>
          <a:prstGeom prst="roundRect">
            <a:avLst>
              <a:gd name="adj" fmla="val 4787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415223" y="3508248"/>
            <a:ext cx="28895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-2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Responsible payer missed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8415223" y="3727704"/>
            <a:ext cx="2889504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identified at registration, or identified but not followed through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9859975" y="4044696"/>
            <a:ext cx="0" cy="146304"/>
          </a:xfrm>
          <a:prstGeom prst="line">
            <a:avLst/>
          </a:prstGeom>
          <a:noFill/>
          <a:ln w="15875">
            <a:solidFill>
              <a:srgbClr val="0A8FA6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8278063" y="4236720"/>
            <a:ext cx="3163824" cy="573024"/>
          </a:xfrm>
          <a:prstGeom prst="roundRect">
            <a:avLst>
              <a:gd name="adj" fmla="val 4787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415223" y="4319016"/>
            <a:ext cx="28895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-2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Absorbed by the hospital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8415223" y="4538472"/>
            <a:ext cx="2889504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Written off as bad debt or uncompensated care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48640" y="5532120"/>
            <a:ext cx="11094415" cy="658368"/>
          </a:xfrm>
          <a:prstGeom prst="rect">
            <a:avLst/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5532120"/>
            <a:ext cx="45720" cy="658368"/>
          </a:xfrm>
          <a:prstGeom prst="rect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822960" y="576986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CONSEQUENCE</a:t>
            </a:r>
            <a:endParaRPr lang="en-US" sz="800" dirty="0"/>
          </a:p>
        </p:txBody>
      </p:sp>
      <p:sp>
        <p:nvSpPr>
          <p:cNvPr id="45" name="Text 43"/>
          <p:cNvSpPr txBox="1"/>
          <p:nvPr/>
        </p:nvSpPr>
        <p:spPr>
          <a:xfrm>
            <a:off x="2560320" y="5532120"/>
            <a:ext cx="8808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 reimbursement opportunities may remain unidentified, incorrectly routed, delayed, or insufficiently pursued.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spc="150" kern="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/ 10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94A9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pPr indent="0" marL="0">
              <a:buNone/>
            </a:pPr>
            <a:r>
              <a:rPr lang="en-US" sz="900" dirty="0">
                <a:solidFill>
                  <a:srgbClr val="375F8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pPr indent="0" marL="0">
              <a:buNone/>
            </a:pPr>
            <a:r>
              <a:rPr lang="en-US" sz="900" b="1" spc="200" kern="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LABORFORCE SOLUTION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800" spc="-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specialized operational layer.</a:t>
            </a:r>
            <a:endParaRPr lang="en-US" sz="2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800" spc="-100" kern="0" dirty="0">
                <a:solidFill>
                  <a:srgbClr val="9FC0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Five critical functions.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731520"/>
          </a:xfrm>
          <a:prstGeom prst="roundRect">
            <a:avLst>
              <a:gd name="adj" fmla="val 5000"/>
            </a:avLst>
          </a:prstGeom>
          <a:solidFill>
            <a:srgbClr val="1F4C80"/>
          </a:solidFill>
          <a:ln w="9525">
            <a:solidFill>
              <a:srgbClr val="2F5A8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9568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OUTCOME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139696"/>
            <a:ext cx="106372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Correct payer identified · lien documented · reimbursement recovered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359152"/>
            <a:ext cx="106372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3D2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Verified findings flow back into the hospital's own billing and collections.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 flipV="1">
            <a:off x="5821528" y="2596896"/>
            <a:ext cx="548640" cy="182880"/>
          </a:xfrm>
          <a:prstGeom prst="triangl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816352"/>
            <a:ext cx="11094415" cy="2331720"/>
          </a:xfrm>
          <a:prstGeom prst="roundRect">
            <a:avLst>
              <a:gd name="adj" fmla="val 1569"/>
            </a:avLst>
          </a:prstGeom>
          <a:solidFill>
            <a:srgbClr val="0677AE"/>
          </a:solidFill>
          <a:ln w="12700">
            <a:solidFill>
              <a:srgbClr val="0677A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95351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LABORFORCE LAYER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777240" y="3227832"/>
            <a:ext cx="2017715" cy="1737360"/>
          </a:xfrm>
          <a:prstGeom prst="roundRect">
            <a:avLst>
              <a:gd name="adj" fmla="val 15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23544" y="336499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923544" y="3575304"/>
            <a:ext cx="17433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spc="-2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Proactive Revenue Identification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23544" y="4014216"/>
            <a:ext cx="17433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 injury-related encounters, identify potentially responsible payers, and prioritize accounts for investigation.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932115" y="3227832"/>
            <a:ext cx="2017715" cy="1737360"/>
          </a:xfrm>
          <a:prstGeom prst="roundRect">
            <a:avLst>
              <a:gd name="adj" fmla="val 15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078419" y="336499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3078419" y="3575304"/>
            <a:ext cx="17433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spc="-2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Dedicated Patient Engagement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3078419" y="4014216"/>
            <a:ext cx="17433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Outreach to verify injury circumstances and collect missing claim, employer, insurer, or attorney information.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086990" y="3227832"/>
            <a:ext cx="2017715" cy="1737360"/>
          </a:xfrm>
          <a:prstGeom prst="roundRect">
            <a:avLst>
              <a:gd name="adj" fmla="val 15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233294" y="336499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5233294" y="3575304"/>
            <a:ext cx="17433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spc="-2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Payer Verification &amp; RCM Coordination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5233294" y="4014216"/>
            <a:ext cx="17433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Coordinate findings with registration, billing, and revenue cycle teams for payer determination and follow-up.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7241865" y="3227832"/>
            <a:ext cx="2017715" cy="1737360"/>
          </a:xfrm>
          <a:prstGeom prst="roundRect">
            <a:avLst>
              <a:gd name="adj" fmla="val 15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388169" y="336499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7388169" y="3575304"/>
            <a:ext cx="17433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spc="-2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Auditing &amp; Reconciliation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7388169" y="4014216"/>
            <a:ext cx="17433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Monitor unresolved cases, flag missing or inconsistent information, and track case status and reimbursement.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9396740" y="3227832"/>
            <a:ext cx="2017715" cy="1737360"/>
          </a:xfrm>
          <a:prstGeom prst="roundRect">
            <a:avLst>
              <a:gd name="adj" fmla="val 15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543044" y="336499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9543044" y="3575304"/>
            <a:ext cx="17433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spc="-2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Lien Administration &amp; Recovery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9543044" y="4014216"/>
            <a:ext cx="17433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Support approved lien documentation, follow-up, and reimbursement tracking within the legal and contractual framework.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 flipV="1">
            <a:off x="5821528" y="5184648"/>
            <a:ext cx="548640" cy="182880"/>
          </a:xfrm>
          <a:prstGeom prst="triangl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48640" y="5404104"/>
            <a:ext cx="11094415" cy="795528"/>
          </a:xfrm>
          <a:prstGeom prst="roundRect">
            <a:avLst>
              <a:gd name="adj" fmla="val 4598"/>
            </a:avLst>
          </a:prstGeom>
          <a:solidFill>
            <a:srgbClr val="061F45"/>
          </a:solidFill>
          <a:ln w="9525">
            <a:solidFill>
              <a:srgbClr val="2A4A7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77240" y="552297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9FC0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EXISTING HOSPITAL REVENUE CYCLE</a:t>
            </a:r>
            <a:endParaRPr lang="en-US" sz="800" dirty="0"/>
          </a:p>
        </p:txBody>
      </p:sp>
      <p:sp>
        <p:nvSpPr>
          <p:cNvPr id="34" name="Text 32"/>
          <p:cNvSpPr txBox="1"/>
          <p:nvPr/>
        </p:nvSpPr>
        <p:spPr>
          <a:xfrm>
            <a:off x="777240" y="5705856"/>
            <a:ext cx="106372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Registration · Billing · Collections · Revenue cycle teams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777240" y="5925312"/>
            <a:ext cx="10637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AEBF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Unchanged. LaborForce works alongside these teams — uncovering and advancing opportunities they may not have the specialized resources to fully investigate.</a:t>
            </a:r>
            <a:endParaRPr lang="en-US" sz="950" dirty="0"/>
          </a:p>
        </p:txBody>
      </p:sp>
      <p:sp>
        <p:nvSpPr>
          <p:cNvPr id="36" name="Text 3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spc="150" kern="0" dirty="0">
                <a:solidFill>
                  <a:srgbClr val="94A9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10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pPr indent="0" marL="0">
              <a:buNone/>
            </a:pP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pPr indent="0" marL="0">
              <a:buNone/>
            </a:pPr>
            <a:r>
              <a:rPr lang="en-US" sz="900" b="1" spc="200" kern="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EXPERIENCE WITH HEALTHCARE PARTNERS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spc="-10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Proven operating experience</a:t>
            </a:r>
            <a:endParaRPr lang="en-US" sz="3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000" spc="-100" kern="0" dirty="0">
                <a:solidFill>
                  <a:srgbClr val="6A7F9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Chicago-area hospitals.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5410048" cy="187452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pic>
        <p:nvPicPr>
          <p:cNvPr id="5" name="Image 0" descr="E:/Claude/laborforce-deck/brand/nm_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60120" y="2523744"/>
            <a:ext cx="3508092" cy="6583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60120" y="3429000"/>
            <a:ext cx="4587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NORTHWESTERN MEDICINE · CURRENT PROGRAM PARTNER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6233008" y="2011680"/>
            <a:ext cx="5410048" cy="187452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pic>
        <p:nvPicPr>
          <p:cNvPr id="8" name="Image 1" descr="E:/Claude/laborforce-deck/brand/hph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4488" y="2395728"/>
            <a:ext cx="3150048" cy="9144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644488" y="3429000"/>
            <a:ext cx="4587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HUMBOLDT PARK HEALTH · CURRENT PROGRAM PARTNER</a:t>
            </a:r>
            <a:endParaRPr lang="en-US" sz="850" dirty="0"/>
          </a:p>
        </p:txBody>
      </p:sp>
      <p:sp>
        <p:nvSpPr>
          <p:cNvPr id="10" name="Shape 6"/>
          <p:cNvSpPr/>
          <p:nvPr/>
        </p:nvSpPr>
        <p:spPr>
          <a:xfrm>
            <a:off x="548640" y="4160520"/>
            <a:ext cx="11094415" cy="2011680"/>
          </a:xfrm>
          <a:prstGeom prst="roundRect">
            <a:avLst>
              <a:gd name="adj" fmla="val 2273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441655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PROGRAM RESULTS · MARCH – JULY 2026</a:t>
            </a:r>
            <a:endParaRPr lang="en-US" sz="800" dirty="0"/>
          </a:p>
        </p:txBody>
      </p:sp>
      <p:sp>
        <p:nvSpPr>
          <p:cNvPr id="12" name="Text 8"/>
          <p:cNvSpPr txBox="1"/>
          <p:nvPr/>
        </p:nvSpPr>
        <p:spPr>
          <a:xfrm>
            <a:off x="6751015" y="441655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Program-reported; not independently attributed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868680" y="4818888"/>
            <a:ext cx="23392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spc="-15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+336%</a:t>
            </a:r>
            <a:endParaRPr lang="en-US" sz="3200" dirty="0"/>
          </a:p>
        </p:txBody>
      </p:sp>
      <p:sp>
        <p:nvSpPr>
          <p:cNvPr id="14" name="Text 10"/>
          <p:cNvSpPr txBox="1"/>
          <p:nvPr/>
        </p:nvSpPr>
        <p:spPr>
          <a:xfrm>
            <a:off x="868680" y="5422392"/>
            <a:ext cx="23392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Monthly TPL recoveries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$33K → $144K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3317672" y="4892040"/>
            <a:ext cx="0" cy="100584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3482264" y="4818888"/>
            <a:ext cx="23392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spc="-15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90%+</a:t>
            </a:r>
            <a:endParaRPr lang="en-US" sz="3200" dirty="0"/>
          </a:p>
        </p:txBody>
      </p:sp>
      <p:sp>
        <p:nvSpPr>
          <p:cNvPr id="17" name="Text 13"/>
          <p:cNvSpPr txBox="1"/>
          <p:nvPr/>
        </p:nvSpPr>
        <p:spPr>
          <a:xfrm>
            <a:off x="3482264" y="5422392"/>
            <a:ext cx="23392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Payer identification accuracy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up from under 30%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5931256" y="4892040"/>
            <a:ext cx="0" cy="100584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095848" y="4818888"/>
            <a:ext cx="23392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spc="-15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141 / 178</a:t>
            </a:r>
            <a:endParaRPr lang="en-US" sz="3200" dirty="0"/>
          </a:p>
        </p:txBody>
      </p:sp>
      <p:sp>
        <p:nvSpPr>
          <p:cNvPr id="20" name="Text 16"/>
          <p:cNvSpPr txBox="1"/>
          <p:nvPr/>
        </p:nvSpPr>
        <p:spPr>
          <a:xfrm>
            <a:off x="6095848" y="5422392"/>
            <a:ext cx="23392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July encounters verified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79% of those screened</a:t>
            </a:r>
            <a:endParaRPr lang="en-US" sz="1050" dirty="0"/>
          </a:p>
        </p:txBody>
      </p:sp>
      <p:sp>
        <p:nvSpPr>
          <p:cNvPr id="21" name="Shape 17"/>
          <p:cNvSpPr/>
          <p:nvPr/>
        </p:nvSpPr>
        <p:spPr>
          <a:xfrm>
            <a:off x="8544839" y="4892040"/>
            <a:ext cx="0" cy="100584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8709431" y="4818888"/>
            <a:ext cx="23392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spc="-15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$198,940</a:t>
            </a:r>
            <a:endParaRPr lang="en-US" sz="3200" dirty="0"/>
          </a:p>
        </p:txBody>
      </p:sp>
      <p:sp>
        <p:nvSpPr>
          <p:cNvPr id="23" name="Text 19"/>
          <p:cNvSpPr txBox="1"/>
          <p:nvPr/>
        </p:nvSpPr>
        <p:spPr>
          <a:xfrm>
            <a:off x="8709431" y="5422392"/>
            <a:ext cx="23392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Charges on 32 Workers' Comp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cases identified in July</a:t>
            </a:r>
            <a:endParaRPr lang="en-US" sz="1050" dirty="0"/>
          </a:p>
        </p:txBody>
      </p:sp>
      <p:sp>
        <p:nvSpPr>
          <p:cNvPr id="24" name="Text 20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spc="150" kern="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10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</a:t>
            </a:r>
            <a:pPr indent="0" marL="0">
              <a:buNone/>
            </a:pP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pPr indent="0" marL="0">
              <a:buNone/>
            </a:pPr>
            <a:r>
              <a:rPr lang="en-US" sz="900" b="1" spc="200" kern="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OPPORTUNITY AT COOK COUNTY HEALTH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800" spc="-10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focused TPL/WC program for a high-volume safety-net system.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454298" cy="0"/>
          </a:xfrm>
          <a:prstGeom prst="line">
            <a:avLst/>
          </a:prstGeom>
          <a:noFill/>
          <a:ln w="9525">
            <a:solidFill>
              <a:srgbClr val="C6D2D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057400"/>
            <a:ext cx="34542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-3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Find coverage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450592"/>
            <a:ext cx="34542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Evaluate whether additional responsible-party coverage exists for selected encounters.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68698" y="1828800"/>
            <a:ext cx="3454298" cy="0"/>
          </a:xfrm>
          <a:prstGeom prst="line">
            <a:avLst/>
          </a:prstGeom>
          <a:noFill/>
          <a:ln w="9525">
            <a:solidFill>
              <a:srgbClr val="C6D2D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368698" y="2057400"/>
            <a:ext cx="34542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-3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Document claims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368698" y="2450592"/>
            <a:ext cx="34542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Improve identification and documentation of injury-related claims.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188757" y="1828800"/>
            <a:ext cx="3454298" cy="0"/>
          </a:xfrm>
          <a:prstGeom prst="line">
            <a:avLst/>
          </a:prstGeom>
          <a:noFill/>
          <a:ln w="9525">
            <a:solidFill>
              <a:srgbClr val="C6D2D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88757" y="2057400"/>
            <a:ext cx="34542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-3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Bill accurately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188757" y="2450592"/>
            <a:ext cx="34542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Strengthen billing accuracy and reimbursement follow-up.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3474720"/>
            <a:ext cx="3454298" cy="0"/>
          </a:xfrm>
          <a:prstGeom prst="line">
            <a:avLst/>
          </a:prstGeom>
          <a:noFill/>
          <a:ln w="9525">
            <a:solidFill>
              <a:srgbClr val="C6D2D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703320"/>
            <a:ext cx="34542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-3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Stop leakage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096512"/>
            <a:ext cx="34542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Reduce avoidable revenue leakage.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368698" y="3474720"/>
            <a:ext cx="3454298" cy="0"/>
          </a:xfrm>
          <a:prstGeom prst="line">
            <a:avLst/>
          </a:prstGeom>
          <a:noFill/>
          <a:ln w="9525">
            <a:solidFill>
              <a:srgbClr val="C6D2D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368698" y="3703320"/>
            <a:ext cx="34542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-3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Gain visibility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4368698" y="4096512"/>
            <a:ext cx="34542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Establish clearer visibility into potentially recoverable accounts.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188757" y="3474720"/>
            <a:ext cx="3454298" cy="0"/>
          </a:xfrm>
          <a:prstGeom prst="line">
            <a:avLst/>
          </a:prstGeom>
          <a:noFill/>
          <a:ln w="9525">
            <a:solidFill>
              <a:srgbClr val="C6D2D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188757" y="3703320"/>
            <a:ext cx="34542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-3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Protect the mission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8188757" y="4096512"/>
            <a:ext cx="34542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Support financial sustainability without compromising access to care.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58521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Illustrative sizing: 150,000 ED encounters × 6% with additional coverage × $4,000 net per encounter ≈ $36M per year — a planning model, not a forecast.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spc="150" kern="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 / 10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</a:t>
            </a:r>
            <a:pPr indent="0" marL="0">
              <a:buNone/>
            </a:pP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pPr indent="0" marL="0">
              <a:buNone/>
            </a:pPr>
            <a:r>
              <a:rPr lang="en-US" sz="900" b="1" spc="200" kern="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800" spc="-10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assumptions into a visible opportunity.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934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55448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ASSUMPTIONS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48640" y="190195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06654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pPr indent="0" marL="0">
              <a:buNone/>
            </a:pP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3520440" y="1993392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700" b="1" spc="-5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548640" y="245059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450592"/>
            <a:ext cx="2808514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84002" y="2404872"/>
            <a:ext cx="146304" cy="14630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5786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25,000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2651760" y="25786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548640" y="281635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298094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pPr indent="0" marL="0">
              <a:buNone/>
            </a:pP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3520440" y="2907792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700" b="1" spc="-5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548640" y="336499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3364992"/>
            <a:ext cx="196596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441448" y="3319272"/>
            <a:ext cx="146304" cy="14630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34930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2651760" y="34930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10%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48640" y="373075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389534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pPr indent="0" marL="0">
              <a:buNone/>
            </a:pP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520440" y="3822192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700" b="1" spc="-5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427939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4279392"/>
            <a:ext cx="1649957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125445" y="4233672"/>
            <a:ext cx="146304" cy="14630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44074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$1,063</a:t>
            </a:r>
            <a:endParaRPr lang="en-US" sz="850" dirty="0"/>
          </a:p>
        </p:txBody>
      </p:sp>
      <p:sp>
        <p:nvSpPr>
          <p:cNvPr id="29" name="Text 27"/>
          <p:cNvSpPr txBox="1"/>
          <p:nvPr/>
        </p:nvSpPr>
        <p:spPr>
          <a:xfrm>
            <a:off x="2651760" y="44074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$8,062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548640" y="464515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48640" y="480974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pPr indent="0" marL="0">
              <a:buNone/>
            </a:pP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3520440" y="4736592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700" b="1" spc="-5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$17,000</a:t>
            </a:r>
            <a:endParaRPr lang="en-US" sz="1700" dirty="0"/>
          </a:p>
        </p:txBody>
      </p:sp>
      <p:sp>
        <p:nvSpPr>
          <p:cNvPr id="33" name="Shape 31"/>
          <p:cNvSpPr/>
          <p:nvPr/>
        </p:nvSpPr>
        <p:spPr>
          <a:xfrm>
            <a:off x="548640" y="519379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48640" y="5193792"/>
            <a:ext cx="3194685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670173" y="5148072"/>
            <a:ext cx="146304" cy="14630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48640" y="53218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37" name="Text 35"/>
          <p:cNvSpPr txBox="1"/>
          <p:nvPr/>
        </p:nvSpPr>
        <p:spPr>
          <a:xfrm>
            <a:off x="2651760" y="53218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$20,000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548640" y="555955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846320" y="1554480"/>
            <a:ext cx="0" cy="393192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212080" y="1554480"/>
            <a:ext cx="6430975" cy="1097280"/>
          </a:xfrm>
          <a:prstGeom prst="roundRect">
            <a:avLst>
              <a:gd name="adj" fmla="val 3333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468112" y="1755648"/>
            <a:ext cx="20780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50" kern="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42" name="Text 40"/>
          <p:cNvSpPr txBox="1"/>
          <p:nvPr/>
        </p:nvSpPr>
        <p:spPr>
          <a:xfrm>
            <a:off x="5468112" y="1965960"/>
            <a:ext cx="2078011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spc="-2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$36M</a:t>
            </a:r>
            <a:endParaRPr lang="en-US" sz="3800" dirty="0"/>
          </a:p>
        </p:txBody>
      </p:sp>
      <p:sp>
        <p:nvSpPr>
          <p:cNvPr id="43" name="Shape 41"/>
          <p:cNvSpPr/>
          <p:nvPr/>
        </p:nvSpPr>
        <p:spPr>
          <a:xfrm>
            <a:off x="7655851" y="1783080"/>
            <a:ext cx="0" cy="64008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7884451" y="1755648"/>
            <a:ext cx="162784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50" kern="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45" name="Text 43"/>
          <p:cNvSpPr txBox="1"/>
          <p:nvPr/>
        </p:nvSpPr>
        <p:spPr>
          <a:xfrm>
            <a:off x="7884451" y="2029968"/>
            <a:ext cx="16278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spc="-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9,000</a:t>
            </a:r>
            <a:endParaRPr lang="en-US" sz="2800" dirty="0"/>
          </a:p>
        </p:txBody>
      </p:sp>
      <p:sp>
        <p:nvSpPr>
          <p:cNvPr id="46" name="Shape 44"/>
          <p:cNvSpPr/>
          <p:nvPr/>
        </p:nvSpPr>
        <p:spPr>
          <a:xfrm>
            <a:off x="9649453" y="1783080"/>
            <a:ext cx="0" cy="64008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9878053" y="1755648"/>
            <a:ext cx="162784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50" kern="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48" name="Text 46"/>
          <p:cNvSpPr txBox="1"/>
          <p:nvPr/>
        </p:nvSpPr>
        <p:spPr>
          <a:xfrm>
            <a:off x="9878053" y="2029968"/>
            <a:ext cx="16278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spc="-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$153M</a:t>
            </a:r>
            <a:endParaRPr lang="en-US" sz="2800" dirty="0"/>
          </a:p>
        </p:txBody>
      </p:sp>
      <p:sp>
        <p:nvSpPr>
          <p:cNvPr id="49" name="Text 47"/>
          <p:cNvSpPr txBox="1"/>
          <p:nvPr/>
        </p:nvSpPr>
        <p:spPr>
          <a:xfrm>
            <a:off x="5212080" y="288036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50" name="Text 48"/>
          <p:cNvSpPr txBox="1"/>
          <p:nvPr/>
        </p:nvSpPr>
        <p:spPr>
          <a:xfrm>
            <a:off x="5212080" y="309981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5212080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5365082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518084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671086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824088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977090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130092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283094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6436096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589098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742100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895102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7048104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201106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354108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507110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7660112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7813114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966116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8119118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212080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365082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518084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671086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5824088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5977090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130092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283094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436096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589098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6742100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6895102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7048104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7201106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7354108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7507110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7660112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7813114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7966116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8119118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212080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365082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5518084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5671086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5824088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5977090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130092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283094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436096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589098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6742100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6895102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048104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201106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354108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507110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660112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813114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7966116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19118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65082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18084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671086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77090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130092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283094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436096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589098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742100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895102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7048104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201106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354108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507110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660112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813114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966116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8119118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5212080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5365082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5518084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671086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824088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977090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6130092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6283094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6436096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6589098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6742100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895102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7048104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7201106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7354108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7507110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7660112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7813114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7966116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8119118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5212080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5365082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5518084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5671086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5824088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5977090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6130092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6283094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6436096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6589098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6742100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6895102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7048104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7201106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7354108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7507110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7660112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7813114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7966116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8119118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5212080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5365082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5518084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5671086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5824088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5977090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6130092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6283094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6436096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6589098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6742100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6895102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048104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7201106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7354108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7507110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7660112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7813114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7966116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8119118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212080" y="481888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365082" y="481888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5518084" y="481888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5671086" y="481888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5824088" y="481888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5977090" y="481888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130092" y="481888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283094" y="481888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436096" y="481888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589098" y="481888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5212080" y="5157216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2" name="Text 200"/>
          <p:cNvSpPr txBox="1"/>
          <p:nvPr/>
        </p:nvSpPr>
        <p:spPr>
          <a:xfrm>
            <a:off x="5358384" y="5102352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03" name="Shape 201"/>
          <p:cNvSpPr/>
          <p:nvPr/>
        </p:nvSpPr>
        <p:spPr>
          <a:xfrm>
            <a:off x="7406640" y="5157216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Text 202"/>
          <p:cNvSpPr txBox="1"/>
          <p:nvPr/>
        </p:nvSpPr>
        <p:spPr>
          <a:xfrm>
            <a:off x="7552944" y="510235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05" name="Text 203"/>
          <p:cNvSpPr txBox="1"/>
          <p:nvPr/>
        </p:nvSpPr>
        <p:spPr>
          <a:xfrm>
            <a:off x="8610448" y="288036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06" name="Text 204"/>
          <p:cNvSpPr txBox="1"/>
          <p:nvPr/>
        </p:nvSpPr>
        <p:spPr>
          <a:xfrm>
            <a:off x="8610448" y="309981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07" name="Text 205"/>
          <p:cNvSpPr txBox="1"/>
          <p:nvPr/>
        </p:nvSpPr>
        <p:spPr>
          <a:xfrm>
            <a:off x="8610448" y="342900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$36M</a:t>
            </a:r>
            <a:pPr indent="0" marL="0">
              <a:buNone/>
            </a:pP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208" name="Chart 0" descr=""/>
          <p:cNvGraphicFramePr/>
          <p:nvPr/>
        </p:nvGraphicFramePr>
        <p:xfrm>
          <a:off x="8519008" y="3703320"/>
          <a:ext cx="312404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09" name="Shape 206"/>
          <p:cNvSpPr/>
          <p:nvPr/>
        </p:nvSpPr>
        <p:spPr>
          <a:xfrm>
            <a:off x="548640" y="5532120"/>
            <a:ext cx="2499284" cy="566928"/>
          </a:xfrm>
          <a:prstGeom prst="roundRect">
            <a:avLst>
              <a:gd name="adj" fmla="val 4839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10" name="Text 207"/>
          <p:cNvSpPr txBox="1"/>
          <p:nvPr/>
        </p:nvSpPr>
        <p:spPr>
          <a:xfrm>
            <a:off x="731520" y="562356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11" name="Text 208"/>
          <p:cNvSpPr txBox="1"/>
          <p:nvPr/>
        </p:nvSpPr>
        <p:spPr>
          <a:xfrm>
            <a:off x="731520" y="579729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-5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12" name="Text 209"/>
          <p:cNvSpPr txBox="1"/>
          <p:nvPr/>
        </p:nvSpPr>
        <p:spPr>
          <a:xfrm>
            <a:off x="3047924" y="5532120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13" name="Shape 210"/>
          <p:cNvSpPr/>
          <p:nvPr/>
        </p:nvSpPr>
        <p:spPr>
          <a:xfrm>
            <a:off x="3413684" y="5532120"/>
            <a:ext cx="2499284" cy="566928"/>
          </a:xfrm>
          <a:prstGeom prst="roundRect">
            <a:avLst>
              <a:gd name="adj" fmla="val 4839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14" name="Text 211"/>
          <p:cNvSpPr txBox="1"/>
          <p:nvPr/>
        </p:nvSpPr>
        <p:spPr>
          <a:xfrm>
            <a:off x="3596564" y="562356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15" name="Text 212"/>
          <p:cNvSpPr txBox="1"/>
          <p:nvPr/>
        </p:nvSpPr>
        <p:spPr>
          <a:xfrm>
            <a:off x="3596564" y="579729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-5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216" name="Text 213"/>
          <p:cNvSpPr txBox="1"/>
          <p:nvPr/>
        </p:nvSpPr>
        <p:spPr>
          <a:xfrm>
            <a:off x="5912968" y="5532120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17" name="Shape 214"/>
          <p:cNvSpPr/>
          <p:nvPr/>
        </p:nvSpPr>
        <p:spPr>
          <a:xfrm>
            <a:off x="6278728" y="5532120"/>
            <a:ext cx="2499284" cy="566928"/>
          </a:xfrm>
          <a:prstGeom prst="roundRect">
            <a:avLst>
              <a:gd name="adj" fmla="val 4839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18" name="Text 215"/>
          <p:cNvSpPr txBox="1"/>
          <p:nvPr/>
        </p:nvSpPr>
        <p:spPr>
          <a:xfrm>
            <a:off x="6461608" y="562356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19" name="Text 216"/>
          <p:cNvSpPr txBox="1"/>
          <p:nvPr/>
        </p:nvSpPr>
        <p:spPr>
          <a:xfrm>
            <a:off x="6461608" y="579729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-5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220" name="Text 217"/>
          <p:cNvSpPr txBox="1"/>
          <p:nvPr/>
        </p:nvSpPr>
        <p:spPr>
          <a:xfrm>
            <a:off x="8778011" y="5532120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21" name="Shape 218"/>
          <p:cNvSpPr/>
          <p:nvPr/>
        </p:nvSpPr>
        <p:spPr>
          <a:xfrm>
            <a:off x="9143771" y="5532120"/>
            <a:ext cx="2499284" cy="566928"/>
          </a:xfrm>
          <a:prstGeom prst="roundRect">
            <a:avLst>
              <a:gd name="adj" fmla="val 4839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22" name="Text 219"/>
          <p:cNvSpPr txBox="1"/>
          <p:nvPr/>
        </p:nvSpPr>
        <p:spPr>
          <a:xfrm>
            <a:off x="9326651" y="562356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23" name="Text 220"/>
          <p:cNvSpPr txBox="1"/>
          <p:nvPr/>
        </p:nvSpPr>
        <p:spPr>
          <a:xfrm>
            <a:off x="9326651" y="579729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-50" kern="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$36,000,000</a:t>
            </a:r>
            <a:endParaRPr lang="en-US" sz="1500" dirty="0"/>
          </a:p>
        </p:txBody>
      </p:sp>
      <p:sp>
        <p:nvSpPr>
          <p:cNvPr id="224" name="Text 221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spc="150" kern="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 / 10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</a:t>
            </a:r>
            <a:pPr indent="0" marL="0">
              <a:buNone/>
            </a:pP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pPr indent="0" marL="0">
              <a:buNone/>
            </a:pPr>
            <a:r>
              <a:rPr lang="en-US" sz="900" b="1" spc="200" kern="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PROPOSED PARTNERSHIP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spc="-10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90-day pilot.</a:t>
            </a:r>
            <a:endParaRPr lang="en-US" sz="3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000" spc="-100" kern="0" dirty="0">
                <a:solidFill>
                  <a:srgbClr val="6A7F9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John H. Stroger, Jr. Hospital.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515258" cy="2240280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57784" y="1975104"/>
            <a:ext cx="3496970" cy="365760"/>
          </a:xfrm>
          <a:prstGeom prst="rect">
            <a:avLst/>
          </a:prstGeom>
          <a:solidFill>
            <a:srgbClr val="DBE8F7"/>
          </a:solidFill>
          <a:ln w="12700">
            <a:solidFill>
              <a:srgbClr val="DBE8F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965960"/>
            <a:ext cx="17576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01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2306269" y="1965960"/>
            <a:ext cx="15290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DAYS 1 – 15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77240" y="2532888"/>
            <a:ext cx="2052218" cy="73152"/>
          </a:xfrm>
          <a:prstGeom prst="roundRect">
            <a:avLst>
              <a:gd name="adj" fmla="val 375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2532888"/>
            <a:ext cx="342036" cy="73152"/>
          </a:xfrm>
          <a:prstGeom prst="roundRect">
            <a:avLst>
              <a:gd name="adj" fmla="val 37500"/>
            </a:avLst>
          </a:prstGeom>
          <a:solidFill>
            <a:srgbClr val="5B8FD6"/>
          </a:solidFill>
          <a:ln w="12700">
            <a:solidFill>
              <a:srgbClr val="5B8FD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939186" y="24597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 of 90 days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2743200"/>
            <a:ext cx="30580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Discovery &amp; Baseline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3108960"/>
            <a:ext cx="305805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 current injury-related registration, payer identification, billing, and follow-up. Agree on pilot scope, eligibility criteria, compliance requirements, and baseline measures.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338218" y="1965960"/>
            <a:ext cx="3515258" cy="2240280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47362" y="1975104"/>
            <a:ext cx="3496970" cy="365760"/>
          </a:xfrm>
          <a:prstGeom prst="rect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66818" y="1965960"/>
            <a:ext cx="17576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02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6095848" y="1965960"/>
            <a:ext cx="15290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DAYS 16 – 60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66818" y="2532888"/>
            <a:ext cx="2052218" cy="73152"/>
          </a:xfrm>
          <a:prstGeom prst="roundRect">
            <a:avLst>
              <a:gd name="adj" fmla="val 375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66818" y="2532888"/>
            <a:ext cx="1026109" cy="73152"/>
          </a:xfrm>
          <a:prstGeom prst="roundRect">
            <a:avLst>
              <a:gd name="adj" fmla="val 375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728765" y="24597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 of 90 days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4566818" y="2743200"/>
            <a:ext cx="30580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Identification &amp; Investigation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4566818" y="3108960"/>
            <a:ext cx="305805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Evaluate designated encounters, conduct authorized patient outreach, identify alternative payer sources, and coordinate verified findings with existing hospital teams.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127797" y="1965960"/>
            <a:ext cx="3515258" cy="2240280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36941" y="1975104"/>
            <a:ext cx="3496970" cy="365760"/>
          </a:xfrm>
          <a:prstGeom prst="rect">
            <a:avLst/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356397" y="1965960"/>
            <a:ext cx="17576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03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9885426" y="1965960"/>
            <a:ext cx="15290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DAYS 61 – 90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8356397" y="2532888"/>
            <a:ext cx="2052218" cy="73152"/>
          </a:xfrm>
          <a:prstGeom prst="roundRect">
            <a:avLst>
              <a:gd name="adj" fmla="val 375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56397" y="2532888"/>
            <a:ext cx="684073" cy="73152"/>
          </a:xfrm>
          <a:prstGeom prst="roundRect">
            <a:avLst>
              <a:gd name="adj" fmla="val 37500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0518343" y="24597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 of 90 days</a:t>
            </a:r>
            <a:endParaRPr lang="en-US" sz="850" dirty="0"/>
          </a:p>
        </p:txBody>
      </p:sp>
      <p:sp>
        <p:nvSpPr>
          <p:cNvPr id="29" name="Text 27"/>
          <p:cNvSpPr txBox="1"/>
          <p:nvPr/>
        </p:nvSpPr>
        <p:spPr>
          <a:xfrm>
            <a:off x="8356397" y="2743200"/>
            <a:ext cx="30580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Validation &amp; Review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8356397" y="3108960"/>
            <a:ext cx="305805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Reconcile outcomes, review billing corrections and collections, assess operational impact, and recommend continued monitoring and potential expansion.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48640" y="4480560"/>
            <a:ext cx="3515258" cy="1719072"/>
          </a:xfrm>
          <a:prstGeom prst="roundRect">
            <a:avLst>
              <a:gd name="adj" fmla="val 2128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48640" y="4480560"/>
            <a:ext cx="3515258" cy="45720"/>
          </a:xfrm>
          <a:prstGeom prst="rect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77240" y="4709160"/>
            <a:ext cx="30580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TO READ THE PILOT</a:t>
            </a:r>
            <a:endParaRPr lang="en-US" sz="800" dirty="0"/>
          </a:p>
        </p:txBody>
      </p:sp>
      <p:sp>
        <p:nvSpPr>
          <p:cNvPr id="34" name="Text 32"/>
          <p:cNvSpPr txBox="1"/>
          <p:nvPr/>
        </p:nvSpPr>
        <p:spPr>
          <a:xfrm>
            <a:off x="777240" y="4983480"/>
            <a:ext cx="3058058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Many claims take longer than 90 days to resolve. The pilot measures </a:t>
            </a:r>
            <a:pPr indent="0" marL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leading indicators</a:t>
            </a:r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and any collections realized; final financial performance is reviewed as the identified account cohort matures.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338218" y="4480560"/>
            <a:ext cx="3515258" cy="1719072"/>
          </a:xfrm>
          <a:prstGeom prst="roundRect">
            <a:avLst>
              <a:gd name="adj" fmla="val 2128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338218" y="4480560"/>
            <a:ext cx="3515258" cy="45720"/>
          </a:xfrm>
          <a:prstGeom prst="rect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566818" y="4709160"/>
            <a:ext cx="30580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COOK COUNTY HEALTH PROVIDES</a:t>
            </a:r>
            <a:endParaRPr lang="en-US" sz="800" dirty="0"/>
          </a:p>
        </p:txBody>
      </p:sp>
      <p:sp>
        <p:nvSpPr>
          <p:cNvPr id="38" name="Text 36"/>
          <p:cNvSpPr txBox="1"/>
          <p:nvPr/>
        </p:nvSpPr>
        <p:spPr>
          <a:xfrm>
            <a:off x="4566818" y="4983480"/>
            <a:ext cx="3058058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3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Executive sponsor and agreed pilot scope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3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ED volume, payer mix, and current TPL/WC workflow data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3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Compliance requirements and data-access terms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8127797" y="4480560"/>
            <a:ext cx="3515258" cy="1719072"/>
          </a:xfrm>
          <a:prstGeom prst="roundRect">
            <a:avLst>
              <a:gd name="adj" fmla="val 2128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127797" y="4480560"/>
            <a:ext cx="3515258" cy="45720"/>
          </a:xfrm>
          <a:prstGeom prst="rect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356397" y="4709160"/>
            <a:ext cx="30580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LABORFORCE PROVIDES</a:t>
            </a:r>
            <a:endParaRPr lang="en-US" sz="800" dirty="0"/>
          </a:p>
        </p:txBody>
      </p:sp>
      <p:sp>
        <p:nvSpPr>
          <p:cNvPr id="42" name="Text 40"/>
          <p:cNvSpPr txBox="1"/>
          <p:nvPr/>
        </p:nvSpPr>
        <p:spPr>
          <a:xfrm>
            <a:off x="8356397" y="4983480"/>
            <a:ext cx="3058058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3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Screening, specialist review, and case investigation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3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Dedicated patient outreach and lien administration support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3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Joint reporting at days 30, 60, and 90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spc="150" kern="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 / 10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09</a:t>
            </a:r>
            <a:pPr indent="0" marL="0">
              <a:buNone/>
            </a:pP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pPr indent="0" marL="0">
              <a:buNone/>
            </a:pPr>
            <a:r>
              <a:rPr lang="en-US" sz="900" b="1" spc="200" kern="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PROPOSED SUCCESS METRICS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spc="-10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Transparent. Measurable.</a:t>
            </a:r>
            <a:endParaRPr lang="en-US" sz="3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000" spc="-100" kern="0" dirty="0">
                <a:solidFill>
                  <a:srgbClr val="6A7F9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Jointly reviewed.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602154" cy="2240280"/>
          </a:xfrm>
          <a:prstGeom prst="roundRect">
            <a:avLst>
              <a:gd name="adj" fmla="val 1633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2011680"/>
            <a:ext cx="2602154" cy="54864"/>
          </a:xfrm>
          <a:prstGeom prst="rect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13432"/>
            <a:ext cx="128016" cy="128016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05840" y="2212848"/>
            <a:ext cx="19620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Leading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578608"/>
            <a:ext cx="21449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Early signals that cases are being found and verified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017520"/>
            <a:ext cx="214495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Encounters screened and flagged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Number and % with verified additional responsible-party coverage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Accounts accepted for billing correction or recovery action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379394" y="2011680"/>
            <a:ext cx="2602154" cy="2240280"/>
          </a:xfrm>
          <a:prstGeom prst="roundRect">
            <a:avLst>
              <a:gd name="adj" fmla="val 1633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379394" y="2011680"/>
            <a:ext cx="2602154" cy="54864"/>
          </a:xfrm>
          <a:prstGeom prst="rect">
            <a:avLst/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07994" y="2313432"/>
            <a:ext cx="128016" cy="128016"/>
          </a:xfrm>
          <a:prstGeom prst="ellipse">
            <a:avLst/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836594" y="2212848"/>
            <a:ext cx="19620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607994" y="2578608"/>
            <a:ext cx="21449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the program returns, net of adjustments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3607994" y="3017520"/>
            <a:ext cx="214495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collections attributable to the program, net of reversals and adjustments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Incremental net revenue after program costs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210148" y="2011680"/>
            <a:ext cx="2602154" cy="2240280"/>
          </a:xfrm>
          <a:prstGeom prst="roundRect">
            <a:avLst>
              <a:gd name="adj" fmla="val 1633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10148" y="2011680"/>
            <a:ext cx="2602154" cy="54864"/>
          </a:xfrm>
          <a:prstGeom prst="rect">
            <a:avLst/>
          </a:prstGeom>
          <a:solidFill>
            <a:srgbClr val="2F6FB5"/>
          </a:solidFill>
          <a:ln w="12700">
            <a:solidFill>
              <a:srgbClr val="2F6F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38748" y="2313432"/>
            <a:ext cx="128016" cy="128016"/>
          </a:xfrm>
          <a:prstGeom prst="ellipse">
            <a:avLst/>
          </a:prstGeom>
          <a:solidFill>
            <a:srgbClr val="2F6FB5"/>
          </a:solidFill>
          <a:ln w="12700">
            <a:solidFill>
              <a:srgbClr val="2F6FB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667348" y="2212848"/>
            <a:ext cx="19620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Operational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438748" y="2578608"/>
            <a:ext cx="21449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Effect on hospital teams and account flow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6438748" y="3017520"/>
            <a:ext cx="214495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workload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Turnaround time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Unresolved account aging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9040901" y="2011680"/>
            <a:ext cx="2602154" cy="2240280"/>
          </a:xfrm>
          <a:prstGeom prst="roundRect">
            <a:avLst>
              <a:gd name="adj" fmla="val 1633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040901" y="2011680"/>
            <a:ext cx="2602154" cy="54864"/>
          </a:xfrm>
          <a:prstGeom prst="rect">
            <a:avLst/>
          </a:prstGeom>
          <a:solidFill>
            <a:srgbClr val="7A95AD"/>
          </a:solidFill>
          <a:ln w="12700">
            <a:solidFill>
              <a:srgbClr val="7A95A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269501" y="2313432"/>
            <a:ext cx="128016" cy="128016"/>
          </a:xfrm>
          <a:prstGeom prst="ellipse">
            <a:avLst/>
          </a:prstGeom>
          <a:solidFill>
            <a:srgbClr val="7A95AD"/>
          </a:solidFill>
          <a:ln w="12700">
            <a:solidFill>
              <a:srgbClr val="7A95A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498101" y="2212848"/>
            <a:ext cx="19620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Quality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9269501" y="2578608"/>
            <a:ext cx="21449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Safeguards that stay in place throughout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9269501" y="3017520"/>
            <a:ext cx="214495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Compliance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Patient experience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Documentation quality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48640" y="4526280"/>
            <a:ext cx="11094415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470916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JOINT REVIEW CADENCE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640080" y="5184648"/>
            <a:ext cx="10911535" cy="0"/>
          </a:xfrm>
          <a:prstGeom prst="line">
            <a:avLst/>
          </a:prstGeom>
          <a:noFill/>
          <a:ln w="19050">
            <a:solidFill>
              <a:srgbClr val="D4DCE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48640" y="5093208"/>
            <a:ext cx="182880" cy="182880"/>
          </a:xfrm>
          <a:prstGeom prst="ellipse">
            <a:avLst/>
          </a:prstGeom>
          <a:solidFill>
            <a:srgbClr val="0A8FA6"/>
          </a:solidFill>
          <a:ln w="254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48640" y="5413248"/>
            <a:ext cx="24992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LAUNCH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5641848"/>
            <a:ext cx="2407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Scope, eligibility criteria, and baseline agreed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3322244" y="5093208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3322244" y="5413248"/>
            <a:ext cx="24992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30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3322244" y="5641848"/>
            <a:ext cx="2407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Baseline confirmed; screening volumes and first flagged cohort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095848" y="5093208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A8FA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095848" y="5413248"/>
            <a:ext cx="24992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60</a:t>
            </a:r>
            <a:endParaRPr lang="en-US" sz="900" dirty="0"/>
          </a:p>
        </p:txBody>
      </p:sp>
      <p:sp>
        <p:nvSpPr>
          <p:cNvPr id="39" name="Text 37"/>
          <p:cNvSpPr txBox="1"/>
          <p:nvPr/>
        </p:nvSpPr>
        <p:spPr>
          <a:xfrm>
            <a:off x="6095848" y="5641848"/>
            <a:ext cx="2407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Verification rate, accounts accepted for correction, staff workload impact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8869451" y="5093208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A8FA6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869451" y="5413248"/>
            <a:ext cx="24992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90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8869451" y="5641848"/>
            <a:ext cx="2407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Collections to date, cohort maturity, and a joint decision on continuation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spc="150" kern="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09 / 10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94A9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pPr indent="0" marL="0">
              <a:buNone/>
            </a:pPr>
            <a:r>
              <a:rPr lang="en-US" sz="900" dirty="0">
                <a:solidFill>
                  <a:srgbClr val="375F8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pPr indent="0" marL="0">
              <a:buNone/>
            </a:pPr>
            <a:r>
              <a:rPr lang="en-US" sz="900" b="1" spc="200" kern="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OUR ASK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spc="-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Our ask: a 90-day pilot at </a:t>
            </a:r>
            <a:pPr indent="0" marL="0">
              <a:lnSpc>
                <a:spcPct val="105000"/>
              </a:lnSpc>
              <a:buNone/>
            </a:pPr>
            <a:r>
              <a:rPr lang="en-US" sz="3000" spc="-100" kern="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John H. Stroger, Jr. Hospital.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3D2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Strengthen Cook County Health's fiscal resilience while supporting accessible, high-quality care for the community — through a focused, transparent, and measurable pilot, reviewed jointly at days 30, 60, and 90.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2606040"/>
            <a:ext cx="3515258" cy="1737360"/>
          </a:xfrm>
          <a:prstGeom prst="roundRect">
            <a:avLst>
              <a:gd name="adj" fmla="val 2632"/>
            </a:avLst>
          </a:prstGeom>
          <a:solidFill>
            <a:srgbClr val="1B487E"/>
          </a:solidFill>
          <a:ln w="9525">
            <a:solidFill>
              <a:srgbClr val="2C568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880360"/>
            <a:ext cx="292608" cy="29260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80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300984"/>
            <a:ext cx="29666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-3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 sponsor &amp; scope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648456"/>
            <a:ext cx="29666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C3D2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Executive sponsor and pilot scope at Stroger Hospital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38218" y="2606040"/>
            <a:ext cx="3515258" cy="1737360"/>
          </a:xfrm>
          <a:prstGeom prst="roundRect">
            <a:avLst>
              <a:gd name="adj" fmla="val 2632"/>
            </a:avLst>
          </a:prstGeom>
          <a:solidFill>
            <a:srgbClr val="1B487E"/>
          </a:solidFill>
          <a:ln w="9525">
            <a:solidFill>
              <a:srgbClr val="2C568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12538" y="2880360"/>
            <a:ext cx="292608" cy="29260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12538" y="2880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4612538" y="3300984"/>
            <a:ext cx="29666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-3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 baseline data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612538" y="3648456"/>
            <a:ext cx="29666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C3D2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ED volume, payer mix, and the current TPL/WC workflow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127797" y="2606040"/>
            <a:ext cx="3515258" cy="1737360"/>
          </a:xfrm>
          <a:prstGeom prst="roundRect">
            <a:avLst>
              <a:gd name="adj" fmla="val 2632"/>
            </a:avLst>
          </a:prstGeom>
          <a:solidFill>
            <a:srgbClr val="1B487E"/>
          </a:solidFill>
          <a:ln w="9525">
            <a:solidFill>
              <a:srgbClr val="2C568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02117" y="2880360"/>
            <a:ext cx="292608" cy="29260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402117" y="2880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8402117" y="3300984"/>
            <a:ext cx="29666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-3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Agree &amp; launch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8402117" y="3648456"/>
            <a:ext cx="29666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C3D2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Compliance requirements and success metrics; launch Phase 1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4892040"/>
            <a:ext cx="2011680" cy="123444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1" name="Image 0" descr="E:/Claude/laborforce-deck/brand/logo_full_lar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5029200"/>
            <a:ext cx="1463040" cy="962863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7619695" y="530352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Thank you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7619695" y="560527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C3D2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look forward to discussing the pilot with your leadership team.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spc="150" kern="0" dirty="0">
                <a:solidFill>
                  <a:srgbClr val="94A9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 / 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aborForce">
  <a:themeElements>
    <a:clrScheme name="LaborForce">
      <a:dk1>
        <a:srgbClr val="15283D"/>
      </a:dk1>
      <a:lt1>
        <a:srgbClr val="FFFFFF"/>
      </a:lt1>
      <a:dk2>
        <a:srgbClr val="0C3C75"/>
      </a:dk2>
      <a:lt2>
        <a:srgbClr val="F4F6F9"/>
      </a:lt2>
      <a:accent1>
        <a:srgbClr val="0A8FA6"/>
      </a:accent1>
      <a:accent2>
        <a:srgbClr val="E0F1F6"/>
      </a:accent2>
      <a:accent3>
        <a:srgbClr val="7FD3E3"/>
      </a:accent3>
      <a:accent4>
        <a:srgbClr val="4A5B6E"/>
      </a:accent4>
      <a:accent5>
        <a:srgbClr val="6E7E90"/>
      </a:accent5>
      <a:accent6>
        <a:srgbClr val="D4DCE6"/>
      </a:accent6>
      <a:hlink>
        <a:srgbClr val="0A8FA6"/>
      </a:hlink>
      <a:folHlink>
        <a:srgbClr val="4A5B6E"/>
      </a:folHlink>
    </a:clrScheme>
    <a:fontScheme name="LaborForce">
      <a:majorFont>
        <a:latin typeface="Segoe U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LaborForce Medical Management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LaborForce Medical Management — Cook County Health Executive Briefing</dc:title>
  <dc:subject>90-day TPL/Workers' Comp revenue-recovery pilot</dc:subject>
  <dc:creator>LaborForce Medical Management</dc:creator>
  <cp:lastModifiedBy>LaborForce Medical Management</cp:lastModifiedBy>
  <cp:revision>1</cp:revision>
  <dcterms:created xsi:type="dcterms:W3CDTF">2026-10-26T21:22:01Z</dcterms:created>
  <dcterms:modified xsi:type="dcterms:W3CDTF">2026-10-26T21:22:01Z</dcterms:modified>
</cp:coreProperties>
</file>