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solidFill>
              <a:srgbClr val="0A8FA6"/>
            </a:solidFill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A5B6E"/>
                    </a:solidFill>
                    <a:latin typeface="Segoe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2%</c:v>
                  </c:pt>
                  <c:pt idx="1">
                    <c:v>3%</c:v>
                  </c:pt>
                  <c:pt idx="2">
                    <c:v>4%</c:v>
                  </c:pt>
                  <c:pt idx="3">
                    <c:v>5%</c:v>
                  </c:pt>
                  <c:pt idx="4">
                    <c:v>6%</c:v>
                  </c:pt>
                  <c:pt idx="5">
                    <c:v>7%</c:v>
                  </c:pt>
                  <c:pt idx="6">
                    <c:v>8%</c:v>
                  </c:pt>
                  <c:pt idx="7">
                    <c:v>9%</c:v>
                  </c:pt>
                  <c:pt idx="8">
                    <c:v>10%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</c:ser>
        <c:dLbls>
          <c:numFmt formatCode="&quot;$&quot;0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4A5B6E"/>
                  </a:solidFill>
                  <a:latin typeface="Segoe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80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DE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$153M associated gross charges at a $17,000 average ED charge; 23.5% assumed net-to-gross collection. Illustrative,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316736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care. We recover revenue.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92024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947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strategic revenue identification and recovery partnership — extending Cook County Health's revenue cycle, not replacing 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6675120" cy="0"/>
          </a:xfrm>
          <a:prstGeom prst="line">
            <a:avLst/>
          </a:prstGeom>
          <a:noFill/>
          <a:ln w="19050">
            <a:solidFill>
              <a:srgbClr val="0C3C7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166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3949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Leadership — CEO · CFO · COO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5166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BY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3520440" y="5394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 Management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5166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BRIEFING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5394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proposal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October 2026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26" name="Text 23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092440" y="4617720"/>
            <a:ext cx="3779215" cy="1143000"/>
          </a:xfrm>
          <a:prstGeom prst="roundRect">
            <a:avLst>
              <a:gd name="adj" fmla="val 32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480060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8275320" y="5047488"/>
            <a:ext cx="3413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 — transparent, measurable, and jointly reviewed.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Extending your revenue cycle</a:t>
            </a:r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replacing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5623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1226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90824" y="169164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85623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1226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51460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69164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85623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1226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51460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75191" y="169164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85623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1226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51460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6634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63600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65192"/>
            <a:ext cx="215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46634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802304" y="463600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802304" y="4965192"/>
            <a:ext cx="215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46634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44488" y="463600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44488" y="4965192"/>
            <a:ext cx="215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46634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486671" y="463600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486671" y="4965192"/>
            <a:ext cx="215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22960"/>
          </a:xfrm>
          <a:prstGeom prst="roundRect">
            <a:avLst>
              <a:gd name="adj" fmla="val 4444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286000"/>
            <a:ext cx="246888" cy="246888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28600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58568"/>
            <a:ext cx="2794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22960"/>
          </a:xfrm>
          <a:prstGeom prst="roundRect">
            <a:avLst>
              <a:gd name="adj" fmla="val 4444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7632" y="2286000"/>
            <a:ext cx="246888" cy="246888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67632" y="228600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33392" y="2258568"/>
            <a:ext cx="2794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35808"/>
            <a:ext cx="3526384" cy="822960"/>
          </a:xfrm>
          <a:prstGeom prst="roundRect">
            <a:avLst>
              <a:gd name="adj" fmla="val 4444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218688"/>
            <a:ext cx="246888" cy="246888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21868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191256"/>
            <a:ext cx="2794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84752" y="3035808"/>
            <a:ext cx="3526384" cy="822960"/>
          </a:xfrm>
          <a:prstGeom prst="roundRect">
            <a:avLst>
              <a:gd name="adj" fmla="val 4444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67632" y="3218688"/>
            <a:ext cx="246888" cy="246888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67632" y="321868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33392" y="3191256"/>
            <a:ext cx="2794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3526384" cy="822960"/>
          </a:xfrm>
          <a:prstGeom prst="roundRect">
            <a:avLst>
              <a:gd name="adj" fmla="val 4444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151376"/>
            <a:ext cx="246888" cy="246888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513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23944"/>
            <a:ext cx="2794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84752" y="3968496"/>
            <a:ext cx="3526384" cy="822960"/>
          </a:xfrm>
          <a:prstGeom prst="roundRect">
            <a:avLst>
              <a:gd name="adj" fmla="val 4444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67632" y="4151376"/>
            <a:ext cx="246888" cy="246888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67632" y="41513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33392" y="4123944"/>
            <a:ext cx="2794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688336"/>
          </a:xfrm>
          <a:prstGeom prst="roundRect">
            <a:avLst>
              <a:gd name="adj" fmla="val 170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2860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578608"/>
            <a:ext cx="3163824" cy="585216"/>
          </a:xfrm>
          <a:prstGeom prst="roundRect">
            <a:avLst>
              <a:gd name="adj" fmla="val 468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5176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871216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59975" y="3200400"/>
            <a:ext cx="0" cy="128016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364992"/>
            <a:ext cx="3163824" cy="585216"/>
          </a:xfrm>
          <a:prstGeom prst="roundRect">
            <a:avLst>
              <a:gd name="adj" fmla="val 468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438144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6576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859975" y="3986784"/>
            <a:ext cx="0" cy="128016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151376"/>
            <a:ext cx="3163824" cy="585216"/>
          </a:xfrm>
          <a:prstGeom prst="roundRect">
            <a:avLst>
              <a:gd name="adj" fmla="val 4688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22452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44398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065776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065776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303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065776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014057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77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20140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201405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818729" y="2194560"/>
            <a:ext cx="2014057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8729" y="2377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818729" y="2651760"/>
            <a:ext cx="20140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18729" y="3383280"/>
            <a:ext cx="201405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88819" y="2194560"/>
            <a:ext cx="2014057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88819" y="2377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088819" y="2651760"/>
            <a:ext cx="20140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88819" y="3383280"/>
            <a:ext cx="201405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58908" y="2194560"/>
            <a:ext cx="2014057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8908" y="2377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58908" y="2651760"/>
            <a:ext cx="20140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58908" y="3383280"/>
            <a:ext cx="201405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28998" y="2194560"/>
            <a:ext cx="2014057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28998" y="2377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628998" y="2651760"/>
            <a:ext cx="20140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28998" y="3383280"/>
            <a:ext cx="201405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910328"/>
            <a:ext cx="32004" cy="969264"/>
          </a:xfrm>
          <a:prstGeom prst="rect">
            <a:avLst/>
          </a:prstGeom>
          <a:solidFill>
            <a:srgbClr val="35B3C9"/>
          </a:solidFill>
          <a:ln w="12700">
            <a:solidFill>
              <a:srgbClr val="35B3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892040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ALONGSIDE YOUR TEAM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1663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does not replace hospital billing or collection operations. We uncover and advance opportunities that existing workflows may not have the specialized resources to fully investigate.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PROGRAM PARTNERS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20040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Medicine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320040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Park Health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05740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8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partnerships have built operational experience in: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441448"/>
            <a:ext cx="72539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 emergency department encounters for potential TPL/WC opportunities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Implementing dedicated patient engagement and case investigation workflows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Coordinating across hospital departments and revenue cycle teams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Tracking potentially recoverable cases and resolving missing information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reporting and audit processes that support hospital financial visibility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2105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796735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0749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57784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22244" y="5120640"/>
            <a:ext cx="0" cy="8686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59404" y="50749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459404" y="557784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8688" y="5120640"/>
            <a:ext cx="0" cy="8686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95848" y="50749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557784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131" y="5120640"/>
            <a:ext cx="0" cy="8686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32291" y="50749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732291" y="557784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serves a high volume of patients through its emergency departments, trauma services, and broader network. A focused revenue identification program could help CCH: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484778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304288"/>
            <a:ext cx="3073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06040"/>
            <a:ext cx="3073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2194560"/>
            <a:ext cx="3484778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53458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64938" y="2304288"/>
            <a:ext cx="3073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64938" y="2606040"/>
            <a:ext cx="3073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8277" y="2194560"/>
            <a:ext cx="3484778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8277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569757" y="2304288"/>
            <a:ext cx="3073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69757" y="2606040"/>
            <a:ext cx="3073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3484778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401568"/>
            <a:ext cx="3073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03320"/>
            <a:ext cx="3073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3291840"/>
            <a:ext cx="3484778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3458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764938" y="3401568"/>
            <a:ext cx="3073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764938" y="3703320"/>
            <a:ext cx="3073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58277" y="3291840"/>
            <a:ext cx="3484778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8277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569757" y="3401568"/>
            <a:ext cx="3073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569757" y="3703320"/>
            <a:ext cx="3073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11094415" cy="0"/>
          </a:xfrm>
          <a:prstGeom prst="line">
            <a:avLst/>
          </a:prstGeom>
          <a:noFill/>
          <a:ln w="9525">
            <a:solidFill>
              <a:srgbClr val="C8D3C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754880"/>
            <a:ext cx="527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COOK COUNTY HEALTH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02920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safety-net system with high-volume emergency and trauma services, where injury-related encounters are frequent and every recovered dollar protects access to community care.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370168" y="4754880"/>
            <a:ext cx="527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370168" y="502920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ED encounters ×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additional coverage ×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net per encounter ≈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 year. A planning model, not a forecast — adjustable on the next page.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planning assumptions at the starting scenario, with the coverage and collection results shown together.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379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84048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768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pPr indent="0" marL="0">
              <a:buNone/>
            </a:pPr>
            <a:r>
              <a:rPr lang="en-US" sz="1150" b="1" dirty="0">
                <a:solidFill>
                  <a:srgbClr val="1528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2402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8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emergency department visits, including repeat visits.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384048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1181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pPr indent="0" marL="0">
              <a:buNone/>
            </a:pPr>
            <a:r>
              <a:rPr lang="en-US" sz="1150" b="1" dirty="0">
                <a:solidFill>
                  <a:srgbClr val="1528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0815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198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of encounters with an additional collectible coverage opportunity.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831336"/>
            <a:ext cx="384048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9593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pPr indent="0" marL="0">
              <a:buNone/>
            </a:pPr>
            <a:r>
              <a:rPr lang="en-US" sz="1150" b="1" dirty="0">
                <a:solidFill>
                  <a:srgbClr val="1528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92277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611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additional net collection per identified encounter.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4672584"/>
            <a:ext cx="384048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00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pPr indent="0" marL="0">
              <a:buNone/>
            </a:pPr>
            <a:r>
              <a:rPr lang="en-US" sz="1150" b="1" dirty="0">
                <a:solidFill>
                  <a:srgbClr val="1528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764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$17,000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023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Gross charge per identified encounter, before collection adjustments.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5513832"/>
            <a:ext cx="384048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0" y="1783080"/>
            <a:ext cx="6705295" cy="1371600"/>
          </a:xfrm>
          <a:prstGeom prst="roundRect">
            <a:avLst>
              <a:gd name="adj" fmla="val 266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3792" y="2002536"/>
            <a:ext cx="20024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2313432"/>
            <a:ext cx="2048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600" dirty="0"/>
          </a:p>
        </p:txBody>
      </p:sp>
      <p:sp>
        <p:nvSpPr>
          <p:cNvPr id="27" name="Text 25"/>
          <p:cNvSpPr txBox="1"/>
          <p:nvPr/>
        </p:nvSpPr>
        <p:spPr>
          <a:xfrm>
            <a:off x="5193792" y="2862072"/>
            <a:ext cx="2048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Starting scenario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51666" y="2057400"/>
            <a:ext cx="0" cy="82296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0266" y="2002536"/>
            <a:ext cx="171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7580266" y="2350008"/>
            <a:ext cx="1712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7580266" y="2862072"/>
            <a:ext cx="1712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 of 150,000 encounters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430308" y="2057400"/>
            <a:ext cx="0" cy="82296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58908" y="2002536"/>
            <a:ext cx="1801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658908" y="2350008"/>
            <a:ext cx="1801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$153M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658908" y="2862072"/>
            <a:ext cx="18469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23.5% assumed net-to-gross collection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937760" y="32918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4937760" y="35112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0" y="3529584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pPr algn="r" indent="0" marL="0">
              <a:buNone/>
            </a:pPr>
            <a:r>
              <a:rPr lang="en-US" sz="11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 6% identified coverage</a:t>
            </a:r>
            <a:endParaRPr lang="en-US" sz="11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846320" y="3767328"/>
          <a:ext cx="6796735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4937760" y="5166360"/>
            <a:ext cx="6705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 compares 2% to 10% identified coverage at 150,000 encounters and $4,000 net collection per encounter.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548640" y="5468112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5559552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731520" y="5724144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047924" y="54681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3413684" y="5468112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6564" y="5559552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3596564" y="5724144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5912968" y="54681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278728" y="5468112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61608" y="5559552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6461608" y="5724144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8778011" y="54681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9143771" y="5468112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326651" y="5559552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326651" y="5724144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Illustrative, not a forecast. </a:t>
            </a:r>
            <a:pPr indent="0" marL="0"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planning assumptions with Cook County Health encounter, payer and collection data during discovery. No program costs are deducted in this model.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1525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202082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201168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7860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7860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5054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8892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5468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2011680"/>
            <a:ext cx="351525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202082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201168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201168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7860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7860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5054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8892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5468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2011680"/>
            <a:ext cx="351525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202082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201168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201168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7860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7860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5054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8892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5468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7200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818888"/>
            <a:ext cx="32004" cy="133502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0749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394960" y="4800600"/>
            <a:ext cx="298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394960" y="5047488"/>
            <a:ext cx="298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656168" y="4800600"/>
            <a:ext cx="298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8656168" y="5047488"/>
            <a:ext cx="298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OBJECTIVE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— </a:t>
            </a:r>
            <a:pPr indent="0" marL="0">
              <a:lnSpc>
                <a:spcPct val="105000"/>
              </a:lnSpc>
              <a:buNone/>
            </a:pPr>
            <a:r>
              <a:rPr lang="en-US" sz="2800" spc="-10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 supporting accessible, high-quality care for the community.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uncover reimbursement opportunities that traditional workflows may overlook, and we welcome the chance to evaluate the impact together through a focused, transparent, and measurable pilot.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515258" cy="1691640"/>
          </a:xfrm>
          <a:prstGeom prst="roundRect">
            <a:avLst>
              <a:gd name="adj" fmla="val 2703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15468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93592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5020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880360"/>
            <a:ext cx="3515258" cy="1691640"/>
          </a:xfrm>
          <a:prstGeom prst="roundRect">
            <a:avLst>
              <a:gd name="adj" fmla="val 2703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315468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593592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95020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880360"/>
            <a:ext cx="3515258" cy="1691640"/>
          </a:xfrm>
          <a:prstGeom prst="roundRect">
            <a:avLst>
              <a:gd name="adj" fmla="val 2703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315468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593592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95020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16002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66360"/>
            <a:ext cx="1234440" cy="81381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349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56418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a pilot at Stroger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LaborForce Medical Management</cp:lastModifiedBy>
  <cp:revision>1</cp:revision>
  <dcterms:created xsi:type="dcterms:W3CDTF">2026-10-26T20:41:48Z</dcterms:created>
  <dcterms:modified xsi:type="dcterms:W3CDTF">2026-10-26T20:41:48Z</dcterms:modified>
</cp:coreProperties>
</file>