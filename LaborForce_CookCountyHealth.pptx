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net collections ($M)</c:v>
                </c:pt>
              </c:strCache>
            </c:strRef>
          </c:tx>
          <c:spPr>
            <a:ln w="28575" cap="flat">
              <a:solidFill>
                <a:srgbClr val="0A8FA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A8FA6"/>
              </a:solidFill>
              <a:ln w="9525" cap="flat">
                <a:solidFill>
                  <a:srgbClr val="0A8FA6"/>
                </a:solidFill>
                <a:prstDash val="solid"/>
                <a:round/>
              </a:ln>
              <a:effectLst/>
            </c:spPr>
          </c:marker>
          <c:dLbls>
            <c:numFmt formatCode="&quot;$&quot;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4A5B6E"/>
                    </a:solidFill>
                    <a:latin typeface="Segoe UI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2%</c:v>
                </c:pt>
                <c:pt idx="1">
                  <c:v>3%</c:v>
                </c:pt>
                <c:pt idx="2">
                  <c:v>4%</c:v>
                </c:pt>
                <c:pt idx="3">
                  <c:v>5%</c:v>
                </c:pt>
                <c:pt idx="4">
                  <c:v>6%</c:v>
                </c:pt>
                <c:pt idx="5">
                  <c:v>7%</c:v>
                </c:pt>
                <c:pt idx="6">
                  <c:v>8%</c:v>
                </c:pt>
                <c:pt idx="7">
                  <c:v>9%</c:v>
                </c:pt>
                <c:pt idx="8">
                  <c:v>10%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</c:v>
                </c:pt>
                <c:pt idx="1">
                  <c:v>18</c:v>
                </c:pt>
                <c:pt idx="2">
                  <c:v>24</c:v>
                </c:pt>
                <c:pt idx="3">
                  <c:v>30</c:v>
                </c:pt>
                <c:pt idx="4">
                  <c:v>36</c:v>
                </c:pt>
                <c:pt idx="5">
                  <c:v>42</c:v>
                </c:pt>
                <c:pt idx="6">
                  <c:v>48</c:v>
                </c:pt>
                <c:pt idx="7">
                  <c:v>54</c:v>
                </c:pt>
                <c:pt idx="8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5A6-46D3-A391-B7E3119AEF4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750" b="0" i="0" u="none" strike="noStrike">
                    <a:solidFill>
                      <a:srgbClr val="6E7E90"/>
                    </a:solidFill>
                    <a:latin typeface="Segoe UI"/>
                  </a:defRPr>
                </a:pPr>
                <a:r>
                  <a:rPr sz="750" b="0" i="0" u="none" strike="noStrike">
                    <a:solidFill>
                      <a:srgbClr val="6E7E90"/>
                    </a:solidFill>
                    <a:latin typeface="Segoe UI"/>
                  </a:rPr>
                  <a:t>Additional coverage identified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E7E9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&quot;$&quot;0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E7E9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4F6F9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6133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Cover: one column, hospital photo on the right. The right-hand stats panel was removed on 2026-10-26 to match the web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Five-layer waterfall: findings flow from identification (01) down to lien administration and recovery (05). LaborForce works alongside the hospital's billing and collections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version of the interactive planning model at its starting scenario: 150,000 ED encounters × 6% additional coverage × $4,000 net per encounter = $36M per year; 9,000 identified encounters; $90M associated gross charges at a $10,000 average ED charge. Each figure in the grid = 1,000 ED encounters. Illustrative planning model, not a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5566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LABORFORCE MEDICAL MANAGEMENT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Y">
    <p:bg>
      <p:bgPr>
        <a:solidFill>
          <a:srgbClr val="0C3C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375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5566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94A9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LABORFORCE MEDICAL MANAGEMENT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C3C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375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5566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94A9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FOR DISCUSSION PURPOSES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/Claude/laborforce-deck/brand/hospital_cover_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607" y="1097280"/>
            <a:ext cx="7562088" cy="5760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Deliver Care, We Optimize Revenue.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965960"/>
            <a:ext cx="6675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600" kern="0" spc="-15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Uncovering revenue.</a:t>
            </a:r>
            <a:endParaRPr lang="en-US" sz="36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3600" kern="0" spc="-15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Strengthening hospital performance.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revenue identification and recovery partnership for Cook County Health's emergency and trauma care.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617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HOSPITAL PARTNERS</a:t>
            </a:r>
            <a:endParaRPr lang="en-US" sz="800" dirty="0"/>
          </a:p>
        </p:txBody>
      </p:sp>
      <p:pic>
        <p:nvPicPr>
          <p:cNvPr id="7" name="Image 1" descr="E:/Claude/laborforce-deck/brand/nm_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4951476"/>
            <a:ext cx="1510429" cy="2834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101" y="4855464"/>
            <a:ext cx="0" cy="475488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pic>
        <p:nvPicPr>
          <p:cNvPr id="9" name="Image 2" descr="E:/Claude/laborforce-deck/brand/hph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1133" y="4892040"/>
            <a:ext cx="1386021" cy="40233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8640" y="6382512"/>
            <a:ext cx="6675120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48640" y="645566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FOR DISCUSSION PURPOSES</a:t>
            </a:r>
            <a:endParaRPr lang="en-US" sz="800" dirty="0"/>
          </a:p>
        </p:txBody>
      </p:sp>
      <p:sp>
        <p:nvSpPr>
          <p:cNvPr id="12" name="Text 7"/>
          <p:cNvSpPr txBox="1"/>
          <p:nvPr/>
        </p:nvSpPr>
        <p:spPr>
          <a:xfrm>
            <a:off x="5394960" y="64556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08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r>
              <a:rPr lang="en-US" sz="900" dirty="0">
                <a:solidFill>
                  <a:srgbClr val="D4DC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</a:t>
            </a:r>
            <a:r>
              <a:rPr lang="en-US" sz="900" b="1" kern="0" spc="20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kern="0" spc="-10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work inside the revenue cycle</a:t>
            </a:r>
            <a:r>
              <a:rPr lang="en-US" sz="3000" kern="0" spc="-100" dirty="0">
                <a:solidFill>
                  <a:srgbClr val="6A7F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you already run.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67864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256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CONTEXT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-5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pressure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33472"/>
            <a:ext cx="25678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Hospitals face reimbursement challenges, rising operational costs, complex payer requirements, and growing uncompensated care obligations.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90824" y="1737360"/>
            <a:ext cx="2567864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90824" y="1920240"/>
            <a:ext cx="256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OPPORTUNITY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3390824" y="219456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-5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gap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390824" y="2633472"/>
            <a:ext cx="25678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ED, trauma and other encounters, Workers' Compensation, Third-Party Liability, auto and other responsible-party coverage can go unidentified or unpursued by traditional workflows.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3008" y="1737360"/>
            <a:ext cx="2567864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3008" y="1920240"/>
            <a:ext cx="256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SUPPORT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19456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-5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LaborForce adds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33008" y="2633472"/>
            <a:ext cx="25678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Specialized payer identification, patient engagement, revenue auditing, payer verification, and lien administration support.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75191" y="1737360"/>
            <a:ext cx="2567864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75191" y="1920240"/>
            <a:ext cx="256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OUTCOME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9075191" y="219456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-5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goal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075191" y="2633472"/>
            <a:ext cx="25678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additional reimbursement, improve revenue realization, and reduce avoidable administrative work — without replacing current systems or teams.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1109441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910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2120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184648"/>
            <a:ext cx="224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screening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5458968"/>
            <a:ext cx="2247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Injury-related encounters are flagged from existing registration and billing data.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390824" y="52120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710864" y="5184648"/>
            <a:ext cx="224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Specialist review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710864" y="5458968"/>
            <a:ext cx="2247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Analysts determine the likely responsible payer and what information is missing.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233008" y="52120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553048" y="5184648"/>
            <a:ext cx="224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patient contact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53048" y="5458968"/>
            <a:ext cx="2247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staff confirm the facts and close gaps, respecting each patient's choices.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075191" y="52120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9395231" y="5184648"/>
            <a:ext cx="224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Follow-through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395231" y="5458968"/>
            <a:ext cx="2247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 corrections, lien support, and payer follow-up until the account resolves.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08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r>
              <a:rPr lang="en-US" sz="900" dirty="0">
                <a:solidFill>
                  <a:srgbClr val="D4DC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</a:t>
            </a:r>
            <a:r>
              <a:rPr lang="en-US" sz="900" b="1" kern="0" spc="20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kern="0" spc="-10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that traditional workflows may overlook.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Patients often arrive after workplace incidents, motor vehicle accidents, or injuries involving another liable party. Registration and billing workflows may not consistently capture or resolve: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26384" cy="841248"/>
          </a:xfrm>
          <a:prstGeom prst="roundRect">
            <a:avLst>
              <a:gd name="adj" fmla="val 4348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350008"/>
            <a:ext cx="256032" cy="256032"/>
          </a:xfrm>
          <a:prstGeom prst="ellipse">
            <a:avLst/>
          </a:prstGeom>
          <a:solidFill>
            <a:srgbClr val="0C3C75"/>
          </a:solidFill>
          <a:ln w="12700">
            <a:solidFill>
              <a:srgbClr val="0C3C7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057400"/>
            <a:ext cx="27491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Whether the injury occurred while the patient was working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84752" y="2057400"/>
            <a:ext cx="3526384" cy="841248"/>
          </a:xfrm>
          <a:prstGeom prst="roundRect">
            <a:avLst>
              <a:gd name="adj" fmla="val 4348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5920" y="2350008"/>
            <a:ext cx="256032" cy="256032"/>
          </a:xfrm>
          <a:prstGeom prst="ellipse">
            <a:avLst/>
          </a:prstGeom>
          <a:solidFill>
            <a:srgbClr val="0C3C75"/>
          </a:solidFill>
          <a:ln w="12700">
            <a:solidFill>
              <a:srgbClr val="0C3C7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5920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4779112" y="2057400"/>
            <a:ext cx="27491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Whether a motor vehicle or other third party may be responsible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008376"/>
            <a:ext cx="3526384" cy="841248"/>
          </a:xfrm>
          <a:prstGeom prst="roundRect">
            <a:avLst>
              <a:gd name="adj" fmla="val 4348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300984"/>
            <a:ext cx="256032" cy="256032"/>
          </a:xfrm>
          <a:prstGeom prst="ellipse">
            <a:avLst/>
          </a:prstGeom>
          <a:solidFill>
            <a:srgbClr val="0C3C75"/>
          </a:solidFill>
          <a:ln w="12700">
            <a:solidFill>
              <a:srgbClr val="0C3C7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3300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008376"/>
            <a:ext cx="27491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Whether another insurer or payer should be investigated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84752" y="3008376"/>
            <a:ext cx="3526384" cy="841248"/>
          </a:xfrm>
          <a:prstGeom prst="roundRect">
            <a:avLst>
              <a:gd name="adj" fmla="val 4348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5920" y="3300984"/>
            <a:ext cx="256032" cy="256032"/>
          </a:xfrm>
          <a:prstGeom prst="ellipse">
            <a:avLst/>
          </a:prstGeom>
          <a:solidFill>
            <a:srgbClr val="0C3C75"/>
          </a:solidFill>
          <a:ln w="12700">
            <a:solidFill>
              <a:srgbClr val="0C3C7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5920" y="3300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4779112" y="3008376"/>
            <a:ext cx="27491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Whether the hospital has the right claim, attorney, or payer information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959352"/>
            <a:ext cx="3526384" cy="841248"/>
          </a:xfrm>
          <a:prstGeom prst="roundRect">
            <a:avLst>
              <a:gd name="adj" fmla="val 4348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4251960"/>
            <a:ext cx="256032" cy="256032"/>
          </a:xfrm>
          <a:prstGeom prst="ellipse">
            <a:avLst/>
          </a:prstGeom>
          <a:solidFill>
            <a:srgbClr val="0C3C75"/>
          </a:solidFill>
          <a:ln w="12700">
            <a:solidFill>
              <a:srgbClr val="0C3C7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4251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3959352"/>
            <a:ext cx="27491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Whether a hospital lien is available, documented, and followed up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184752" y="3959352"/>
            <a:ext cx="3526384" cy="841248"/>
          </a:xfrm>
          <a:prstGeom prst="roundRect">
            <a:avLst>
              <a:gd name="adj" fmla="val 4348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5920" y="4251960"/>
            <a:ext cx="256032" cy="256032"/>
          </a:xfrm>
          <a:prstGeom prst="ellipse">
            <a:avLst/>
          </a:prstGeom>
          <a:solidFill>
            <a:srgbClr val="0C3C75"/>
          </a:solidFill>
          <a:ln w="12700">
            <a:solidFill>
              <a:srgbClr val="0C3C7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85920" y="4251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4779112" y="3959352"/>
            <a:ext cx="27491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Whether unresolved cases need investigation after discharge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76895" y="2057400"/>
            <a:ext cx="356616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4DCE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8063" y="22585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REVENUE GOES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278063" y="2514600"/>
            <a:ext cx="3163824" cy="579120"/>
          </a:xfrm>
          <a:prstGeom prst="roundRect">
            <a:avLst>
              <a:gd name="adj" fmla="val 4737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15223" y="2578608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-2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Injury-related encounter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415223" y="2788920"/>
            <a:ext cx="2889504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Workplace injury, motor vehicle accident, or incident involving a third party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859975" y="3139440"/>
            <a:ext cx="0" cy="109728"/>
          </a:xfrm>
          <a:prstGeom prst="line">
            <a:avLst/>
          </a:prstGeom>
          <a:noFill/>
          <a:ln w="15875">
            <a:solidFill>
              <a:srgbClr val="0A8FA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278063" y="3294888"/>
            <a:ext cx="3163824" cy="579120"/>
          </a:xfrm>
          <a:prstGeom prst="roundRect">
            <a:avLst>
              <a:gd name="adj" fmla="val 4737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15223" y="3358896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-2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Responsible payer missed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8415223" y="3569208"/>
            <a:ext cx="2889504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identified at registration, or identified but not followed through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859975" y="3919728"/>
            <a:ext cx="0" cy="109728"/>
          </a:xfrm>
          <a:prstGeom prst="line">
            <a:avLst/>
          </a:prstGeom>
          <a:noFill/>
          <a:ln w="15875">
            <a:solidFill>
              <a:srgbClr val="0A8FA6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278063" y="4075176"/>
            <a:ext cx="3163824" cy="579120"/>
          </a:xfrm>
          <a:prstGeom prst="roundRect">
            <a:avLst>
              <a:gd name="adj" fmla="val 4737"/>
            </a:avLst>
          </a:prstGeom>
          <a:solidFill>
            <a:srgbClr val="0C3C75"/>
          </a:solidFill>
          <a:ln w="12700">
            <a:solidFill>
              <a:srgbClr val="0C3C7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415223" y="4139184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-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Absorbed by the hospital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8415223" y="4349496"/>
            <a:ext cx="2889504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5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Written off as bad debt or uncompensated care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" y="5020056"/>
            <a:ext cx="11094415" cy="603504"/>
          </a:xfrm>
          <a:prstGeom prst="rect">
            <a:avLst/>
          </a:prstGeom>
          <a:solidFill>
            <a:srgbClr val="E0F1F6"/>
          </a:solidFill>
          <a:ln w="12700">
            <a:solidFill>
              <a:srgbClr val="E0F1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5020056"/>
            <a:ext cx="45720" cy="603504"/>
          </a:xfrm>
          <a:prstGeom prst="rect">
            <a:avLst/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22960" y="5257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CONSEQUENCE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2560320" y="5020056"/>
            <a:ext cx="8808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 reimbursement opportunities may remain unidentified, incorrectly routed, delayed, or insufficiently pursued.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08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4A9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r>
              <a:rPr lang="en-US" sz="900" dirty="0">
                <a:solidFill>
                  <a:srgbClr val="375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</a:t>
            </a:r>
            <a:r>
              <a:rPr lang="en-US" sz="900" b="1" kern="0" spc="200" dirty="0">
                <a:solidFill>
                  <a:srgbClr val="7FD3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CRITICAL FUNCTIONS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kern="0" spc="-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LaborForce solution.</a:t>
            </a:r>
            <a:endParaRPr lang="en-US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800" kern="0" spc="-100" dirty="0">
                <a:solidFill>
                  <a:srgbClr val="9FC0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specialized operational layer.</a:t>
            </a:r>
            <a:endParaRPr lang="en-US" sz="2800" dirty="0"/>
          </a:p>
        </p:txBody>
      </p:sp>
      <p:sp>
        <p:nvSpPr>
          <p:cNvPr id="4" name="slab-1-left"/>
          <p:cNvSpPr/>
          <p:nvPr/>
        </p:nvSpPr>
        <p:spPr>
          <a:xfrm>
            <a:off x="982156" y="2186225"/>
            <a:ext cx="1445052" cy="404615"/>
          </a:xfrm>
          <a:custGeom>
            <a:avLst/>
            <a:gdLst/>
            <a:ahLst/>
            <a:cxnLst/>
            <a:rect l="l" t="t" r="r" b="b"/>
            <a:pathLst>
              <a:path w="1445052" h="404615">
                <a:moveTo>
                  <a:pt x="0" y="0"/>
                </a:moveTo>
                <a:lnTo>
                  <a:pt x="1445052" y="274560"/>
                </a:lnTo>
                <a:lnTo>
                  <a:pt x="1445052" y="404615"/>
                </a:lnTo>
                <a:lnTo>
                  <a:pt x="0" y="130055"/>
                </a:lnTo>
                <a:close/>
              </a:path>
            </a:pathLst>
          </a:custGeom>
          <a:solidFill>
            <a:srgbClr val="7ADBC0"/>
          </a:solidFill>
          <a:ln w="6350">
            <a:solidFill>
              <a:srgbClr val="7ADBC0"/>
            </a:solidFill>
            <a:prstDash val="solid"/>
          </a:ln>
        </p:spPr>
      </p:sp>
      <p:sp>
        <p:nvSpPr>
          <p:cNvPr id="5" name="slab-1-right"/>
          <p:cNvSpPr/>
          <p:nvPr/>
        </p:nvSpPr>
        <p:spPr>
          <a:xfrm>
            <a:off x="2427207" y="2186225"/>
            <a:ext cx="1445052" cy="404615"/>
          </a:xfrm>
          <a:custGeom>
            <a:avLst/>
            <a:gdLst/>
            <a:ahLst/>
            <a:cxnLst/>
            <a:rect l="l" t="t" r="r" b="b"/>
            <a:pathLst>
              <a:path w="1445052" h="404615">
                <a:moveTo>
                  <a:pt x="1445052" y="0"/>
                </a:moveTo>
                <a:lnTo>
                  <a:pt x="0" y="274560"/>
                </a:lnTo>
                <a:lnTo>
                  <a:pt x="0" y="404615"/>
                </a:lnTo>
                <a:lnTo>
                  <a:pt x="1445052" y="130055"/>
                </a:lnTo>
                <a:close/>
              </a:path>
            </a:pathLst>
          </a:custGeom>
          <a:solidFill>
            <a:srgbClr val="3DB48F"/>
          </a:solidFill>
          <a:ln w="6350">
            <a:solidFill>
              <a:srgbClr val="3DB48F"/>
            </a:solidFill>
            <a:prstDash val="solid"/>
          </a:ln>
        </p:spPr>
      </p:sp>
      <p:sp>
        <p:nvSpPr>
          <p:cNvPr id="6" name="slab-1-top"/>
          <p:cNvSpPr/>
          <p:nvPr/>
        </p:nvSpPr>
        <p:spPr>
          <a:xfrm>
            <a:off x="982156" y="1911666"/>
            <a:ext cx="2890104" cy="549120"/>
          </a:xfrm>
          <a:custGeom>
            <a:avLst/>
            <a:gdLst/>
            <a:ahLst/>
            <a:cxnLst/>
            <a:rect l="l" t="t" r="r" b="b"/>
            <a:pathLst>
              <a:path w="2890104" h="549120">
                <a:moveTo>
                  <a:pt x="0" y="274560"/>
                </a:moveTo>
                <a:lnTo>
                  <a:pt x="1445052" y="0"/>
                </a:lnTo>
                <a:lnTo>
                  <a:pt x="2890104" y="274560"/>
                </a:lnTo>
                <a:lnTo>
                  <a:pt x="1445052" y="549120"/>
                </a:lnTo>
                <a:close/>
              </a:path>
            </a:pathLst>
          </a:custGeom>
          <a:solidFill>
            <a:srgbClr val="BFEFE0"/>
          </a:solidFill>
          <a:ln w="6350">
            <a:solidFill>
              <a:srgbClr val="BFEFE0"/>
            </a:solidFill>
            <a:prstDash val="solid"/>
          </a:ln>
        </p:spPr>
      </p:sp>
      <p:sp>
        <p:nvSpPr>
          <p:cNvPr id="7" name="slab-1-num"/>
          <p:cNvSpPr txBox="1"/>
          <p:nvPr/>
        </p:nvSpPr>
        <p:spPr>
          <a:xfrm>
            <a:off x="1970007" y="2049065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lab-1-link"/>
          <p:cNvSpPr/>
          <p:nvPr/>
        </p:nvSpPr>
        <p:spPr>
          <a:xfrm>
            <a:off x="2427207" y="2590840"/>
            <a:ext cx="0" cy="216758"/>
          </a:xfrm>
          <a:prstGeom prst="line">
            <a:avLst/>
          </a:prstGeom>
          <a:noFill/>
          <a:ln w="15875">
            <a:solidFill>
              <a:srgbClr val="7FD3E3"/>
            </a:solidFill>
            <a:prstDash val="sysDash"/>
          </a:ln>
        </p:spPr>
      </p:sp>
      <p:sp>
        <p:nvSpPr>
          <p:cNvPr id="9" name="slab-1-drop"/>
          <p:cNvSpPr/>
          <p:nvPr/>
        </p:nvSpPr>
        <p:spPr>
          <a:xfrm>
            <a:off x="2399775" y="2563408"/>
            <a:ext cx="54864" cy="54864"/>
          </a:xfrm>
          <a:prstGeom prst="ellipse">
            <a:avLst/>
          </a:prstGeom>
          <a:solidFill>
            <a:srgbClr val="7FD3E3"/>
          </a:solidFill>
          <a:ln w="12700">
            <a:solidFill>
              <a:srgbClr val="7FD3E3"/>
            </a:solidFill>
            <a:prstDash val="solid"/>
          </a:ln>
        </p:spPr>
      </p:sp>
      <p:sp>
        <p:nvSpPr>
          <p:cNvPr id="10" name="slab-2-left"/>
          <p:cNvSpPr/>
          <p:nvPr/>
        </p:nvSpPr>
        <p:spPr>
          <a:xfrm>
            <a:off x="982156" y="3038806"/>
            <a:ext cx="1445052" cy="404615"/>
          </a:xfrm>
          <a:custGeom>
            <a:avLst/>
            <a:gdLst/>
            <a:ahLst/>
            <a:cxnLst/>
            <a:rect l="l" t="t" r="r" b="b"/>
            <a:pathLst>
              <a:path w="1445052" h="404615">
                <a:moveTo>
                  <a:pt x="0" y="0"/>
                </a:moveTo>
                <a:lnTo>
                  <a:pt x="1445052" y="274560"/>
                </a:lnTo>
                <a:lnTo>
                  <a:pt x="1445052" y="404615"/>
                </a:lnTo>
                <a:lnTo>
                  <a:pt x="0" y="130055"/>
                </a:lnTo>
                <a:close/>
              </a:path>
            </a:pathLst>
          </a:custGeom>
          <a:solidFill>
            <a:srgbClr val="4CC9A6"/>
          </a:solidFill>
          <a:ln w="6350">
            <a:solidFill>
              <a:srgbClr val="4CC9A6"/>
            </a:solidFill>
            <a:prstDash val="solid"/>
          </a:ln>
        </p:spPr>
      </p:sp>
      <p:sp>
        <p:nvSpPr>
          <p:cNvPr id="11" name="slab-2-right"/>
          <p:cNvSpPr/>
          <p:nvPr/>
        </p:nvSpPr>
        <p:spPr>
          <a:xfrm>
            <a:off x="2427207" y="3038806"/>
            <a:ext cx="1445052" cy="404615"/>
          </a:xfrm>
          <a:custGeom>
            <a:avLst/>
            <a:gdLst/>
            <a:ahLst/>
            <a:cxnLst/>
            <a:rect l="l" t="t" r="r" b="b"/>
            <a:pathLst>
              <a:path w="1445052" h="404615">
                <a:moveTo>
                  <a:pt x="1445052" y="0"/>
                </a:moveTo>
                <a:lnTo>
                  <a:pt x="0" y="274560"/>
                </a:lnTo>
                <a:lnTo>
                  <a:pt x="0" y="404615"/>
                </a:lnTo>
                <a:lnTo>
                  <a:pt x="1445052" y="130055"/>
                </a:lnTo>
                <a:close/>
              </a:path>
            </a:pathLst>
          </a:cu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2" name="slab-2-top"/>
          <p:cNvSpPr/>
          <p:nvPr/>
        </p:nvSpPr>
        <p:spPr>
          <a:xfrm>
            <a:off x="982156" y="2764246"/>
            <a:ext cx="2890104" cy="549120"/>
          </a:xfrm>
          <a:custGeom>
            <a:avLst/>
            <a:gdLst/>
            <a:ahLst/>
            <a:cxnLst/>
            <a:rect l="l" t="t" r="r" b="b"/>
            <a:pathLst>
              <a:path w="2890104" h="549120">
                <a:moveTo>
                  <a:pt x="0" y="274560"/>
                </a:moveTo>
                <a:lnTo>
                  <a:pt x="1445052" y="0"/>
                </a:lnTo>
                <a:lnTo>
                  <a:pt x="2890104" y="274560"/>
                </a:lnTo>
                <a:lnTo>
                  <a:pt x="1445052" y="549120"/>
                </a:lnTo>
                <a:close/>
              </a:path>
            </a:pathLst>
          </a:custGeom>
          <a:solidFill>
            <a:srgbClr val="8FE0C9"/>
          </a:solidFill>
          <a:ln w="6350">
            <a:solidFill>
              <a:srgbClr val="8FE0C9"/>
            </a:solidFill>
            <a:prstDash val="solid"/>
          </a:ln>
        </p:spPr>
      </p:sp>
      <p:sp>
        <p:nvSpPr>
          <p:cNvPr id="13" name="slab-2-num"/>
          <p:cNvSpPr txBox="1"/>
          <p:nvPr/>
        </p:nvSpPr>
        <p:spPr>
          <a:xfrm>
            <a:off x="1970007" y="290164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slab-2-link"/>
          <p:cNvSpPr/>
          <p:nvPr/>
        </p:nvSpPr>
        <p:spPr>
          <a:xfrm>
            <a:off x="2427207" y="3443421"/>
            <a:ext cx="0" cy="216758"/>
          </a:xfrm>
          <a:prstGeom prst="line">
            <a:avLst/>
          </a:prstGeom>
          <a:noFill/>
          <a:ln w="15875">
            <a:solidFill>
              <a:srgbClr val="7FD3E3"/>
            </a:solidFill>
            <a:prstDash val="sysDash"/>
          </a:ln>
        </p:spPr>
      </p:sp>
      <p:sp>
        <p:nvSpPr>
          <p:cNvPr id="15" name="slab-2-drop"/>
          <p:cNvSpPr/>
          <p:nvPr/>
        </p:nvSpPr>
        <p:spPr>
          <a:xfrm>
            <a:off x="2399775" y="3415989"/>
            <a:ext cx="54864" cy="54864"/>
          </a:xfrm>
          <a:prstGeom prst="ellipse">
            <a:avLst/>
          </a:prstGeom>
          <a:solidFill>
            <a:srgbClr val="7FD3E3"/>
          </a:solidFill>
          <a:ln w="12700">
            <a:solidFill>
              <a:srgbClr val="7FD3E3"/>
            </a:solidFill>
            <a:prstDash val="solid"/>
          </a:ln>
        </p:spPr>
      </p:sp>
      <p:sp>
        <p:nvSpPr>
          <p:cNvPr id="16" name="slab-3-left"/>
          <p:cNvSpPr/>
          <p:nvPr/>
        </p:nvSpPr>
        <p:spPr>
          <a:xfrm>
            <a:off x="982156" y="3891387"/>
            <a:ext cx="1445052" cy="404615"/>
          </a:xfrm>
          <a:custGeom>
            <a:avLst/>
            <a:gdLst/>
            <a:ahLst/>
            <a:cxnLst/>
            <a:rect l="l" t="t" r="r" b="b"/>
            <a:pathLst>
              <a:path w="1445052" h="404615">
                <a:moveTo>
                  <a:pt x="0" y="0"/>
                </a:moveTo>
                <a:lnTo>
                  <a:pt x="1445052" y="274560"/>
                </a:lnTo>
                <a:lnTo>
                  <a:pt x="1445052" y="404615"/>
                </a:lnTo>
                <a:lnTo>
                  <a:pt x="0" y="130055"/>
                </a:lnTo>
                <a:close/>
              </a:path>
            </a:pathLst>
          </a:custGeom>
          <a:solidFill>
            <a:srgbClr val="5AA2E6"/>
          </a:solidFill>
          <a:ln w="6350">
            <a:solidFill>
              <a:srgbClr val="5AA2E6"/>
            </a:solidFill>
            <a:prstDash val="solid"/>
          </a:ln>
        </p:spPr>
      </p:sp>
      <p:sp>
        <p:nvSpPr>
          <p:cNvPr id="17" name="slab-3-right"/>
          <p:cNvSpPr/>
          <p:nvPr/>
        </p:nvSpPr>
        <p:spPr>
          <a:xfrm>
            <a:off x="2427207" y="3891387"/>
            <a:ext cx="1445052" cy="404615"/>
          </a:xfrm>
          <a:custGeom>
            <a:avLst/>
            <a:gdLst/>
            <a:ahLst/>
            <a:cxnLst/>
            <a:rect l="l" t="t" r="r" b="b"/>
            <a:pathLst>
              <a:path w="1445052" h="404615">
                <a:moveTo>
                  <a:pt x="1445052" y="0"/>
                </a:moveTo>
                <a:lnTo>
                  <a:pt x="0" y="274560"/>
                </a:lnTo>
                <a:lnTo>
                  <a:pt x="0" y="404615"/>
                </a:lnTo>
                <a:lnTo>
                  <a:pt x="1445052" y="130055"/>
                </a:lnTo>
                <a:close/>
              </a:path>
            </a:pathLst>
          </a:custGeom>
          <a:solidFill>
            <a:srgbClr val="2F7FCB"/>
          </a:solidFill>
          <a:ln w="6350">
            <a:solidFill>
              <a:srgbClr val="2F7FCB"/>
            </a:solidFill>
            <a:prstDash val="solid"/>
          </a:ln>
        </p:spPr>
      </p:sp>
      <p:sp>
        <p:nvSpPr>
          <p:cNvPr id="18" name="slab-3-top"/>
          <p:cNvSpPr/>
          <p:nvPr/>
        </p:nvSpPr>
        <p:spPr>
          <a:xfrm>
            <a:off x="982156" y="3616827"/>
            <a:ext cx="2890104" cy="549120"/>
          </a:xfrm>
          <a:custGeom>
            <a:avLst/>
            <a:gdLst/>
            <a:ahLst/>
            <a:cxnLst/>
            <a:rect l="l" t="t" r="r" b="b"/>
            <a:pathLst>
              <a:path w="2890104" h="549120">
                <a:moveTo>
                  <a:pt x="0" y="274560"/>
                </a:moveTo>
                <a:lnTo>
                  <a:pt x="1445052" y="0"/>
                </a:lnTo>
                <a:lnTo>
                  <a:pt x="2890104" y="274560"/>
                </a:lnTo>
                <a:lnTo>
                  <a:pt x="1445052" y="549120"/>
                </a:lnTo>
                <a:close/>
              </a:path>
            </a:pathLst>
          </a:custGeom>
          <a:solidFill>
            <a:srgbClr val="9CC8F0"/>
          </a:solidFill>
          <a:ln w="6350">
            <a:solidFill>
              <a:srgbClr val="9CC8F0"/>
            </a:solidFill>
            <a:prstDash val="solid"/>
          </a:ln>
        </p:spPr>
      </p:sp>
      <p:sp>
        <p:nvSpPr>
          <p:cNvPr id="19" name="slab-3-num"/>
          <p:cNvSpPr txBox="1"/>
          <p:nvPr/>
        </p:nvSpPr>
        <p:spPr>
          <a:xfrm>
            <a:off x="1970007" y="3754227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slab-3-link"/>
          <p:cNvSpPr/>
          <p:nvPr/>
        </p:nvSpPr>
        <p:spPr>
          <a:xfrm>
            <a:off x="2427207" y="4296001"/>
            <a:ext cx="0" cy="216758"/>
          </a:xfrm>
          <a:prstGeom prst="line">
            <a:avLst/>
          </a:prstGeom>
          <a:noFill/>
          <a:ln w="15875">
            <a:solidFill>
              <a:srgbClr val="7FD3E3"/>
            </a:solidFill>
            <a:prstDash val="sysDash"/>
          </a:ln>
        </p:spPr>
      </p:sp>
      <p:sp>
        <p:nvSpPr>
          <p:cNvPr id="21" name="slab-3-drop"/>
          <p:cNvSpPr/>
          <p:nvPr/>
        </p:nvSpPr>
        <p:spPr>
          <a:xfrm>
            <a:off x="2399775" y="4268569"/>
            <a:ext cx="54864" cy="54864"/>
          </a:xfrm>
          <a:prstGeom prst="ellipse">
            <a:avLst/>
          </a:prstGeom>
          <a:solidFill>
            <a:srgbClr val="7FD3E3"/>
          </a:solidFill>
          <a:ln w="12700">
            <a:solidFill>
              <a:srgbClr val="7FD3E3"/>
            </a:solidFill>
            <a:prstDash val="solid"/>
          </a:ln>
        </p:spPr>
      </p:sp>
      <p:sp>
        <p:nvSpPr>
          <p:cNvPr id="22" name="slab-4-left"/>
          <p:cNvSpPr/>
          <p:nvPr/>
        </p:nvSpPr>
        <p:spPr>
          <a:xfrm>
            <a:off x="982156" y="4743967"/>
            <a:ext cx="1445052" cy="404615"/>
          </a:xfrm>
          <a:custGeom>
            <a:avLst/>
            <a:gdLst/>
            <a:ahLst/>
            <a:cxnLst/>
            <a:rect l="l" t="t" r="r" b="b"/>
            <a:pathLst>
              <a:path w="1445052" h="404615">
                <a:moveTo>
                  <a:pt x="0" y="0"/>
                </a:moveTo>
                <a:lnTo>
                  <a:pt x="1445052" y="274560"/>
                </a:lnTo>
                <a:lnTo>
                  <a:pt x="1445052" y="404615"/>
                </a:lnTo>
                <a:lnTo>
                  <a:pt x="0" y="130055"/>
                </a:lnTo>
                <a:close/>
              </a:path>
            </a:pathLst>
          </a:custGeom>
          <a:solidFill>
            <a:srgbClr val="3A8FDB"/>
          </a:solidFill>
          <a:ln w="6350">
            <a:solidFill>
              <a:srgbClr val="3A8FDB"/>
            </a:solidFill>
            <a:prstDash val="solid"/>
          </a:ln>
        </p:spPr>
      </p:sp>
      <p:sp>
        <p:nvSpPr>
          <p:cNvPr id="23" name="slab-4-right"/>
          <p:cNvSpPr/>
          <p:nvPr/>
        </p:nvSpPr>
        <p:spPr>
          <a:xfrm>
            <a:off x="2427207" y="4743967"/>
            <a:ext cx="1445052" cy="404615"/>
          </a:xfrm>
          <a:custGeom>
            <a:avLst/>
            <a:gdLst/>
            <a:ahLst/>
            <a:cxnLst/>
            <a:rect l="l" t="t" r="r" b="b"/>
            <a:pathLst>
              <a:path w="1445052" h="404615">
                <a:moveTo>
                  <a:pt x="1445052" y="0"/>
                </a:moveTo>
                <a:lnTo>
                  <a:pt x="0" y="274560"/>
                </a:lnTo>
                <a:lnTo>
                  <a:pt x="0" y="404615"/>
                </a:lnTo>
                <a:lnTo>
                  <a:pt x="1445052" y="130055"/>
                </a:lnTo>
                <a:close/>
              </a:path>
            </a:pathLst>
          </a:custGeom>
          <a:solidFill>
            <a:srgbClr val="1F67AE"/>
          </a:solidFill>
          <a:ln w="6350">
            <a:solidFill>
              <a:srgbClr val="1F67AE"/>
            </a:solidFill>
            <a:prstDash val="solid"/>
          </a:ln>
        </p:spPr>
      </p:sp>
      <p:sp>
        <p:nvSpPr>
          <p:cNvPr id="24" name="slab-4-top"/>
          <p:cNvSpPr/>
          <p:nvPr/>
        </p:nvSpPr>
        <p:spPr>
          <a:xfrm>
            <a:off x="982156" y="4469407"/>
            <a:ext cx="2890104" cy="549120"/>
          </a:xfrm>
          <a:custGeom>
            <a:avLst/>
            <a:gdLst/>
            <a:ahLst/>
            <a:cxnLst/>
            <a:rect l="l" t="t" r="r" b="b"/>
            <a:pathLst>
              <a:path w="2890104" h="549120">
                <a:moveTo>
                  <a:pt x="0" y="274560"/>
                </a:moveTo>
                <a:lnTo>
                  <a:pt x="1445052" y="0"/>
                </a:lnTo>
                <a:lnTo>
                  <a:pt x="2890104" y="274560"/>
                </a:lnTo>
                <a:lnTo>
                  <a:pt x="1445052" y="549120"/>
                </a:lnTo>
                <a:close/>
              </a:path>
            </a:pathLst>
          </a:custGeom>
          <a:solidFill>
            <a:srgbClr val="6FB0EE"/>
          </a:solidFill>
          <a:ln w="6350">
            <a:solidFill>
              <a:srgbClr val="6FB0EE"/>
            </a:solidFill>
            <a:prstDash val="solid"/>
          </a:ln>
        </p:spPr>
      </p:sp>
      <p:sp>
        <p:nvSpPr>
          <p:cNvPr id="25" name="slab-4-num"/>
          <p:cNvSpPr txBox="1"/>
          <p:nvPr/>
        </p:nvSpPr>
        <p:spPr>
          <a:xfrm>
            <a:off x="1970007" y="4606807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slab-4-link"/>
          <p:cNvSpPr/>
          <p:nvPr/>
        </p:nvSpPr>
        <p:spPr>
          <a:xfrm>
            <a:off x="2427207" y="5148582"/>
            <a:ext cx="0" cy="216758"/>
          </a:xfrm>
          <a:prstGeom prst="line">
            <a:avLst/>
          </a:prstGeom>
          <a:noFill/>
          <a:ln w="15875">
            <a:solidFill>
              <a:srgbClr val="7FD3E3"/>
            </a:solidFill>
            <a:prstDash val="sysDash"/>
          </a:ln>
        </p:spPr>
      </p:sp>
      <p:sp>
        <p:nvSpPr>
          <p:cNvPr id="27" name="slab-4-drop"/>
          <p:cNvSpPr/>
          <p:nvPr/>
        </p:nvSpPr>
        <p:spPr>
          <a:xfrm>
            <a:off x="2399775" y="5121150"/>
            <a:ext cx="54864" cy="54864"/>
          </a:xfrm>
          <a:prstGeom prst="ellipse">
            <a:avLst/>
          </a:prstGeom>
          <a:solidFill>
            <a:srgbClr val="7FD3E3"/>
          </a:solidFill>
          <a:ln w="12700">
            <a:solidFill>
              <a:srgbClr val="7FD3E3"/>
            </a:solidFill>
            <a:prstDash val="solid"/>
          </a:ln>
        </p:spPr>
      </p:sp>
      <p:sp>
        <p:nvSpPr>
          <p:cNvPr id="28" name="slab-5-left"/>
          <p:cNvSpPr/>
          <p:nvPr/>
        </p:nvSpPr>
        <p:spPr>
          <a:xfrm>
            <a:off x="982156" y="5596548"/>
            <a:ext cx="1445052" cy="404615"/>
          </a:xfrm>
          <a:custGeom>
            <a:avLst/>
            <a:gdLst/>
            <a:ahLst/>
            <a:cxnLst/>
            <a:rect l="l" t="t" r="r" b="b"/>
            <a:pathLst>
              <a:path w="1445052" h="404615">
                <a:moveTo>
                  <a:pt x="0" y="0"/>
                </a:moveTo>
                <a:lnTo>
                  <a:pt x="1445052" y="274560"/>
                </a:lnTo>
                <a:lnTo>
                  <a:pt x="1445052" y="404615"/>
                </a:lnTo>
                <a:lnTo>
                  <a:pt x="0" y="130055"/>
                </a:lnTo>
                <a:close/>
              </a:path>
            </a:pathLst>
          </a:custGeom>
          <a:solidFill>
            <a:srgbClr val="2B74BE"/>
          </a:solidFill>
          <a:ln w="6350">
            <a:solidFill>
              <a:srgbClr val="2B74BE"/>
            </a:solidFill>
            <a:prstDash val="solid"/>
          </a:ln>
        </p:spPr>
      </p:sp>
      <p:sp>
        <p:nvSpPr>
          <p:cNvPr id="29" name="slab-5-right"/>
          <p:cNvSpPr/>
          <p:nvPr/>
        </p:nvSpPr>
        <p:spPr>
          <a:xfrm>
            <a:off x="2427207" y="5596548"/>
            <a:ext cx="1445052" cy="404615"/>
          </a:xfrm>
          <a:custGeom>
            <a:avLst/>
            <a:gdLst/>
            <a:ahLst/>
            <a:cxnLst/>
            <a:rect l="l" t="t" r="r" b="b"/>
            <a:pathLst>
              <a:path w="1445052" h="404615">
                <a:moveTo>
                  <a:pt x="1445052" y="0"/>
                </a:moveTo>
                <a:lnTo>
                  <a:pt x="0" y="274560"/>
                </a:lnTo>
                <a:lnTo>
                  <a:pt x="0" y="404615"/>
                </a:lnTo>
                <a:lnTo>
                  <a:pt x="1445052" y="130055"/>
                </a:lnTo>
                <a:close/>
              </a:path>
            </a:pathLst>
          </a:custGeom>
          <a:solidFill>
            <a:srgbClr val="1A5590"/>
          </a:solidFill>
          <a:ln w="6350">
            <a:solidFill>
              <a:srgbClr val="1A5590"/>
            </a:solidFill>
            <a:prstDash val="solid"/>
          </a:ln>
        </p:spPr>
      </p:sp>
      <p:sp>
        <p:nvSpPr>
          <p:cNvPr id="30" name="slab-5-top"/>
          <p:cNvSpPr/>
          <p:nvPr/>
        </p:nvSpPr>
        <p:spPr>
          <a:xfrm>
            <a:off x="982156" y="5321988"/>
            <a:ext cx="2890104" cy="549120"/>
          </a:xfrm>
          <a:custGeom>
            <a:avLst/>
            <a:gdLst/>
            <a:ahLst/>
            <a:cxnLst/>
            <a:rect l="l" t="t" r="r" b="b"/>
            <a:pathLst>
              <a:path w="2890104" h="549120">
                <a:moveTo>
                  <a:pt x="0" y="274560"/>
                </a:moveTo>
                <a:lnTo>
                  <a:pt x="1445052" y="0"/>
                </a:lnTo>
                <a:lnTo>
                  <a:pt x="2890104" y="274560"/>
                </a:lnTo>
                <a:lnTo>
                  <a:pt x="1445052" y="549120"/>
                </a:lnTo>
                <a:close/>
              </a:path>
            </a:pathLst>
          </a:custGeom>
          <a:solidFill>
            <a:srgbClr val="4A97E2"/>
          </a:solidFill>
          <a:ln w="6350">
            <a:solidFill>
              <a:srgbClr val="4A97E2"/>
            </a:solidFill>
            <a:prstDash val="solid"/>
          </a:ln>
        </p:spPr>
      </p:sp>
      <p:sp>
        <p:nvSpPr>
          <p:cNvPr id="31" name="slab-5-num"/>
          <p:cNvSpPr txBox="1"/>
          <p:nvPr/>
        </p:nvSpPr>
        <p:spPr>
          <a:xfrm>
            <a:off x="1970007" y="54593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fn-1-card"/>
          <p:cNvSpPr/>
          <p:nvPr/>
        </p:nvSpPr>
        <p:spPr>
          <a:xfrm>
            <a:off x="4717255" y="1810512"/>
            <a:ext cx="6925801" cy="749808"/>
          </a:xfrm>
          <a:prstGeom prst="roundRect">
            <a:avLst>
              <a:gd name="adj" fmla="val 6098"/>
            </a:avLst>
          </a:prstGeom>
          <a:solidFill>
            <a:srgbClr val="174579"/>
          </a:solidFill>
          <a:ln w="9525">
            <a:solidFill>
              <a:srgbClr val="2C5687"/>
            </a:solidFill>
            <a:prstDash val="solid"/>
          </a:ln>
        </p:spPr>
      </p:sp>
      <p:sp>
        <p:nvSpPr>
          <p:cNvPr id="33" name="fn-1-badge"/>
          <p:cNvSpPr/>
          <p:nvPr/>
        </p:nvSpPr>
        <p:spPr>
          <a:xfrm>
            <a:off x="4900135" y="2029968"/>
            <a:ext cx="310896" cy="310896"/>
          </a:xfrm>
          <a:prstGeom prst="ellipse">
            <a:avLst/>
          </a:prstGeom>
          <a:solidFill>
            <a:srgbClr val="2C5687"/>
          </a:solidFill>
          <a:ln w="12700">
            <a:solidFill>
              <a:srgbClr val="2C5687"/>
            </a:solidFill>
            <a:prstDash val="solid"/>
          </a:ln>
        </p:spPr>
      </p:sp>
      <p:sp>
        <p:nvSpPr>
          <p:cNvPr id="34" name="fn-1-badgenum"/>
          <p:cNvSpPr txBox="1"/>
          <p:nvPr/>
        </p:nvSpPr>
        <p:spPr>
          <a:xfrm>
            <a:off x="4900135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850" dirty="0"/>
          </a:p>
        </p:txBody>
      </p:sp>
      <p:sp>
        <p:nvSpPr>
          <p:cNvPr id="35" name="fn-1-title"/>
          <p:cNvSpPr txBox="1"/>
          <p:nvPr/>
        </p:nvSpPr>
        <p:spPr>
          <a:xfrm>
            <a:off x="5375623" y="1920240"/>
            <a:ext cx="61028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-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Revenue Identification</a:t>
            </a:r>
            <a:endParaRPr lang="en-US" sz="1300" dirty="0"/>
          </a:p>
        </p:txBody>
      </p:sp>
      <p:sp>
        <p:nvSpPr>
          <p:cNvPr id="36" name="fn-1-desc"/>
          <p:cNvSpPr txBox="1"/>
          <p:nvPr/>
        </p:nvSpPr>
        <p:spPr>
          <a:xfrm>
            <a:off x="5375623" y="2194560"/>
            <a:ext cx="61028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5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injury-related encounters, identify potentially responsible payers, and prioritize accounts for investigation.</a:t>
            </a:r>
            <a:endParaRPr lang="en-US" sz="950" dirty="0"/>
          </a:p>
        </p:txBody>
      </p:sp>
      <p:sp>
        <p:nvSpPr>
          <p:cNvPr id="37" name="fn-2-card"/>
          <p:cNvSpPr/>
          <p:nvPr/>
        </p:nvSpPr>
        <p:spPr>
          <a:xfrm>
            <a:off x="4717255" y="2651760"/>
            <a:ext cx="6925801" cy="749808"/>
          </a:xfrm>
          <a:prstGeom prst="roundRect">
            <a:avLst>
              <a:gd name="adj" fmla="val 6098"/>
            </a:avLst>
          </a:prstGeom>
          <a:solidFill>
            <a:srgbClr val="174579"/>
          </a:solidFill>
          <a:ln w="9525">
            <a:solidFill>
              <a:srgbClr val="2C5687"/>
            </a:solidFill>
            <a:prstDash val="solid"/>
          </a:ln>
        </p:spPr>
      </p:sp>
      <p:sp>
        <p:nvSpPr>
          <p:cNvPr id="38" name="fn-2-badge"/>
          <p:cNvSpPr/>
          <p:nvPr/>
        </p:nvSpPr>
        <p:spPr>
          <a:xfrm>
            <a:off x="4900135" y="2871216"/>
            <a:ext cx="310896" cy="310896"/>
          </a:xfrm>
          <a:prstGeom prst="ellipse">
            <a:avLst/>
          </a:prstGeom>
          <a:solidFill>
            <a:srgbClr val="2C5687"/>
          </a:solidFill>
          <a:ln w="12700">
            <a:solidFill>
              <a:srgbClr val="2C5687"/>
            </a:solidFill>
            <a:prstDash val="solid"/>
          </a:ln>
        </p:spPr>
      </p:sp>
      <p:sp>
        <p:nvSpPr>
          <p:cNvPr id="39" name="fn-2-badgenum"/>
          <p:cNvSpPr txBox="1"/>
          <p:nvPr/>
        </p:nvSpPr>
        <p:spPr>
          <a:xfrm>
            <a:off x="4900135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50" dirty="0"/>
          </a:p>
        </p:txBody>
      </p:sp>
      <p:sp>
        <p:nvSpPr>
          <p:cNvPr id="40" name="fn-2-title"/>
          <p:cNvSpPr txBox="1"/>
          <p:nvPr/>
        </p:nvSpPr>
        <p:spPr>
          <a:xfrm>
            <a:off x="5375623" y="2761488"/>
            <a:ext cx="61028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-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Patient Engagement</a:t>
            </a:r>
            <a:endParaRPr lang="en-US" sz="1300" dirty="0"/>
          </a:p>
        </p:txBody>
      </p:sp>
      <p:sp>
        <p:nvSpPr>
          <p:cNvPr id="41" name="fn-2-desc"/>
          <p:cNvSpPr txBox="1"/>
          <p:nvPr/>
        </p:nvSpPr>
        <p:spPr>
          <a:xfrm>
            <a:off x="5375623" y="3035808"/>
            <a:ext cx="61028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5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Outreach to verify injury circumstances and collect missing claim, employer, insurer, or attorney information.</a:t>
            </a:r>
            <a:endParaRPr lang="en-US" sz="950" dirty="0"/>
          </a:p>
        </p:txBody>
      </p:sp>
      <p:sp>
        <p:nvSpPr>
          <p:cNvPr id="42" name="fn-3-card"/>
          <p:cNvSpPr/>
          <p:nvPr/>
        </p:nvSpPr>
        <p:spPr>
          <a:xfrm>
            <a:off x="4717255" y="3493008"/>
            <a:ext cx="6925801" cy="749808"/>
          </a:xfrm>
          <a:prstGeom prst="roundRect">
            <a:avLst>
              <a:gd name="adj" fmla="val 6098"/>
            </a:avLst>
          </a:prstGeom>
          <a:solidFill>
            <a:srgbClr val="174579"/>
          </a:solidFill>
          <a:ln w="9525">
            <a:solidFill>
              <a:srgbClr val="2C5687"/>
            </a:solidFill>
            <a:prstDash val="solid"/>
          </a:ln>
        </p:spPr>
      </p:sp>
      <p:sp>
        <p:nvSpPr>
          <p:cNvPr id="43" name="fn-3-badge"/>
          <p:cNvSpPr/>
          <p:nvPr/>
        </p:nvSpPr>
        <p:spPr>
          <a:xfrm>
            <a:off x="4900135" y="3712464"/>
            <a:ext cx="310896" cy="310896"/>
          </a:xfrm>
          <a:prstGeom prst="ellipse">
            <a:avLst/>
          </a:prstGeom>
          <a:solidFill>
            <a:srgbClr val="2C5687"/>
          </a:solidFill>
          <a:ln w="12700">
            <a:solidFill>
              <a:srgbClr val="2C5687"/>
            </a:solidFill>
            <a:prstDash val="solid"/>
          </a:ln>
        </p:spPr>
      </p:sp>
      <p:sp>
        <p:nvSpPr>
          <p:cNvPr id="44" name="fn-3-badgenum"/>
          <p:cNvSpPr txBox="1"/>
          <p:nvPr/>
        </p:nvSpPr>
        <p:spPr>
          <a:xfrm>
            <a:off x="4900135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50" dirty="0"/>
          </a:p>
        </p:txBody>
      </p:sp>
      <p:sp>
        <p:nvSpPr>
          <p:cNvPr id="45" name="fn-3-title"/>
          <p:cNvSpPr txBox="1"/>
          <p:nvPr/>
        </p:nvSpPr>
        <p:spPr>
          <a:xfrm>
            <a:off x="5375623" y="3602736"/>
            <a:ext cx="61028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-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Payer Verification &amp; RCM Coordination</a:t>
            </a:r>
            <a:endParaRPr lang="en-US" sz="1300" dirty="0"/>
          </a:p>
        </p:txBody>
      </p:sp>
      <p:sp>
        <p:nvSpPr>
          <p:cNvPr id="46" name="fn-3-desc"/>
          <p:cNvSpPr txBox="1"/>
          <p:nvPr/>
        </p:nvSpPr>
        <p:spPr>
          <a:xfrm>
            <a:off x="5375623" y="3877056"/>
            <a:ext cx="61028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5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Coordinate findings with registration, billing, and revenue cycle teams for payer determination and follow-up.</a:t>
            </a:r>
            <a:endParaRPr lang="en-US" sz="950" dirty="0"/>
          </a:p>
        </p:txBody>
      </p:sp>
      <p:sp>
        <p:nvSpPr>
          <p:cNvPr id="47" name="fn-4-card"/>
          <p:cNvSpPr/>
          <p:nvPr/>
        </p:nvSpPr>
        <p:spPr>
          <a:xfrm>
            <a:off x="4717255" y="4334256"/>
            <a:ext cx="6925801" cy="749808"/>
          </a:xfrm>
          <a:prstGeom prst="roundRect">
            <a:avLst>
              <a:gd name="adj" fmla="val 6098"/>
            </a:avLst>
          </a:prstGeom>
          <a:solidFill>
            <a:srgbClr val="174579"/>
          </a:solidFill>
          <a:ln w="9525">
            <a:solidFill>
              <a:srgbClr val="2C5687"/>
            </a:solidFill>
            <a:prstDash val="solid"/>
          </a:ln>
        </p:spPr>
      </p:sp>
      <p:sp>
        <p:nvSpPr>
          <p:cNvPr id="48" name="fn-4-badge"/>
          <p:cNvSpPr/>
          <p:nvPr/>
        </p:nvSpPr>
        <p:spPr>
          <a:xfrm>
            <a:off x="4900135" y="4553712"/>
            <a:ext cx="310896" cy="310896"/>
          </a:xfrm>
          <a:prstGeom prst="ellipse">
            <a:avLst/>
          </a:prstGeom>
          <a:solidFill>
            <a:srgbClr val="2C5687"/>
          </a:solidFill>
          <a:ln w="12700">
            <a:solidFill>
              <a:srgbClr val="2C5687"/>
            </a:solidFill>
            <a:prstDash val="solid"/>
          </a:ln>
        </p:spPr>
      </p:sp>
      <p:sp>
        <p:nvSpPr>
          <p:cNvPr id="49" name="fn-4-badgenum"/>
          <p:cNvSpPr txBox="1"/>
          <p:nvPr/>
        </p:nvSpPr>
        <p:spPr>
          <a:xfrm>
            <a:off x="4900135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850" dirty="0"/>
          </a:p>
        </p:txBody>
      </p:sp>
      <p:sp>
        <p:nvSpPr>
          <p:cNvPr id="50" name="fn-4-title"/>
          <p:cNvSpPr txBox="1"/>
          <p:nvPr/>
        </p:nvSpPr>
        <p:spPr>
          <a:xfrm>
            <a:off x="5375623" y="4443984"/>
            <a:ext cx="61028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-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Auditing &amp; Reconciliation</a:t>
            </a:r>
            <a:endParaRPr lang="en-US" sz="1300" dirty="0"/>
          </a:p>
        </p:txBody>
      </p:sp>
      <p:sp>
        <p:nvSpPr>
          <p:cNvPr id="51" name="fn-4-desc"/>
          <p:cNvSpPr txBox="1"/>
          <p:nvPr/>
        </p:nvSpPr>
        <p:spPr>
          <a:xfrm>
            <a:off x="5375623" y="4718304"/>
            <a:ext cx="61028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5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 unresolved cases, flag missing or inconsistent information, and track case status and reimbursement.</a:t>
            </a:r>
            <a:endParaRPr lang="en-US" sz="950" dirty="0"/>
          </a:p>
        </p:txBody>
      </p:sp>
      <p:sp>
        <p:nvSpPr>
          <p:cNvPr id="52" name="fn-5-card"/>
          <p:cNvSpPr/>
          <p:nvPr/>
        </p:nvSpPr>
        <p:spPr>
          <a:xfrm>
            <a:off x="4717255" y="5175504"/>
            <a:ext cx="6925801" cy="749808"/>
          </a:xfrm>
          <a:prstGeom prst="roundRect">
            <a:avLst>
              <a:gd name="adj" fmla="val 6098"/>
            </a:avLst>
          </a:prstGeom>
          <a:solidFill>
            <a:srgbClr val="174579"/>
          </a:solidFill>
          <a:ln w="9525">
            <a:solidFill>
              <a:srgbClr val="2C5687"/>
            </a:solidFill>
            <a:prstDash val="solid"/>
          </a:ln>
        </p:spPr>
      </p:sp>
      <p:sp>
        <p:nvSpPr>
          <p:cNvPr id="53" name="fn-5-badge"/>
          <p:cNvSpPr/>
          <p:nvPr/>
        </p:nvSpPr>
        <p:spPr>
          <a:xfrm>
            <a:off x="4900135" y="5394960"/>
            <a:ext cx="310896" cy="310896"/>
          </a:xfrm>
          <a:prstGeom prst="ellipse">
            <a:avLst/>
          </a:prstGeom>
          <a:solidFill>
            <a:srgbClr val="2C5687"/>
          </a:solidFill>
          <a:ln w="12700">
            <a:solidFill>
              <a:srgbClr val="2C5687"/>
            </a:solidFill>
            <a:prstDash val="solid"/>
          </a:ln>
        </p:spPr>
      </p:sp>
      <p:sp>
        <p:nvSpPr>
          <p:cNvPr id="54" name="fn-5-badgenum"/>
          <p:cNvSpPr txBox="1"/>
          <p:nvPr/>
        </p:nvSpPr>
        <p:spPr>
          <a:xfrm>
            <a:off x="4900135" y="5394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850" dirty="0"/>
          </a:p>
        </p:txBody>
      </p:sp>
      <p:sp>
        <p:nvSpPr>
          <p:cNvPr id="55" name="fn-5-title"/>
          <p:cNvSpPr txBox="1"/>
          <p:nvPr/>
        </p:nvSpPr>
        <p:spPr>
          <a:xfrm>
            <a:off x="5375623" y="5285232"/>
            <a:ext cx="61028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-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Lien Administration &amp; Recovery</a:t>
            </a:r>
            <a:endParaRPr lang="en-US" sz="1300" dirty="0"/>
          </a:p>
        </p:txBody>
      </p:sp>
      <p:sp>
        <p:nvSpPr>
          <p:cNvPr id="56" name="fn-5-desc"/>
          <p:cNvSpPr txBox="1"/>
          <p:nvPr/>
        </p:nvSpPr>
        <p:spPr>
          <a:xfrm>
            <a:off x="5375623" y="5559552"/>
            <a:ext cx="61028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5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 approved lien documentation, follow-up, and reimbursement tracking within the legal and contractual framework.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4717255" y="6035040"/>
            <a:ext cx="6925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C3D2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LaborForce works alongside your billing and collections teams.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94A9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08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15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8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2450"/>
                            </p:stCondLst>
                            <p:childTnLst>
                              <p:par>
                                <p:cTn id="141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19" grpId="0" animBg="1"/>
      <p:bldP spid="25" grpId="0" animBg="1"/>
      <p:bldP spid="31" grpId="0" animBg="1"/>
      <p:bldP spid="34" grpId="0" animBg="1"/>
      <p:bldP spid="35" grpId="0" animBg="1"/>
      <p:bldP spid="36" grpId="0" animBg="1"/>
      <p:bldP spid="39" grpId="0" animBg="1"/>
      <p:bldP spid="40" grpId="0" animBg="1"/>
      <p:bldP spid="41" grpId="0" animBg="1"/>
      <p:bldP spid="44" grpId="0" animBg="1"/>
      <p:bldP spid="45" grpId="0" animBg="1"/>
      <p:bldP spid="46" grpId="0" animBg="1"/>
      <p:bldP spid="49" grpId="0" animBg="1"/>
      <p:bldP spid="50" grpId="0" animBg="1"/>
      <p:bldP spid="51" grpId="0" animBg="1"/>
      <p:bldP spid="54" grpId="0" animBg="1"/>
      <p:bldP spid="55" grpId="0" animBg="1"/>
      <p:bldP spid="5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r>
              <a:rPr lang="en-US" sz="900" dirty="0">
                <a:solidFill>
                  <a:srgbClr val="D4DC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</a:t>
            </a:r>
            <a:r>
              <a:rPr lang="en-US" sz="900" b="1" kern="0" spc="20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OPPORTUNITY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kern="0" spc="-10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hidden revenue opportunities into visible results.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72184"/>
            <a:ext cx="91440" cy="91440"/>
          </a:xfrm>
          <a:prstGeom prst="ellipse">
            <a:avLst/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4173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PLANNING INPUTS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764792"/>
            <a:ext cx="3931920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938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 </a:t>
            </a:r>
            <a:r>
              <a:rPr lang="en-US" sz="1150" b="1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ED encounters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85623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700" b="1" kern="0" spc="-5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150,000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313432"/>
            <a:ext cx="3931920" cy="54864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13432"/>
            <a:ext cx="2808514" cy="54864"/>
          </a:xfrm>
          <a:prstGeom prst="roundRect">
            <a:avLst>
              <a:gd name="adj" fmla="val 50000"/>
            </a:avLst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84002" y="2267712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8F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441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25,000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441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200,000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2679192"/>
            <a:ext cx="3931920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84378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 </a:t>
            </a:r>
            <a:r>
              <a:rPr lang="en-US" sz="1150" b="1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Additional coverage identified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277063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700" b="1" kern="0" spc="-5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6%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3227832"/>
            <a:ext cx="3931920" cy="54864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227832"/>
            <a:ext cx="1965960" cy="54864"/>
          </a:xfrm>
          <a:prstGeom prst="roundRect">
            <a:avLst>
              <a:gd name="adj" fmla="val 50000"/>
            </a:avLst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41448" y="3182112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8F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3558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2%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2651760" y="33558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10%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3593592"/>
            <a:ext cx="3931920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75818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 </a:t>
            </a:r>
            <a:r>
              <a:rPr lang="en-US" sz="1150" b="1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incremental net collection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520440" y="368503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700" b="1" kern="0" spc="-5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$4,000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48640" y="4142232"/>
            <a:ext cx="3931920" cy="54864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142232"/>
            <a:ext cx="3058160" cy="54864"/>
          </a:xfrm>
          <a:prstGeom prst="roundRect">
            <a:avLst>
              <a:gd name="adj" fmla="val 50000"/>
            </a:avLst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33648" y="4096512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8FA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2702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$500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2651760" y="42702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$5,000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" y="4507992"/>
            <a:ext cx="3931920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67258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 </a:t>
            </a:r>
            <a:r>
              <a:rPr lang="en-US" sz="1150" b="1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ED charge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3520440" y="459943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700" b="1" kern="0" spc="-5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$10,000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548640" y="5056632"/>
            <a:ext cx="3931920" cy="54864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5056632"/>
            <a:ext cx="2293620" cy="54864"/>
          </a:xfrm>
          <a:prstGeom prst="roundRect">
            <a:avLst>
              <a:gd name="adj" fmla="val 50000"/>
            </a:avLst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69108" y="5010912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8FA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5184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$3,000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2651760" y="5184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$15,000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8640" y="5422392"/>
            <a:ext cx="3931920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1417320"/>
            <a:ext cx="0" cy="411480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12080" y="1417320"/>
            <a:ext cx="6430975" cy="1325880"/>
          </a:xfrm>
          <a:prstGeom prst="roundRect">
            <a:avLst>
              <a:gd name="adj" fmla="val 2759"/>
            </a:avLst>
          </a:prstGeom>
          <a:solidFill>
            <a:srgbClr val="0C3C75"/>
          </a:solidFill>
          <a:ln w="12700">
            <a:solidFill>
              <a:srgbClr val="0C3C7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68112" y="1600200"/>
            <a:ext cx="284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7FD3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INCREMENTAL NET COLLECTIONS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5449824" y="1764792"/>
            <a:ext cx="2849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kern="0" spc="-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$36M</a:t>
            </a:r>
            <a:endParaRPr lang="en-US" sz="4600" dirty="0"/>
          </a:p>
        </p:txBody>
      </p:sp>
      <p:sp>
        <p:nvSpPr>
          <p:cNvPr id="43" name="Text 41"/>
          <p:cNvSpPr txBox="1"/>
          <p:nvPr/>
        </p:nvSpPr>
        <p:spPr>
          <a:xfrm>
            <a:off x="5468112" y="2386584"/>
            <a:ext cx="2895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7FD3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 $3M a month · ≈ $99K a day · $108M over three years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427568" y="1618488"/>
            <a:ext cx="0" cy="923544"/>
          </a:xfrm>
          <a:prstGeom prst="line">
            <a:avLst/>
          </a:prstGeom>
          <a:noFill/>
          <a:ln w="9525">
            <a:solidFill>
              <a:srgbClr val="375F8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701888" y="1600200"/>
            <a:ext cx="2712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7FD3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IDENTIFIED ENCOUNTERS / YEAR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8701888" y="1746504"/>
            <a:ext cx="2712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kern="0" spc="-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9,000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8701888" y="2130552"/>
            <a:ext cx="2712568" cy="0"/>
          </a:xfrm>
          <a:prstGeom prst="line">
            <a:avLst/>
          </a:prstGeom>
          <a:noFill/>
          <a:ln w="9525">
            <a:solidFill>
              <a:srgbClr val="375F8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701888" y="2203704"/>
            <a:ext cx="2712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7FD3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ASSOCIATED GROSS CHARGES / YEAR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8701888" y="2350008"/>
            <a:ext cx="2712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kern="0" spc="-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$90M</a:t>
            </a:r>
            <a:endParaRPr lang="en-US" sz="2200" dirty="0"/>
          </a:p>
        </p:txBody>
      </p:sp>
      <p:sp>
        <p:nvSpPr>
          <p:cNvPr id="50" name="Text 48"/>
          <p:cNvSpPr txBox="1"/>
          <p:nvPr/>
        </p:nvSpPr>
        <p:spPr>
          <a:xfrm>
            <a:off x="5212080" y="2971800"/>
            <a:ext cx="303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 &amp; COVERAGE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5212080" y="3191256"/>
            <a:ext cx="303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-3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visible share of every visit.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212080" y="356616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65082" y="356616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18084" y="356616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71086" y="356616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24088" y="356616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77090" y="356616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30092" y="356616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83094" y="356616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36096" y="356616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89098" y="356616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42100" y="356616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895102" y="356616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048104" y="356616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201106" y="356616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54108" y="356616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07110" y="356616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660112" y="356616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813114" y="356616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66116" y="356616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119118" y="356616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212080" y="373989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365082" y="373989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518084" y="373989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671086" y="373989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824088" y="373989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977090" y="373989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30092" y="373989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83094" y="373989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436096" y="373989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589098" y="373989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742100" y="373989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895102" y="373989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048104" y="373989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201106" y="373989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354108" y="373989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507110" y="373989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660112" y="373989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813114" y="373989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966116" y="373989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119118" y="373989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212080" y="391363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365082" y="391363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518084" y="391363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671086" y="391363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824088" y="391363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977090" y="391363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130092" y="391363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283094" y="391363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436096" y="391363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589098" y="391363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742100" y="391363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895102" y="391363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048104" y="391363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201106" y="391363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354108" y="391363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507110" y="391363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660112" y="391363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813114" y="391363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966116" y="391363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119118" y="391363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212080" y="4087368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365082" y="4087368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518084" y="4087368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671086" y="4087368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824088" y="4087368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977090" y="4087368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130092" y="4087368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283094" y="4087368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436096" y="4087368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589098" y="4087368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742100" y="4087368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895102" y="4087368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048104" y="4087368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201106" y="4087368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354108" y="4087368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507110" y="4087368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660112" y="4087368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813114" y="4087368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966116" y="4087368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119118" y="4087368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212080" y="4261104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365082" y="4261104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518084" y="4261104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671086" y="4261104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824088" y="4261104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977090" y="4261104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130092" y="4261104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283094" y="4261104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436096" y="4261104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589098" y="4261104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742100" y="4261104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895102" y="4261104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048104" y="4261104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201106" y="4261104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354108" y="4261104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507110" y="4261104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660112" y="4261104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813114" y="4261104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966116" y="4261104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119118" y="4261104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212080" y="443484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365082" y="443484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518084" y="443484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671086" y="443484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824088" y="443484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977090" y="443484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30092" y="443484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283094" y="443484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436096" y="443484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589098" y="443484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742100" y="443484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895102" y="443484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048104" y="443484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201106" y="443484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354108" y="443484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507110" y="443484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660112" y="443484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813114" y="443484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966116" y="443484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119118" y="4434840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5212080" y="460857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5365082" y="460857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518084" y="460857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671086" y="460857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824088" y="460857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977090" y="460857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130092" y="460857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283094" y="460857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436096" y="460857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589098" y="460857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742100" y="460857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895102" y="460857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048104" y="460857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201106" y="460857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354108" y="460857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507110" y="460857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660112" y="460857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813114" y="460857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966116" y="460857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119118" y="4608576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5212080" y="478231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5365082" y="478231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5518084" y="478231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5671086" y="478231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5824088" y="478231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5977090" y="478231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130092" y="478231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283094" y="478231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436096" y="478231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6589098" y="4782312"/>
            <a:ext cx="125570" cy="137160"/>
          </a:xfrm>
          <a:prstGeom prst="roundRect">
            <a:avLst>
              <a:gd name="adj" fmla="val 14564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5212080" y="5102352"/>
            <a:ext cx="91440" cy="91440"/>
          </a:xfrm>
          <a:prstGeom prst="roundRect">
            <a:avLst>
              <a:gd name="adj" fmla="val 10000"/>
            </a:avLst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203" name="Text 201"/>
          <p:cNvSpPr txBox="1"/>
          <p:nvPr/>
        </p:nvSpPr>
        <p:spPr>
          <a:xfrm>
            <a:off x="5358384" y="50474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Additional coverage identified</a:t>
            </a:r>
            <a:endParaRPr lang="en-US" sz="850" dirty="0"/>
          </a:p>
        </p:txBody>
      </p:sp>
      <p:sp>
        <p:nvSpPr>
          <p:cNvPr id="204" name="Shape 202"/>
          <p:cNvSpPr/>
          <p:nvPr/>
        </p:nvSpPr>
        <p:spPr>
          <a:xfrm>
            <a:off x="7406640" y="5102352"/>
            <a:ext cx="91440" cy="91440"/>
          </a:xfrm>
          <a:prstGeom prst="roundRect">
            <a:avLst>
              <a:gd name="adj" fmla="val 10000"/>
            </a:avLst>
          </a:prstGeom>
          <a:solidFill>
            <a:srgbClr val="CCD6E0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205" name="Text 203"/>
          <p:cNvSpPr txBox="1"/>
          <p:nvPr/>
        </p:nvSpPr>
        <p:spPr>
          <a:xfrm>
            <a:off x="7552944" y="50474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encounters</a:t>
            </a:r>
            <a:endParaRPr lang="en-US" sz="850" dirty="0"/>
          </a:p>
        </p:txBody>
      </p:sp>
      <p:sp>
        <p:nvSpPr>
          <p:cNvPr id="206" name="Text 204"/>
          <p:cNvSpPr txBox="1"/>
          <p:nvPr/>
        </p:nvSpPr>
        <p:spPr>
          <a:xfrm>
            <a:off x="8610448" y="2971800"/>
            <a:ext cx="303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 SENSITIVITY</a:t>
            </a:r>
            <a:endParaRPr lang="en-US" sz="800" dirty="0"/>
          </a:p>
        </p:txBody>
      </p:sp>
      <p:sp>
        <p:nvSpPr>
          <p:cNvPr id="207" name="Text 205"/>
          <p:cNvSpPr txBox="1"/>
          <p:nvPr/>
        </p:nvSpPr>
        <p:spPr>
          <a:xfrm>
            <a:off x="8610448" y="3191256"/>
            <a:ext cx="303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-3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changes as coverage improves?</a:t>
            </a:r>
            <a:endParaRPr lang="en-US" sz="1300" dirty="0"/>
          </a:p>
        </p:txBody>
      </p:sp>
      <p:sp>
        <p:nvSpPr>
          <p:cNvPr id="208" name="Text 206"/>
          <p:cNvSpPr txBox="1"/>
          <p:nvPr/>
        </p:nvSpPr>
        <p:spPr>
          <a:xfrm>
            <a:off x="8610448" y="3520440"/>
            <a:ext cx="303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$36M</a:t>
            </a:r>
            <a:r>
              <a:rPr lang="en-US" sz="90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at 6% identified coverage</a:t>
            </a:r>
            <a:endParaRPr lang="en-US" sz="900" dirty="0"/>
          </a:p>
        </p:txBody>
      </p:sp>
      <p:graphicFrame>
        <p:nvGraphicFramePr>
          <p:cNvPr id="209" name="Chart 0"/>
          <p:cNvGraphicFramePr/>
          <p:nvPr/>
        </p:nvGraphicFramePr>
        <p:xfrm>
          <a:off x="8519008" y="3749040"/>
          <a:ext cx="3124048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0" name="Shape 207"/>
          <p:cNvSpPr/>
          <p:nvPr/>
        </p:nvSpPr>
        <p:spPr>
          <a:xfrm>
            <a:off x="548640" y="5623560"/>
            <a:ext cx="2499284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4DCE6"/>
            </a:solidFill>
            <a:prstDash val="solid"/>
          </a:ln>
        </p:spPr>
      </p:sp>
      <p:sp>
        <p:nvSpPr>
          <p:cNvPr id="211" name="Text 208"/>
          <p:cNvSpPr txBox="1"/>
          <p:nvPr/>
        </p:nvSpPr>
        <p:spPr>
          <a:xfrm>
            <a:off x="731520" y="5715000"/>
            <a:ext cx="21335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ENCOUNTERS</a:t>
            </a:r>
            <a:endParaRPr lang="en-US" sz="750" dirty="0"/>
          </a:p>
        </p:txBody>
      </p:sp>
      <p:sp>
        <p:nvSpPr>
          <p:cNvPr id="212" name="Text 209"/>
          <p:cNvSpPr txBox="1"/>
          <p:nvPr/>
        </p:nvSpPr>
        <p:spPr>
          <a:xfrm>
            <a:off x="731520" y="5888736"/>
            <a:ext cx="2133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kern="0" spc="-5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150,000</a:t>
            </a:r>
            <a:endParaRPr lang="en-US" sz="1500" dirty="0"/>
          </a:p>
        </p:txBody>
      </p:sp>
      <p:sp>
        <p:nvSpPr>
          <p:cNvPr id="213" name="Text 210"/>
          <p:cNvSpPr txBox="1"/>
          <p:nvPr/>
        </p:nvSpPr>
        <p:spPr>
          <a:xfrm>
            <a:off x="3047924" y="5623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</a:t>
            </a:r>
            <a:endParaRPr lang="en-US" sz="1600" dirty="0"/>
          </a:p>
        </p:txBody>
      </p:sp>
      <p:sp>
        <p:nvSpPr>
          <p:cNvPr id="214" name="Shape 211"/>
          <p:cNvSpPr/>
          <p:nvPr/>
        </p:nvSpPr>
        <p:spPr>
          <a:xfrm>
            <a:off x="3413684" y="5623560"/>
            <a:ext cx="2499284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4DCE6"/>
            </a:solidFill>
            <a:prstDash val="solid"/>
          </a:ln>
        </p:spPr>
      </p:sp>
      <p:sp>
        <p:nvSpPr>
          <p:cNvPr id="215" name="Text 212"/>
          <p:cNvSpPr txBox="1"/>
          <p:nvPr/>
        </p:nvSpPr>
        <p:spPr>
          <a:xfrm>
            <a:off x="3596564" y="5715000"/>
            <a:ext cx="21335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ADDITIONAL COVERAGE</a:t>
            </a:r>
            <a:endParaRPr lang="en-US" sz="750" dirty="0"/>
          </a:p>
        </p:txBody>
      </p:sp>
      <p:sp>
        <p:nvSpPr>
          <p:cNvPr id="216" name="Text 213"/>
          <p:cNvSpPr txBox="1"/>
          <p:nvPr/>
        </p:nvSpPr>
        <p:spPr>
          <a:xfrm>
            <a:off x="3596564" y="5888736"/>
            <a:ext cx="2133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kern="0" spc="-5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6%</a:t>
            </a:r>
            <a:endParaRPr lang="en-US" sz="1500" dirty="0"/>
          </a:p>
        </p:txBody>
      </p:sp>
      <p:sp>
        <p:nvSpPr>
          <p:cNvPr id="217" name="Text 214"/>
          <p:cNvSpPr txBox="1"/>
          <p:nvPr/>
        </p:nvSpPr>
        <p:spPr>
          <a:xfrm>
            <a:off x="5912968" y="5623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</a:t>
            </a:r>
            <a:endParaRPr lang="en-US" sz="1600" dirty="0"/>
          </a:p>
        </p:txBody>
      </p:sp>
      <p:sp>
        <p:nvSpPr>
          <p:cNvPr id="218" name="Shape 215"/>
          <p:cNvSpPr/>
          <p:nvPr/>
        </p:nvSpPr>
        <p:spPr>
          <a:xfrm>
            <a:off x="6278728" y="5623560"/>
            <a:ext cx="2499284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4DCE6"/>
            </a:solidFill>
            <a:prstDash val="solid"/>
          </a:ln>
        </p:spPr>
      </p:sp>
      <p:sp>
        <p:nvSpPr>
          <p:cNvPr id="219" name="Text 216"/>
          <p:cNvSpPr txBox="1"/>
          <p:nvPr/>
        </p:nvSpPr>
        <p:spPr>
          <a:xfrm>
            <a:off x="6461608" y="5715000"/>
            <a:ext cx="21335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COLLECTION / ENCOUNTER</a:t>
            </a:r>
            <a:endParaRPr lang="en-US" sz="750" dirty="0"/>
          </a:p>
        </p:txBody>
      </p:sp>
      <p:sp>
        <p:nvSpPr>
          <p:cNvPr id="220" name="Text 217"/>
          <p:cNvSpPr txBox="1"/>
          <p:nvPr/>
        </p:nvSpPr>
        <p:spPr>
          <a:xfrm>
            <a:off x="6461608" y="5888736"/>
            <a:ext cx="2133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kern="0" spc="-5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$4,000</a:t>
            </a:r>
            <a:endParaRPr lang="en-US" sz="1500" dirty="0"/>
          </a:p>
        </p:txBody>
      </p:sp>
      <p:sp>
        <p:nvSpPr>
          <p:cNvPr id="221" name="Text 218"/>
          <p:cNvSpPr txBox="1"/>
          <p:nvPr/>
        </p:nvSpPr>
        <p:spPr>
          <a:xfrm>
            <a:off x="8778011" y="5623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</a:t>
            </a:r>
            <a:endParaRPr lang="en-US" sz="1600" dirty="0"/>
          </a:p>
        </p:txBody>
      </p:sp>
      <p:sp>
        <p:nvSpPr>
          <p:cNvPr id="222" name="Shape 219"/>
          <p:cNvSpPr/>
          <p:nvPr/>
        </p:nvSpPr>
        <p:spPr>
          <a:xfrm>
            <a:off x="9143771" y="5623560"/>
            <a:ext cx="2499284" cy="548640"/>
          </a:xfrm>
          <a:prstGeom prst="roundRect">
            <a:avLst>
              <a:gd name="adj" fmla="val 5000"/>
            </a:avLst>
          </a:prstGeom>
          <a:solidFill>
            <a:srgbClr val="E0F1F6"/>
          </a:solidFill>
          <a:ln w="12700">
            <a:solidFill>
              <a:srgbClr val="E0F1F6"/>
            </a:solidFill>
            <a:prstDash val="solid"/>
          </a:ln>
        </p:spPr>
      </p:sp>
      <p:sp>
        <p:nvSpPr>
          <p:cNvPr id="223" name="Text 220"/>
          <p:cNvSpPr txBox="1"/>
          <p:nvPr/>
        </p:nvSpPr>
        <p:spPr>
          <a:xfrm>
            <a:off x="9326651" y="5715000"/>
            <a:ext cx="21335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NET COLLECTIONS</a:t>
            </a:r>
            <a:endParaRPr lang="en-US" sz="750" dirty="0"/>
          </a:p>
        </p:txBody>
      </p:sp>
      <p:sp>
        <p:nvSpPr>
          <p:cNvPr id="224" name="Text 221"/>
          <p:cNvSpPr txBox="1"/>
          <p:nvPr/>
        </p:nvSpPr>
        <p:spPr>
          <a:xfrm>
            <a:off x="9326651" y="5888736"/>
            <a:ext cx="2133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kern="0" spc="-5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$36,000,000</a:t>
            </a:r>
            <a:endParaRPr lang="en-US" sz="1500" dirty="0"/>
          </a:p>
        </p:txBody>
      </p:sp>
      <p:sp>
        <p:nvSpPr>
          <p:cNvPr id="225" name="Text 222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08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r>
              <a:rPr lang="en-US" sz="900" dirty="0">
                <a:solidFill>
                  <a:srgbClr val="D4DC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</a:t>
            </a:r>
            <a:r>
              <a:rPr lang="en-US" sz="900" b="1" kern="0" spc="20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PARTNERSHIP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kern="0" spc="-10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90-day pilot.</a:t>
            </a:r>
            <a:endParaRPr lang="en-US" sz="3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000" kern="0" spc="-100" dirty="0">
                <a:solidFill>
                  <a:srgbClr val="6A7F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John H. Stroger, Jr. Hospital.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15258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D4D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" y="1975104"/>
            <a:ext cx="3496970" cy="365760"/>
          </a:xfrm>
          <a:prstGeom prst="rect">
            <a:avLst/>
          </a:prstGeom>
          <a:solidFill>
            <a:srgbClr val="DBE8F7"/>
          </a:solidFill>
          <a:ln w="12700">
            <a:solidFill>
              <a:srgbClr val="DBE8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1757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306269" y="1965960"/>
            <a:ext cx="15290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1 –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2532888"/>
            <a:ext cx="2052218" cy="73152"/>
          </a:xfrm>
          <a:prstGeom prst="roundRect">
            <a:avLst>
              <a:gd name="adj" fmla="val 37500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532888"/>
            <a:ext cx="342036" cy="73152"/>
          </a:xfrm>
          <a:prstGeom prst="roundRect">
            <a:avLst>
              <a:gd name="adj" fmla="val 37500"/>
            </a:avLst>
          </a:prstGeom>
          <a:solidFill>
            <a:srgbClr val="5B8FD6"/>
          </a:solidFill>
          <a:ln w="12700">
            <a:solidFill>
              <a:srgbClr val="5B8F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39186" y="24597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of 90 days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74320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&amp; Baseline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10896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current injury-related registration, payer identification, billing, and follow-up. Agree on pilot scope, eligibility criteria, compliance requirements, and baseline measures.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38218" y="1965960"/>
            <a:ext cx="3515258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D4DC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7362" y="1975104"/>
            <a:ext cx="3496970" cy="365760"/>
          </a:xfrm>
          <a:prstGeom prst="rect">
            <a:avLst/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66818" y="1965960"/>
            <a:ext cx="1757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02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095848" y="1965960"/>
            <a:ext cx="15290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16 – 60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66818" y="2532888"/>
            <a:ext cx="2052218" cy="73152"/>
          </a:xfrm>
          <a:prstGeom prst="roundRect">
            <a:avLst>
              <a:gd name="adj" fmla="val 37500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6818" y="2532888"/>
            <a:ext cx="1026109" cy="73152"/>
          </a:xfrm>
          <a:prstGeom prst="roundRect">
            <a:avLst>
              <a:gd name="adj" fmla="val 37500"/>
            </a:avLst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28765" y="24597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 of 90 days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566818" y="274320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Identification &amp; Investigation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566818" y="310896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 designated encounters, conduct authorized patient outreach, identify alternative payer sources, and coordinate verified findings with existing hospital teams.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27797" y="1965960"/>
            <a:ext cx="3515258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D4DC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6941" y="1975104"/>
            <a:ext cx="3496970" cy="365760"/>
          </a:xfrm>
          <a:prstGeom prst="rect">
            <a:avLst/>
          </a:prstGeom>
          <a:solidFill>
            <a:srgbClr val="0C3C75"/>
          </a:solidFill>
          <a:ln w="12700">
            <a:solidFill>
              <a:srgbClr val="0C3C7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56397" y="1965960"/>
            <a:ext cx="1757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03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9885426" y="1965960"/>
            <a:ext cx="15290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61 – 90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356397" y="2532888"/>
            <a:ext cx="2052218" cy="73152"/>
          </a:xfrm>
          <a:prstGeom prst="roundRect">
            <a:avLst>
              <a:gd name="adj" fmla="val 37500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56397" y="2532888"/>
            <a:ext cx="684073" cy="73152"/>
          </a:xfrm>
          <a:prstGeom prst="roundRect">
            <a:avLst>
              <a:gd name="adj" fmla="val 37500"/>
            </a:avLst>
          </a:prstGeom>
          <a:solidFill>
            <a:srgbClr val="0C3C75"/>
          </a:solidFill>
          <a:ln w="12700">
            <a:solidFill>
              <a:srgbClr val="0C3C7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518343" y="24597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of 90 days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8356397" y="274320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&amp; Review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356397" y="310896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Reconcile outcomes, review billing corrections and collections, assess operational impact, and recommend continued monitoring and potential expansion.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480560"/>
            <a:ext cx="3515258" cy="1719072"/>
          </a:xfrm>
          <a:prstGeom prst="roundRect">
            <a:avLst>
              <a:gd name="adj" fmla="val 2128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480560"/>
            <a:ext cx="3515258" cy="45720"/>
          </a:xfrm>
          <a:prstGeom prst="rect">
            <a:avLst/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70916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READ THE PILOT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4983480"/>
            <a:ext cx="305805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Many claims take longer than 90 days to resolve. The pilot measures </a:t>
            </a:r>
            <a:r>
              <a:rPr lang="en-US" sz="1050" b="1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leading indicators</a:t>
            </a: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any collections realized; final financial performance is reviewed as the identified account cohort matures.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338218" y="4480560"/>
            <a:ext cx="3515258" cy="1719072"/>
          </a:xfrm>
          <a:prstGeom prst="roundRect">
            <a:avLst>
              <a:gd name="adj" fmla="val 2128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38218" y="4480560"/>
            <a:ext cx="3515258" cy="45720"/>
          </a:xfrm>
          <a:prstGeom prst="rect">
            <a:avLst/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66818" y="470916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COOK COUNTY HEALTH PROVIDES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4566818" y="4983480"/>
            <a:ext cx="305805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300"/>
              </a:spcAft>
              <a:buSzPct val="100000"/>
              <a:buChar char="●"/>
            </a:pP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sponsor and agreed pilot scope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300"/>
              </a:spcAft>
              <a:buSzPct val="100000"/>
              <a:buChar char="●"/>
            </a:pP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 volume, payer mix, and current TPL/WC workflow data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300"/>
              </a:spcAft>
              <a:buSzPct val="100000"/>
              <a:buChar char="●"/>
            </a:pP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requirements and data-access terms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127797" y="4480560"/>
            <a:ext cx="3515258" cy="1719072"/>
          </a:xfrm>
          <a:prstGeom prst="roundRect">
            <a:avLst>
              <a:gd name="adj" fmla="val 2128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27797" y="4480560"/>
            <a:ext cx="3515258" cy="45720"/>
          </a:xfrm>
          <a:prstGeom prst="rect">
            <a:avLst/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56397" y="470916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LABORFORCE PROVIDES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8356397" y="4983480"/>
            <a:ext cx="305805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300"/>
              </a:spcAft>
              <a:buSzPct val="100000"/>
              <a:buChar char="●"/>
            </a:pP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Screening, specialist review, and case investigation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300"/>
              </a:spcAft>
              <a:buSzPct val="100000"/>
              <a:buChar char="●"/>
            </a:pP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patient outreach and lien administration support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300"/>
              </a:spcAft>
              <a:buSzPct val="100000"/>
              <a:buChar char="●"/>
            </a:pP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Joint reporting at days 30, 60, and 90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08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r>
              <a:rPr lang="en-US" sz="900" dirty="0">
                <a:solidFill>
                  <a:srgbClr val="D4DC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</a:t>
            </a:r>
            <a:r>
              <a:rPr lang="en-US" sz="900" b="1" kern="0" spc="20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SUCCESS METRICS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kern="0" spc="-10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Transparent. Measurable.</a:t>
            </a:r>
            <a:endParaRPr lang="en-US" sz="3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000" kern="0" spc="-100" dirty="0">
                <a:solidFill>
                  <a:srgbClr val="6A7F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Jointly reviewed.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2154" cy="2240280"/>
          </a:xfrm>
          <a:prstGeom prst="roundRect">
            <a:avLst>
              <a:gd name="adj" fmla="val 1633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2602154" cy="54864"/>
          </a:xfrm>
          <a:prstGeom prst="rect">
            <a:avLst/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13432"/>
            <a:ext cx="128016" cy="128016"/>
          </a:xfrm>
          <a:prstGeom prst="ellipse">
            <a:avLst/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212848"/>
            <a:ext cx="19620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78608"/>
            <a:ext cx="21449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Early signals that cases are being found and verified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17520"/>
            <a:ext cx="214495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Encounters screened and flagged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 and % with verified additional responsible-party coverage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accepted for billing correction or recovery action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79394" y="2011680"/>
            <a:ext cx="2602154" cy="2240280"/>
          </a:xfrm>
          <a:prstGeom prst="roundRect">
            <a:avLst>
              <a:gd name="adj" fmla="val 1633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79394" y="2011680"/>
            <a:ext cx="2602154" cy="54864"/>
          </a:xfrm>
          <a:prstGeom prst="rect">
            <a:avLst/>
          </a:prstGeom>
          <a:solidFill>
            <a:srgbClr val="0C3C75"/>
          </a:solidFill>
          <a:ln w="12700">
            <a:solidFill>
              <a:srgbClr val="0C3C7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07994" y="2313432"/>
            <a:ext cx="128016" cy="128016"/>
          </a:xfrm>
          <a:prstGeom prst="ellipse">
            <a:avLst/>
          </a:prstGeom>
          <a:solidFill>
            <a:srgbClr val="0C3C75"/>
          </a:solidFill>
          <a:ln w="12700">
            <a:solidFill>
              <a:srgbClr val="0C3C7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36594" y="2212848"/>
            <a:ext cx="19620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07994" y="2578608"/>
            <a:ext cx="21449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program returns, net of adjustments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607994" y="3017520"/>
            <a:ext cx="214495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Additional collections attributable to the program, net of reversals and adjustments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Incremental net revenue after program costs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0148" y="2011680"/>
            <a:ext cx="2602154" cy="2240280"/>
          </a:xfrm>
          <a:prstGeom prst="roundRect">
            <a:avLst>
              <a:gd name="adj" fmla="val 1633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0148" y="2011680"/>
            <a:ext cx="2602154" cy="54864"/>
          </a:xfrm>
          <a:prstGeom prst="rect">
            <a:avLst/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38748" y="2313432"/>
            <a:ext cx="128016" cy="128016"/>
          </a:xfrm>
          <a:prstGeom prst="ellipse">
            <a:avLst/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67348" y="2212848"/>
            <a:ext cx="19620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38748" y="2578608"/>
            <a:ext cx="21449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 on hospital teams and account flow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38748" y="3017520"/>
            <a:ext cx="214495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workload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Turnaround time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Unresolved account aging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40901" y="2011680"/>
            <a:ext cx="2602154" cy="2240280"/>
          </a:xfrm>
          <a:prstGeom prst="roundRect">
            <a:avLst>
              <a:gd name="adj" fmla="val 1633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40901" y="2011680"/>
            <a:ext cx="2602154" cy="54864"/>
          </a:xfrm>
          <a:prstGeom prst="rect">
            <a:avLst/>
          </a:prstGeom>
          <a:solidFill>
            <a:srgbClr val="7A95AD"/>
          </a:solidFill>
          <a:ln w="12700">
            <a:solidFill>
              <a:srgbClr val="7A95A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69501" y="2313432"/>
            <a:ext cx="128016" cy="128016"/>
          </a:xfrm>
          <a:prstGeom prst="ellipse">
            <a:avLst/>
          </a:prstGeom>
          <a:solidFill>
            <a:srgbClr val="7A95AD"/>
          </a:solidFill>
          <a:ln w="12700">
            <a:solidFill>
              <a:srgbClr val="7A95A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498101" y="2212848"/>
            <a:ext cx="19620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269501" y="2578608"/>
            <a:ext cx="21449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Safeguards that stay in place throughout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269501" y="3017520"/>
            <a:ext cx="214495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experience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 quality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1109441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709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JOINT REVIEW CADENCE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0080" y="5184648"/>
            <a:ext cx="10911535" cy="0"/>
          </a:xfrm>
          <a:prstGeom prst="line">
            <a:avLst/>
          </a:prstGeom>
          <a:noFill/>
          <a:ln w="19050">
            <a:solidFill>
              <a:srgbClr val="D4DC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093208"/>
            <a:ext cx="182880" cy="182880"/>
          </a:xfrm>
          <a:prstGeom prst="ellipse">
            <a:avLst/>
          </a:prstGeom>
          <a:solidFill>
            <a:srgbClr val="0A8FA6"/>
          </a:solidFill>
          <a:ln w="25400">
            <a:solidFill>
              <a:srgbClr val="0A8FA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5413248"/>
            <a:ext cx="249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641848"/>
            <a:ext cx="2407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Scope, eligibility criteria, and baseline agreed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22244" y="5093208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A8FA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322244" y="5413248"/>
            <a:ext cx="249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30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3322244" y="5641848"/>
            <a:ext cx="2407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 confirmed; screening volumes and first flagged cohort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95848" y="5093208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A8FA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095848" y="5413248"/>
            <a:ext cx="249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60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095848" y="5641848"/>
            <a:ext cx="2407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 rate, accounts accepted for correction, staff workload impact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869451" y="5093208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A8FA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869451" y="5413248"/>
            <a:ext cx="249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C3C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90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8869451" y="5641848"/>
            <a:ext cx="2407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Collections to date, cohort maturity, and a joint decision on continuation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6E7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08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4A9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r>
              <a:rPr lang="en-US" sz="900" dirty="0">
                <a:solidFill>
                  <a:srgbClr val="375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</a:t>
            </a:r>
            <a:r>
              <a:rPr lang="en-US" sz="900" b="1" kern="0" spc="200" dirty="0">
                <a:solidFill>
                  <a:srgbClr val="7FD3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ASK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kern="0" spc="-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ask: a 90-day pilot at </a:t>
            </a:r>
            <a:r>
              <a:rPr lang="en-US" sz="3000" kern="0" spc="-100" dirty="0">
                <a:solidFill>
                  <a:srgbClr val="7FD3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John H. Stroger, Jr. Hospital.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3D2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Strengthen Cook County Health's fiscal resilience while supporting accessible, high-quality care for the community — through a focused, transparent, and measurable pilot, reviewed jointly at days 30, 60, and 90.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15258" cy="1737360"/>
          </a:xfrm>
          <a:prstGeom prst="roundRect">
            <a:avLst>
              <a:gd name="adj" fmla="val 2632"/>
            </a:avLst>
          </a:prstGeom>
          <a:solidFill>
            <a:srgbClr val="1B487E"/>
          </a:solidFill>
          <a:ln w="9525">
            <a:solidFill>
              <a:srgbClr val="2C568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880360"/>
            <a:ext cx="292608" cy="292608"/>
          </a:xfrm>
          <a:prstGeom prst="ellipse">
            <a:avLst/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00984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-3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sponsor &amp; scope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48456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D2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sponsor and pilot scope at Stroger Hospital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38218" y="2606040"/>
            <a:ext cx="3515258" cy="1737360"/>
          </a:xfrm>
          <a:prstGeom prst="roundRect">
            <a:avLst>
              <a:gd name="adj" fmla="val 2632"/>
            </a:avLst>
          </a:prstGeom>
          <a:solidFill>
            <a:srgbClr val="1B487E"/>
          </a:solidFill>
          <a:ln w="9525">
            <a:solidFill>
              <a:srgbClr val="2C568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2538" y="2880360"/>
            <a:ext cx="292608" cy="292608"/>
          </a:xfrm>
          <a:prstGeom prst="ellipse">
            <a:avLst/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2538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3300984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-3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baseline data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2538" y="3648456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D2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 volume, payer mix, and the current TPL/WC workflow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27797" y="2606040"/>
            <a:ext cx="3515258" cy="1737360"/>
          </a:xfrm>
          <a:prstGeom prst="roundRect">
            <a:avLst>
              <a:gd name="adj" fmla="val 2632"/>
            </a:avLst>
          </a:prstGeom>
          <a:solidFill>
            <a:srgbClr val="1B487E"/>
          </a:solidFill>
          <a:ln w="9525">
            <a:solidFill>
              <a:srgbClr val="2C568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02117" y="2880360"/>
            <a:ext cx="292608" cy="292608"/>
          </a:xfrm>
          <a:prstGeom prst="ellipse">
            <a:avLst/>
          </a:prstGeom>
          <a:solidFill>
            <a:srgbClr val="0A8FA6"/>
          </a:solidFill>
          <a:ln w="12700">
            <a:solidFill>
              <a:srgbClr val="0A8F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02117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402117" y="3300984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-3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Agree &amp; launch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02117" y="3648456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D2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requirements and success metrics; launch Phase 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779008"/>
            <a:ext cx="77724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0" descr="E:/Claude/laborforce-deck/brand/logo_full_la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83" y="5847588"/>
            <a:ext cx="541755" cy="356616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619695" y="57332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619695" y="6007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C3D2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look forward to discussing the pilot with your leadership team.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9814255" y="64556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94A9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borForce">
  <a:themeElements>
    <a:clrScheme name="LaborForce">
      <a:dk1>
        <a:srgbClr val="15283D"/>
      </a:dk1>
      <a:lt1>
        <a:srgbClr val="FFFFFF"/>
      </a:lt1>
      <a:dk2>
        <a:srgbClr val="0C3C75"/>
      </a:dk2>
      <a:lt2>
        <a:srgbClr val="F4F6F9"/>
      </a:lt2>
      <a:accent1>
        <a:srgbClr val="0A8FA6"/>
      </a:accent1>
      <a:accent2>
        <a:srgbClr val="E0F1F6"/>
      </a:accent2>
      <a:accent3>
        <a:srgbClr val="7FD3E3"/>
      </a:accent3>
      <a:accent4>
        <a:srgbClr val="4A5B6E"/>
      </a:accent4>
      <a:accent5>
        <a:srgbClr val="6E7E90"/>
      </a:accent5>
      <a:accent6>
        <a:srgbClr val="D4DCE6"/>
      </a:accent6>
      <a:hlink>
        <a:srgbClr val="0A8FA6"/>
      </a:hlink>
      <a:folHlink>
        <a:srgbClr val="4A5B6E"/>
      </a:folHlink>
    </a:clrScheme>
    <a:fontScheme name="LaborFor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1305</Words>
  <Application>Microsoft Office PowerPoint</Application>
  <PresentationFormat>Widescreen</PresentationFormat>
  <Paragraphs>218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Segoe UI</vt:lpstr>
      <vt:lpstr>LaborForce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LaborForce Medical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LaborForce Medical Management — Cook County Health Executive Briefing</dc:title>
  <dc:subject>90-day TPL/Workers' Comp revenue-recovery pilot</dc:subject>
  <dc:creator>LaborForce Medical Management</dc:creator>
  <cp:lastModifiedBy>a83192</cp:lastModifiedBy>
  <cp:revision>2</cp:revision>
  <dcterms:created xsi:type="dcterms:W3CDTF">2026-10-27T00:50:16Z</dcterms:created>
  <dcterms:modified xsi:type="dcterms:W3CDTF">2026-10-27T00:50:23Z</dcterms:modified>
</cp:coreProperties>
</file>